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33e8dd4-d1b7-f523-afd9-6abe7cfa59d4}">
          <p14:sldIdLst>
            <p14:sldId id="256"/>
            <p14:sldId id="258"/>
          </p14:sldIdLst>
        </p14:section>
        <p14:section name="Processing steps" id="{0cfc6f38-642f-6aae-950b-0c71f2312160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Results" id="{c594a0d1-7583-8d27-3abb-ec5767d9ed94}">
          <p14:sldIdLst>
            <p14:sldId id="268"/>
            <p14:sldId id="26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1F1B3A"/>
                </a:solidFill>
                <a:latin typeface="+mn-lt"/>
                <a:ea typeface="+mn-ea"/>
                <a:cs typeface="+mn-cs"/>
              </a:defRPr>
            </a:pPr>
            <a:r>
              <a:rPr sz="1400" b="0" i="0" u="none" strike="noStrike">
                <a:solidFill>
                  <a:srgbClr val="1F1B3A"/>
                </a:solidFill>
                <a:latin typeface="+mn-lt"/>
              </a:rPr>
              <a:t>Maximum points per category</a:t>
            </a:r>
            <a:endParaRPr sz="1400" b="0" i="0" u="none" strike="noStrike">
              <a:solidFill>
                <a:srgbClr val="1F1B3A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Points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5B44C8"/>
              </a:solidFill>
              <a:effectLst/>
            </c:spPr>
          </c:dPt>
          <c:dPt>
            <c:idx val="1"/>
            <c:bubble3D val="0"/>
            <c:spPr>
              <a:solidFill>
                <a:srgbClr val="E8559A"/>
              </a:solidFill>
              <a:effectLst/>
            </c:spPr>
          </c:dPt>
          <c:dPt>
            <c:idx val="2"/>
            <c:bubble3D val="0"/>
            <c:spPr>
              <a:solidFill>
                <a:srgbClr val="F5A623"/>
              </a:solidFill>
              <a:effectLst/>
            </c:spPr>
          </c:dPt>
          <c:dPt>
            <c:idx val="3"/>
            <c:bubble3D val="0"/>
            <c:spPr>
              <a:solidFill>
                <a:srgbClr val="2DBE8C"/>
              </a:solidFill>
              <a:effectLst/>
            </c:spPr>
          </c:dPt>
          <c:dLbls>
            <c:dLbl>
              <c:idx val="0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600" b="1" i="0" u="none" strike="noStrike" kern="1200" baseline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600" b="1" i="0" u="none" strike="noStrike" kern="1200" baseline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600" b="1" i="0" u="none" strike="noStrike" kern="1200" baseline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600" b="1" i="0" u="none" strike="noStrike" kern="1200" baseline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1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Relevant skills</c:v>
                </c:pt>
                <c:pt idx="1">
                  <c:v>Relevant experience</c:v>
                </c:pt>
                <c:pt idx="2">
                  <c:v>Education</c:v>
                </c:pt>
                <c:pt idx="3">
                  <c:v>Other requirements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200" b="0" i="0" u="none" strike="noStrike" kern="1200" baseline="0">
              <a:solidFill>
                <a:srgbClr val="1F1B3A"/>
              </a:solidFill>
              <a:latin typeface="+mn-lt"/>
              <a:ea typeface="+mn-ea"/>
              <a:cs typeface="+mn-lt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82b5dc04-0fa3-466d-8d75-c29fbbe3e44f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1F1B3A"/>
                </a:solidFill>
                <a:latin typeface="+mn-lt"/>
                <a:ea typeface="+mn-ea"/>
                <a:cs typeface="+mn-cs"/>
              </a:defRPr>
            </a:pPr>
            <a:r>
              <a:rPr sz="1400" b="0" i="0" u="none" strike="noStrike">
                <a:solidFill>
                  <a:srgbClr val="1F1B3A"/>
                </a:solidFill>
                <a:latin typeface="+mn-lt"/>
              </a:rPr>
              <a:t>Match Score by ranking position (out of 100)</a:t>
            </a:r>
            <a:endParaRPr sz="1400" b="0" i="0" u="none" strike="noStrike">
              <a:solidFill>
                <a:srgbClr val="1F1B3A"/>
              </a:solidFill>
              <a:latin typeface="+mn-lt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Match Score</c:v>
                </c:pt>
              </c:strCache>
            </c:strRef>
          </c:tx>
          <c:spPr>
            <a:solidFill>
              <a:srgbClr val="5B44C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1F1B3A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Sheet1!$A$2:$A$18</c:f>
              <c:numCache>
                <c:formatCode>General</c:formatCode>
                <c:ptCount val="1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</c:numCache>
            </c:num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40</c:v>
                </c:pt>
                <c:pt idx="1">
                  <c:v>40</c:v>
                </c:pt>
                <c:pt idx="2">
                  <c:v>25</c:v>
                </c:pt>
                <c:pt idx="3">
                  <c:v>25</c:v>
                </c:pt>
                <c:pt idx="4">
                  <c:v>25</c:v>
                </c:pt>
                <c:pt idx="5">
                  <c:v>25</c:v>
                </c:pt>
                <c:pt idx="6">
                  <c:v>20</c:v>
                </c:pt>
                <c:pt idx="7">
                  <c:v>20</c:v>
                </c:pt>
                <c:pt idx="8">
                  <c:v>15</c:v>
                </c:pt>
                <c:pt idx="9">
                  <c:v>15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0</c:v>
                </c:pt>
                <c:pt idx="16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6B6A85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200" b="0" i="0" u="none" strike="noStrike">
                    <a:solidFill>
                      <a:srgbClr val="6B6A85"/>
                    </a:solidFill>
                    <a:latin typeface="+mn-lt"/>
                  </a:rPr>
                  <a:t>Rank</a:t>
                </a:r>
                <a:endParaRPr sz="1200" b="0" i="0" u="none" strike="noStrike">
                  <a:solidFill>
                    <a:srgbClr val="6B6A85"/>
                  </a:solidFill>
                  <a:latin typeface="+mn-lt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B6A85"/>
                </a:solidFill>
                <a:latin typeface="+mn-lt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9525" cap="flat" cmpd="sng" algn="ctr">
              <a:solidFill>
                <a:srgbClr val="E6E3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6B6A85"/>
                </a:solidFill>
                <a:latin typeface="+mn-lt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7b7ca9b-ed0c-45c0-a7d7-f68a3dc71194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version draws the exact flow of app.py as one connected flowchart, then a flowchart inside every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arrows with the class. Start -&gt; settings -&gt; validation -&gt; read the job description once. Then the loop: while resumes remain, read, extract details, score, add. When none remain: rank, save CSVs, end. Any error inside the loop is logged and the loop continues; errors in steps 1 to 3 stop the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share the .env file. A missing key stops the program immediately with a clear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Fail early with a clear message instead of crashing halfway through the resumes.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Used once for the job description and once per resume. For the job description an empty result stops the program; for a resume it is logged as an error and the loop continues.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Structured output: the schema forces the model to answer in fixed fields so our code can rely on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ask_llm helper as Step 4 with a different schema. The addition is done in Python, which is more reliable than asking the LLM to add.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the 100 points are split. Skills carry the most weight (40) because the job description is skills-heavy. Ask students: how would you change the weights for a senior role?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Tested in tests/test_resume_screening.py. Tie-break rules make the order identical on every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sample resume_screening_results.csv in Excel to show the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decision diamond. One bad PDF must never crash the whole run, so each resume is wrapped in try/except. Failures are recorded with a short reason and the loop moves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Names are hidden on purpose: never put real candidates on a classroom slide. Point out the ties at 25 and 10 and how the tie-break rule orders them. Ask why scores are low: the job needs Python / ML / NLP skills and most sample resumes are not AI focused.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or lab exercise. Windows with VS Code is assumed in the original README. Put resumes in resumes/ and the job description in job_description/job_description.pdf.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1064240" y="164592"/>
            <a:ext cx="960120" cy="96012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 idx="101" hasCustomPrompt="1"/>
          </p:nvPr>
        </p:nvSpPr>
        <p:spPr>
          <a:xfrm>
            <a:off x="548640" y="320040"/>
            <a:ext cx="10332720" cy="77724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6A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1064240" y="164592"/>
            <a:ext cx="960120" cy="96012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 idx="101" hasCustomPrompt="1"/>
          </p:nvPr>
        </p:nvSpPr>
        <p:spPr>
          <a:xfrm>
            <a:off x="731520" y="2011680"/>
            <a:ext cx="9601200" cy="173736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type="body" idx="102" hasCustomPrompt="1"/>
          </p:nvPr>
        </p:nvSpPr>
        <p:spPr>
          <a:xfrm>
            <a:off x="731520" y="3931920"/>
            <a:ext cx="9601200" cy="914400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>
              <a:buNone/>
              <a:defRPr lang="en-US" sz="22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6A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1" hasCustomPrompt="1"/>
          </p:nvPr>
        </p:nvSpPr>
        <p:spPr>
          <a:xfrm>
            <a:off x="731520" y="2011680"/>
            <a:ext cx="960120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tx1"/>
                </a:solidFill>
              </a:rPr>
              <a:t>Resume Screening with AI</a:t>
            </a:r>
            <a:endParaRPr lang="en-US" sz="4800" dirty="0"/>
          </a:p>
        </p:txBody>
      </p:sp>
      <p:sp>
        <p:nvSpPr>
          <p:cNvPr id="3" name="Text 0"/>
          <p:cNvSpPr/>
          <p:nvPr>
            <p:ph type="body" idx="102" hasCustomPrompt="1"/>
          </p:nvPr>
        </p:nvSpPr>
        <p:spPr>
          <a:xfrm>
            <a:off x="731520" y="393192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chemeClr val="tx2"/>
                </a:solidFill>
              </a:rPr>
              <a:t>Step-by-step</a:t>
            </a:r>
            <a:r>
              <a:rPr lang="en-IN" altLang="en-US" sz="2200" dirty="0">
                <a:solidFill>
                  <a:schemeClr val="tx2"/>
                </a:solidFill>
              </a:rPr>
              <a:t> Flow</a:t>
            </a:r>
            <a:r>
              <a:rPr lang="en-US" sz="2200" dirty="0">
                <a:solidFill>
                  <a:schemeClr val="tx2"/>
                </a:solidFill>
              </a:rPr>
              <a:t>: Input → Processing → Output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1" hasCustomPrompt="1"/>
          </p:nvPr>
        </p:nvSpPr>
        <p:spPr>
          <a:xfrm>
            <a:off x="548640" y="3200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The complete flowchart (app.py)</a:t>
            </a:r>
            <a:endParaRPr lang="en-US" sz="3200" dirty="0"/>
          </a:p>
        </p:txBody>
      </p:sp>
      <p:sp>
        <p:nvSpPr>
          <p:cNvPr id="4" name="Start/End"/>
          <p:cNvSpPr txBox="1"/>
          <p:nvPr/>
        </p:nvSpPr>
        <p:spPr>
          <a:xfrm>
            <a:off x="548640" y="1417320"/>
            <a:ext cx="1097280" cy="731520"/>
          </a:xfrm>
          <a:prstGeom prst="roundRect">
            <a:avLst>
              <a:gd name="adj" fmla="val 625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Start</a:t>
            </a:r>
            <a:endParaRPr lang="en-US" sz="1400" dirty="0"/>
          </a:p>
        </p:txBody>
      </p:sp>
      <p:sp>
        <p:nvSpPr>
          <p:cNvPr id="5" name="Process"/>
          <p:cNvSpPr txBox="1"/>
          <p:nvPr/>
        </p:nvSpPr>
        <p:spPr>
          <a:xfrm>
            <a:off x="2011680" y="1417320"/>
            <a:ext cx="228600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Load settings</a:t>
            </a:r>
            <a:endParaRPr lang="en-US" sz="1400" dirty="0"/>
          </a:p>
        </p:txBody>
      </p:sp>
      <p:sp>
        <p:nvSpPr>
          <p:cNvPr id="6" name="Step badge"/>
          <p:cNvSpPr/>
          <p:nvPr/>
        </p:nvSpPr>
        <p:spPr>
          <a:xfrm>
            <a:off x="1901952" y="1289304"/>
            <a:ext cx="347472" cy="34747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7" name="Step badge text"/>
          <p:cNvSpPr txBox="1"/>
          <p:nvPr/>
        </p:nvSpPr>
        <p:spPr>
          <a:xfrm>
            <a:off x="1901952" y="128930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Process"/>
          <p:cNvSpPr txBox="1"/>
          <p:nvPr/>
        </p:nvSpPr>
        <p:spPr>
          <a:xfrm>
            <a:off x="4663440" y="1417320"/>
            <a:ext cx="228600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Validate inputs</a:t>
            </a:r>
            <a:endParaRPr lang="en-US" sz="1400" dirty="0"/>
          </a:p>
        </p:txBody>
      </p:sp>
      <p:sp>
        <p:nvSpPr>
          <p:cNvPr id="9" name="Step badge"/>
          <p:cNvSpPr/>
          <p:nvPr/>
        </p:nvSpPr>
        <p:spPr>
          <a:xfrm>
            <a:off x="4553712" y="1289304"/>
            <a:ext cx="347472" cy="34747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0" name="Step badge text"/>
          <p:cNvSpPr txBox="1"/>
          <p:nvPr/>
        </p:nvSpPr>
        <p:spPr>
          <a:xfrm>
            <a:off x="4553712" y="128930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Process"/>
          <p:cNvSpPr txBox="1"/>
          <p:nvPr/>
        </p:nvSpPr>
        <p:spPr>
          <a:xfrm>
            <a:off x="7315200" y="1417320"/>
            <a:ext cx="228600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8000"/>
            </a:schemeClr>
          </a:solidFill>
          <a:ln w="19050">
            <a:solidFill>
              <a:schemeClr val="accent3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Read job description text</a:t>
            </a:r>
            <a:endParaRPr lang="en-US" sz="1400" dirty="0"/>
          </a:p>
        </p:txBody>
      </p:sp>
      <p:sp>
        <p:nvSpPr>
          <p:cNvPr id="12" name="Step badge"/>
          <p:cNvSpPr/>
          <p:nvPr/>
        </p:nvSpPr>
        <p:spPr>
          <a:xfrm>
            <a:off x="7205472" y="1289304"/>
            <a:ext cx="347472" cy="34747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3" name="Step badge text"/>
          <p:cNvSpPr txBox="1"/>
          <p:nvPr/>
        </p:nvSpPr>
        <p:spPr>
          <a:xfrm>
            <a:off x="7205472" y="128930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Flow line"/>
          <p:cNvSpPr/>
          <p:nvPr/>
        </p:nvSpPr>
        <p:spPr>
          <a:xfrm>
            <a:off x="1673352" y="1783080"/>
            <a:ext cx="31089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Flow line"/>
          <p:cNvSpPr/>
          <p:nvPr/>
        </p:nvSpPr>
        <p:spPr>
          <a:xfrm>
            <a:off x="4325112" y="1783080"/>
            <a:ext cx="31089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Flow line"/>
          <p:cNvSpPr/>
          <p:nvPr/>
        </p:nvSpPr>
        <p:spPr>
          <a:xfrm>
            <a:off x="6976872" y="1783080"/>
            <a:ext cx="31089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7" name="Legend dot"/>
          <p:cNvSpPr/>
          <p:nvPr/>
        </p:nvSpPr>
        <p:spPr>
          <a:xfrm>
            <a:off x="9966960" y="1371600"/>
            <a:ext cx="182880" cy="1828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Legend text"/>
          <p:cNvSpPr txBox="1"/>
          <p:nvPr/>
        </p:nvSpPr>
        <p:spPr>
          <a:xfrm>
            <a:off x="10241280" y="1316736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Input</a:t>
            </a:r>
            <a:endParaRPr lang="en-US" sz="1200" dirty="0"/>
          </a:p>
        </p:txBody>
      </p:sp>
      <p:sp>
        <p:nvSpPr>
          <p:cNvPr id="19" name="Legend dot"/>
          <p:cNvSpPr/>
          <p:nvPr/>
        </p:nvSpPr>
        <p:spPr>
          <a:xfrm>
            <a:off x="9966960" y="1664208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Legend text"/>
          <p:cNvSpPr txBox="1"/>
          <p:nvPr/>
        </p:nvSpPr>
        <p:spPr>
          <a:xfrm>
            <a:off x="10241280" y="1609344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Processing</a:t>
            </a:r>
            <a:endParaRPr lang="en-US" sz="1200" dirty="0"/>
          </a:p>
        </p:txBody>
      </p:sp>
      <p:sp>
        <p:nvSpPr>
          <p:cNvPr id="21" name="Legend dot"/>
          <p:cNvSpPr/>
          <p:nvPr/>
        </p:nvSpPr>
        <p:spPr>
          <a:xfrm>
            <a:off x="9966960" y="1956816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Legend text"/>
          <p:cNvSpPr txBox="1"/>
          <p:nvPr/>
        </p:nvSpPr>
        <p:spPr>
          <a:xfrm>
            <a:off x="10241280" y="1901952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Output</a:t>
            </a:r>
            <a:endParaRPr lang="en-US" sz="1200" dirty="0"/>
          </a:p>
        </p:txBody>
      </p:sp>
      <p:sp>
        <p:nvSpPr>
          <p:cNvPr id="23" name="Flow line"/>
          <p:cNvSpPr/>
          <p:nvPr/>
        </p:nvSpPr>
        <p:spPr>
          <a:xfrm>
            <a:off x="8458200" y="2167128"/>
            <a:ext cx="0" cy="420624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Decision"/>
          <p:cNvSpPr/>
          <p:nvPr/>
        </p:nvSpPr>
        <p:spPr>
          <a:xfrm>
            <a:off x="7315200" y="2606040"/>
            <a:ext cx="2286000" cy="1371600"/>
          </a:xfrm>
          <a:prstGeom prst="diamond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5" name="Decision text"/>
          <p:cNvSpPr txBox="1"/>
          <p:nvPr/>
        </p:nvSpPr>
        <p:spPr>
          <a:xfrm>
            <a:off x="7635240" y="278892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More resumes in the folder?</a:t>
            </a:r>
            <a:endParaRPr lang="en-US" sz="1300" dirty="0"/>
          </a:p>
        </p:txBody>
      </p:sp>
      <p:sp>
        <p:nvSpPr>
          <p:cNvPr id="26" name="Flow line"/>
          <p:cNvSpPr/>
          <p:nvPr/>
        </p:nvSpPr>
        <p:spPr>
          <a:xfrm flipH="1">
            <a:off x="6976872" y="3291840"/>
            <a:ext cx="310896" cy="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7" name="Branch label"/>
          <p:cNvSpPr txBox="1"/>
          <p:nvPr/>
        </p:nvSpPr>
        <p:spPr>
          <a:xfrm>
            <a:off x="7013448" y="29809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YES</a:t>
            </a:r>
            <a:endParaRPr lang="en-US" sz="1200" dirty="0"/>
          </a:p>
        </p:txBody>
      </p:sp>
      <p:sp>
        <p:nvSpPr>
          <p:cNvPr id="28" name="Process"/>
          <p:cNvSpPr txBox="1"/>
          <p:nvPr/>
        </p:nvSpPr>
        <p:spPr>
          <a:xfrm>
            <a:off x="4663440" y="2926080"/>
            <a:ext cx="2286000" cy="731520"/>
          </a:xfrm>
          <a:prstGeom prst="roundRect">
            <a:avLst>
              <a:gd name="adj" fmla="val 12500"/>
            </a:avLst>
          </a:prstGeom>
          <a:solidFill>
            <a:schemeClr val="accent3">
              <a:alpha val="18000"/>
            </a:schemeClr>
          </a:solidFill>
          <a:ln w="19050">
            <a:solidFill>
              <a:schemeClr val="accent3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Read this resume's text</a:t>
            </a:r>
            <a:endParaRPr lang="en-US" sz="1400" dirty="0"/>
          </a:p>
        </p:txBody>
      </p:sp>
      <p:sp>
        <p:nvSpPr>
          <p:cNvPr id="29" name="Step badge"/>
          <p:cNvSpPr/>
          <p:nvPr/>
        </p:nvSpPr>
        <p:spPr>
          <a:xfrm>
            <a:off x="4553712" y="2798064"/>
            <a:ext cx="347472" cy="34747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0" name="Step badge text"/>
          <p:cNvSpPr txBox="1"/>
          <p:nvPr/>
        </p:nvSpPr>
        <p:spPr>
          <a:xfrm>
            <a:off x="4553712" y="279806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1" name="Flow line"/>
          <p:cNvSpPr/>
          <p:nvPr/>
        </p:nvSpPr>
        <p:spPr>
          <a:xfrm flipH="1">
            <a:off x="4325112" y="3291840"/>
            <a:ext cx="31089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2" name="Process"/>
          <p:cNvSpPr txBox="1"/>
          <p:nvPr/>
        </p:nvSpPr>
        <p:spPr>
          <a:xfrm>
            <a:off x="2011680" y="2926080"/>
            <a:ext cx="228600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Extract details with LLM</a:t>
            </a:r>
            <a:endParaRPr lang="en-US" sz="1400" dirty="0"/>
          </a:p>
        </p:txBody>
      </p:sp>
      <p:sp>
        <p:nvSpPr>
          <p:cNvPr id="33" name="Step badge"/>
          <p:cNvSpPr/>
          <p:nvPr/>
        </p:nvSpPr>
        <p:spPr>
          <a:xfrm>
            <a:off x="1901952" y="2798064"/>
            <a:ext cx="347472" cy="34747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4" name="Step badge text"/>
          <p:cNvSpPr txBox="1"/>
          <p:nvPr/>
        </p:nvSpPr>
        <p:spPr>
          <a:xfrm>
            <a:off x="1901952" y="279806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Flow line"/>
          <p:cNvSpPr/>
          <p:nvPr/>
        </p:nvSpPr>
        <p:spPr>
          <a:xfrm>
            <a:off x="3154680" y="3675888"/>
            <a:ext cx="0" cy="740664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6" name="Process"/>
          <p:cNvSpPr txBox="1"/>
          <p:nvPr/>
        </p:nvSpPr>
        <p:spPr>
          <a:xfrm>
            <a:off x="2011680" y="4434840"/>
            <a:ext cx="228600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Score vs job with LLM</a:t>
            </a:r>
            <a:endParaRPr lang="en-US" sz="1400" dirty="0"/>
          </a:p>
        </p:txBody>
      </p:sp>
      <p:sp>
        <p:nvSpPr>
          <p:cNvPr id="37" name="Step badge"/>
          <p:cNvSpPr/>
          <p:nvPr/>
        </p:nvSpPr>
        <p:spPr>
          <a:xfrm>
            <a:off x="1901952" y="4306824"/>
            <a:ext cx="347472" cy="34747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8" name="Step badge text"/>
          <p:cNvSpPr txBox="1"/>
          <p:nvPr/>
        </p:nvSpPr>
        <p:spPr>
          <a:xfrm>
            <a:off x="1901952" y="43068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9" name="Flow line"/>
          <p:cNvSpPr/>
          <p:nvPr/>
        </p:nvSpPr>
        <p:spPr>
          <a:xfrm>
            <a:off x="4325112" y="4800600"/>
            <a:ext cx="31089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0" name="Process"/>
          <p:cNvSpPr txBox="1"/>
          <p:nvPr/>
        </p:nvSpPr>
        <p:spPr>
          <a:xfrm>
            <a:off x="4663440" y="4434840"/>
            <a:ext cx="2286000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Add to candidates list</a:t>
            </a:r>
            <a:endParaRPr lang="en-US" sz="1400" dirty="0"/>
          </a:p>
        </p:txBody>
      </p:sp>
      <p:sp>
        <p:nvSpPr>
          <p:cNvPr id="41" name="Flow line"/>
          <p:cNvSpPr/>
          <p:nvPr/>
        </p:nvSpPr>
        <p:spPr>
          <a:xfrm>
            <a:off x="6976872" y="4800600"/>
            <a:ext cx="1481328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42" name="Flow line"/>
          <p:cNvSpPr/>
          <p:nvPr/>
        </p:nvSpPr>
        <p:spPr>
          <a:xfrm flipV="1">
            <a:off x="8458200" y="3995928"/>
            <a:ext cx="0" cy="804672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43" name="Branch label"/>
          <p:cNvSpPr txBox="1"/>
          <p:nvPr/>
        </p:nvSpPr>
        <p:spPr>
          <a:xfrm>
            <a:off x="7086600" y="484632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next resume</a:t>
            </a:r>
            <a:endParaRPr lang="en-US" sz="1200" dirty="0"/>
          </a:p>
        </p:txBody>
      </p:sp>
      <p:sp>
        <p:nvSpPr>
          <p:cNvPr id="44" name="Flow line"/>
          <p:cNvSpPr/>
          <p:nvPr/>
        </p:nvSpPr>
        <p:spPr>
          <a:xfrm>
            <a:off x="9628632" y="3291840"/>
            <a:ext cx="850392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</a:ln>
        </p:spPr>
      </p:sp>
      <p:sp>
        <p:nvSpPr>
          <p:cNvPr id="45" name="Branch label"/>
          <p:cNvSpPr txBox="1"/>
          <p:nvPr/>
        </p:nvSpPr>
        <p:spPr>
          <a:xfrm>
            <a:off x="9692640" y="2980944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NO</a:t>
            </a:r>
            <a:endParaRPr lang="en-US" sz="1200" dirty="0"/>
          </a:p>
        </p:txBody>
      </p:sp>
      <p:sp>
        <p:nvSpPr>
          <p:cNvPr id="46" name="Flow line"/>
          <p:cNvSpPr/>
          <p:nvPr/>
        </p:nvSpPr>
        <p:spPr>
          <a:xfrm>
            <a:off x="10479024" y="3291840"/>
            <a:ext cx="0" cy="1124712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7" name="Process"/>
          <p:cNvSpPr txBox="1"/>
          <p:nvPr/>
        </p:nvSpPr>
        <p:spPr>
          <a:xfrm>
            <a:off x="9326880" y="4434840"/>
            <a:ext cx="2313432" cy="731520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Rank candidates</a:t>
            </a:r>
            <a:endParaRPr lang="en-US" sz="1400" dirty="0"/>
          </a:p>
        </p:txBody>
      </p:sp>
      <p:sp>
        <p:nvSpPr>
          <p:cNvPr id="48" name="Step badge"/>
          <p:cNvSpPr/>
          <p:nvPr/>
        </p:nvSpPr>
        <p:spPr>
          <a:xfrm>
            <a:off x="9217152" y="4306824"/>
            <a:ext cx="347472" cy="34747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49" name="Step badge text"/>
          <p:cNvSpPr txBox="1"/>
          <p:nvPr/>
        </p:nvSpPr>
        <p:spPr>
          <a:xfrm>
            <a:off x="9217152" y="43068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50" name="Flow line"/>
          <p:cNvSpPr/>
          <p:nvPr/>
        </p:nvSpPr>
        <p:spPr>
          <a:xfrm>
            <a:off x="10479024" y="5184648"/>
            <a:ext cx="0" cy="301752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51" name="Process"/>
          <p:cNvSpPr txBox="1"/>
          <p:nvPr/>
        </p:nvSpPr>
        <p:spPr>
          <a:xfrm>
            <a:off x="9326880" y="5504688"/>
            <a:ext cx="2313432" cy="731520"/>
          </a:xfrm>
          <a:prstGeom prst="roundRect">
            <a:avLst>
              <a:gd name="adj" fmla="val 12500"/>
            </a:avLst>
          </a:prstGeom>
          <a:solidFill>
            <a:schemeClr val="accent4">
              <a:alpha val="18000"/>
            </a:schemeClr>
          </a:solidFill>
          <a:ln w="19050">
            <a:solidFill>
              <a:schemeClr val="accent4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Save results + errors CSV</a:t>
            </a:r>
            <a:endParaRPr lang="en-US" sz="1400" dirty="0"/>
          </a:p>
        </p:txBody>
      </p:sp>
      <p:sp>
        <p:nvSpPr>
          <p:cNvPr id="52" name="Step badge"/>
          <p:cNvSpPr/>
          <p:nvPr/>
        </p:nvSpPr>
        <p:spPr>
          <a:xfrm>
            <a:off x="9217152" y="5376672"/>
            <a:ext cx="347472" cy="347472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53" name="Step badge text"/>
          <p:cNvSpPr txBox="1"/>
          <p:nvPr/>
        </p:nvSpPr>
        <p:spPr>
          <a:xfrm>
            <a:off x="9217152" y="53766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54" name="Flow line"/>
          <p:cNvSpPr/>
          <p:nvPr/>
        </p:nvSpPr>
        <p:spPr>
          <a:xfrm flipH="1">
            <a:off x="8897112" y="5870448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55" name="Start/End"/>
          <p:cNvSpPr txBox="1"/>
          <p:nvPr/>
        </p:nvSpPr>
        <p:spPr>
          <a:xfrm>
            <a:off x="7772400" y="5504688"/>
            <a:ext cx="1097280" cy="731520"/>
          </a:xfrm>
          <a:prstGeom prst="roundRect">
            <a:avLst>
              <a:gd name="adj" fmla="val 625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End</a:t>
            </a:r>
            <a:endParaRPr lang="en-US" sz="1400" dirty="0"/>
          </a:p>
        </p:txBody>
      </p:sp>
      <p:sp>
        <p:nvSpPr>
          <p:cNvPr id="56" name="Error note"/>
          <p:cNvSpPr txBox="1"/>
          <p:nvPr/>
        </p:nvSpPr>
        <p:spPr>
          <a:xfrm>
            <a:off x="548640" y="5486400"/>
            <a:ext cx="6858000" cy="777240"/>
          </a:xfrm>
          <a:prstGeom prst="roundRect">
            <a:avLst>
              <a:gd name="adj" fmla="val 11765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dash"/>
          </a:ln>
        </p:spPr>
        <p:txBody>
          <a:bodyPr wrap="square" lIns="0" tIns="2540" rIns="254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If one resume fails inside the loop: </a:t>
            </a:r>
            <a:r>
              <a:rPr lang="en-US" sz="1400" dirty="0">
                <a:solidFill>
                  <a:schemeClr val="tx1"/>
                </a:solidFill>
              </a:rPr>
              <a:t>save its filename + reason in the errors list and go to the next resume. Errors in steps 1 to 3 stop the program with a message.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6A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1" hasCustomPrompt="1"/>
          </p:nvPr>
        </p:nvSpPr>
        <p:spPr>
          <a:xfrm>
            <a:off x="548640" y="3200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1 · Load settings (config.py)</a:t>
            </a:r>
            <a:endParaRPr lang="en-US" sz="3200" dirty="0"/>
          </a:p>
        </p:txBody>
      </p:sp>
      <p:sp>
        <p:nvSpPr>
          <p:cNvPr id="4" name="Input box"/>
          <p:cNvSpPr txBox="1"/>
          <p:nvPr/>
        </p:nvSpPr>
        <p:spPr>
          <a:xfrm>
            <a:off x="548640" y="1290320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accent3">
              <a:alpha val="18000"/>
            </a:schemeClr>
          </a:solidFill>
          <a:ln w="19050">
            <a:solidFill>
              <a:schemeClr val="accent3"/>
            </a:solidFill>
          </a:ln>
        </p:spPr>
        <p:txBody>
          <a:bodyPr wrap="square" lIns="1016" tIns="2286" rIns="2286" bIns="1016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tx1"/>
                </a:solidFill>
              </a:rPr>
              <a:t>INPUT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dirty="0">
                <a:solidFill>
                  <a:schemeClr val="tx1"/>
                </a:solidFill>
              </a:rPr>
              <a:t>The .env file</a:t>
            </a:r>
            <a:endParaRPr lang="en-US" sz="11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API key, model, folders</a:t>
            </a:r>
            <a:endParaRPr lang="en-US" sz="1100" dirty="0"/>
          </a:p>
        </p:txBody>
      </p:sp>
      <p:sp>
        <p:nvSpPr>
          <p:cNvPr id="5" name="Processing box"/>
          <p:cNvSpPr txBox="1"/>
          <p:nvPr/>
        </p:nvSpPr>
        <p:spPr>
          <a:xfrm>
            <a:off x="4544568" y="1280160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2286" rIns="2286" bIns="1016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bg1"/>
                </a:solidFill>
              </a:rPr>
              <a:t>PROCESSING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dirty="0">
                <a:solidFill>
                  <a:schemeClr val="bg1"/>
                </a:solidFill>
              </a:rPr>
              <a:t>load_config()</a:t>
            </a:r>
            <a:endParaRPr lang="en-US" sz="11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Read and prepare settings</a:t>
            </a:r>
            <a:endParaRPr lang="en-US" sz="1100" dirty="0"/>
          </a:p>
        </p:txBody>
      </p:sp>
      <p:sp>
        <p:nvSpPr>
          <p:cNvPr id="6" name="Output box"/>
          <p:cNvSpPr txBox="1"/>
          <p:nvPr/>
        </p:nvSpPr>
        <p:spPr>
          <a:xfrm>
            <a:off x="8531352" y="1280160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accent4">
              <a:alpha val="18000"/>
            </a:schemeClr>
          </a:solidFill>
          <a:ln w="19050">
            <a:solidFill>
              <a:schemeClr val="accent4"/>
            </a:solidFill>
          </a:ln>
        </p:spPr>
        <p:txBody>
          <a:bodyPr wrap="square" lIns="1016" tIns="2286" rIns="2286" bIns="1016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tx1"/>
                </a:solidFill>
              </a:rPr>
              <a:t>OUTPUT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dirty="0">
                <a:solidFill>
                  <a:schemeClr val="tx1"/>
                </a:solidFill>
              </a:rPr>
              <a:t>config dictionary</a:t>
            </a:r>
            <a:endParaRPr lang="en-US" sz="11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Settings + OpenAI client</a:t>
            </a:r>
            <a:endParaRPr lang="en-US" sz="1100" dirty="0"/>
          </a:p>
        </p:txBody>
      </p:sp>
      <p:sp>
        <p:nvSpPr>
          <p:cNvPr id="7" name="Flow arrow"/>
          <p:cNvSpPr/>
          <p:nvPr/>
        </p:nvSpPr>
        <p:spPr>
          <a:xfrm>
            <a:off x="3730752" y="1828800"/>
            <a:ext cx="740664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Flow arrow"/>
          <p:cNvSpPr/>
          <p:nvPr/>
        </p:nvSpPr>
        <p:spPr>
          <a:xfrm>
            <a:off x="7726680" y="1828800"/>
            <a:ext cx="7315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Sub heading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Inside the processing box</a:t>
            </a:r>
            <a:endParaRPr lang="en-US" sz="1800" dirty="0"/>
          </a:p>
        </p:txBody>
      </p:sp>
      <p:sp>
        <p:nvSpPr>
          <p:cNvPr id="10" name="Process"/>
          <p:cNvSpPr txBox="1"/>
          <p:nvPr/>
        </p:nvSpPr>
        <p:spPr>
          <a:xfrm>
            <a:off x="548640" y="2994660"/>
            <a:ext cx="2430018" cy="868680"/>
          </a:xfrm>
          <a:prstGeom prst="roundRect">
            <a:avLst>
              <a:gd name="adj" fmla="val 10526"/>
            </a:avLst>
          </a:prstGeom>
          <a:solidFill>
            <a:schemeClr val="accent3">
              <a:alpha val="18000"/>
            </a:schemeClr>
          </a:solidFill>
          <a:ln w="19050">
            <a:solidFill>
              <a:schemeClr val="accent3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Load the .env file</a:t>
            </a:r>
            <a:endParaRPr lang="en-US" sz="1400" dirty="0"/>
          </a:p>
        </p:txBody>
      </p:sp>
      <p:sp>
        <p:nvSpPr>
          <p:cNvPr id="11" name="Flow line"/>
          <p:cNvSpPr/>
          <p:nvPr/>
        </p:nvSpPr>
        <p:spPr>
          <a:xfrm>
            <a:off x="3006090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Decision"/>
          <p:cNvSpPr/>
          <p:nvPr/>
        </p:nvSpPr>
        <p:spPr>
          <a:xfrm>
            <a:off x="3435858" y="2880360"/>
            <a:ext cx="2430018" cy="1097280"/>
          </a:xfrm>
          <a:prstGeom prst="diamond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3" name="Decision text"/>
          <p:cNvSpPr txBox="1"/>
          <p:nvPr/>
        </p:nvSpPr>
        <p:spPr>
          <a:xfrm>
            <a:off x="3776061" y="3012034"/>
            <a:ext cx="1749613" cy="8339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API key present?</a:t>
            </a:r>
            <a:endParaRPr lang="en-US" sz="1300" dirty="0"/>
          </a:p>
        </p:txBody>
      </p:sp>
      <p:sp>
        <p:nvSpPr>
          <p:cNvPr id="14" name="Flow line"/>
          <p:cNvSpPr/>
          <p:nvPr/>
        </p:nvSpPr>
        <p:spPr>
          <a:xfrm>
            <a:off x="5893308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Branch label"/>
          <p:cNvSpPr txBox="1"/>
          <p:nvPr/>
        </p:nvSpPr>
        <p:spPr>
          <a:xfrm>
            <a:off x="5911596" y="311810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YES</a:t>
            </a:r>
            <a:endParaRPr lang="en-US" sz="1200" dirty="0"/>
          </a:p>
        </p:txBody>
      </p:sp>
      <p:sp>
        <p:nvSpPr>
          <p:cNvPr id="16" name="Flow line"/>
          <p:cNvSpPr/>
          <p:nvPr/>
        </p:nvSpPr>
        <p:spPr>
          <a:xfrm>
            <a:off x="4650867" y="3995928"/>
            <a:ext cx="0" cy="36576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7" name="Branch label"/>
          <p:cNvSpPr txBox="1"/>
          <p:nvPr/>
        </p:nvSpPr>
        <p:spPr>
          <a:xfrm>
            <a:off x="4742307" y="39959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NO</a:t>
            </a:r>
            <a:endParaRPr lang="en-US" sz="1200" dirty="0"/>
          </a:p>
        </p:txBody>
      </p:sp>
      <p:sp>
        <p:nvSpPr>
          <p:cNvPr id="18" name="Process"/>
          <p:cNvSpPr txBox="1"/>
          <p:nvPr/>
        </p:nvSpPr>
        <p:spPr>
          <a:xfrm>
            <a:off x="3435858" y="4398264"/>
            <a:ext cx="2430018" cy="777240"/>
          </a:xfrm>
          <a:prstGeom prst="roundRect">
            <a:avLst>
              <a:gd name="adj" fmla="val 11765"/>
            </a:avLst>
          </a:prstGeom>
          <a:solidFill>
            <a:schemeClr val="accent2">
              <a:alpha val="15000"/>
            </a:schemeClr>
          </a:solidFill>
          <a:ln w="19050">
            <a:solidFill>
              <a:schemeClr val="accent2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Stop: add OPENAI_API_KEY</a:t>
            </a:r>
            <a:endParaRPr lang="en-US" sz="1400" dirty="0"/>
          </a:p>
        </p:txBody>
      </p:sp>
      <p:sp>
        <p:nvSpPr>
          <p:cNvPr id="19" name="Process"/>
          <p:cNvSpPr txBox="1"/>
          <p:nvPr/>
        </p:nvSpPr>
        <p:spPr>
          <a:xfrm>
            <a:off x="6323076" y="2994660"/>
            <a:ext cx="2430018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Set model and folder paths (defaults)</a:t>
            </a:r>
            <a:endParaRPr lang="en-US" sz="1400" dirty="0"/>
          </a:p>
        </p:txBody>
      </p:sp>
      <p:sp>
        <p:nvSpPr>
          <p:cNvPr id="20" name="Flow line"/>
          <p:cNvSpPr/>
          <p:nvPr/>
        </p:nvSpPr>
        <p:spPr>
          <a:xfrm>
            <a:off x="8780526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1" name="Process"/>
          <p:cNvSpPr txBox="1"/>
          <p:nvPr/>
        </p:nvSpPr>
        <p:spPr>
          <a:xfrm>
            <a:off x="9210294" y="2994660"/>
            <a:ext cx="2430018" cy="868680"/>
          </a:xfrm>
          <a:prstGeom prst="roundRect">
            <a:avLst>
              <a:gd name="adj" fmla="val 10526"/>
            </a:avLst>
          </a:prstGeom>
          <a:solidFill>
            <a:schemeClr val="accent4">
              <a:alpha val="18000"/>
            </a:schemeClr>
          </a:solidFill>
          <a:ln w="19050">
            <a:solidFill>
              <a:schemeClr val="accent4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Create OpenAI client</a:t>
            </a:r>
            <a:endParaRPr lang="en-US" sz="1400" dirty="0"/>
          </a:p>
        </p:txBody>
      </p:sp>
      <p:sp>
        <p:nvSpPr>
          <p:cNvPr id="22" name="Code snippet"/>
          <p:cNvSpPr txBox="1"/>
          <p:nvPr/>
        </p:nvSpPr>
        <p:spPr>
          <a:xfrm>
            <a:off x="548640" y="5349240"/>
            <a:ext cx="11091672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load_dotenv(BASE_DIR / ".env")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key = os.getenv("OPENAI_API_KEY", "").strip()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 not key: raise ValueError("Add OPENAI_API_KEY to your .env file.")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config["client"] = OpenAI(api_key=key)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6A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1" hasCustomPrompt="1"/>
          </p:nvPr>
        </p:nvSpPr>
        <p:spPr>
          <a:xfrm>
            <a:off x="548640" y="3200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2 · Validate the inputs (utils.py)</a:t>
            </a:r>
            <a:endParaRPr lang="en-US" sz="3200" dirty="0"/>
          </a:p>
        </p:txBody>
      </p:sp>
      <p:sp>
        <p:nvSpPr>
          <p:cNvPr id="4" name="Input box"/>
          <p:cNvSpPr txBox="1"/>
          <p:nvPr/>
        </p:nvSpPr>
        <p:spPr>
          <a:xfrm>
            <a:off x="548640" y="1280160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accent3">
              <a:alpha val="18000"/>
            </a:schemeClr>
          </a:solidFill>
          <a:ln w="19050">
            <a:solidFill>
              <a:schemeClr val="accent3"/>
            </a:solidFill>
          </a:ln>
        </p:spPr>
        <p:txBody>
          <a:bodyPr wrap="square" lIns="1016" tIns="2286" rIns="2286" bIns="1016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tx1"/>
                </a:solidFill>
              </a:rPr>
              <a:t>INPUT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dirty="0">
                <a:solidFill>
                  <a:schemeClr val="tx1"/>
                </a:solidFill>
              </a:rPr>
              <a:t>config dictionary</a:t>
            </a:r>
            <a:endParaRPr lang="en-US" sz="11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Folder and file paths</a:t>
            </a:r>
            <a:endParaRPr lang="en-US" sz="1100" dirty="0"/>
          </a:p>
        </p:txBody>
      </p:sp>
      <p:sp>
        <p:nvSpPr>
          <p:cNvPr id="5" name="Processing box"/>
          <p:cNvSpPr txBox="1"/>
          <p:nvPr/>
        </p:nvSpPr>
        <p:spPr>
          <a:xfrm>
            <a:off x="4544568" y="1280160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2286" rIns="2286" bIns="1016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bg1"/>
                </a:solidFill>
              </a:rPr>
              <a:t>PROCESSING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dirty="0">
                <a:solidFill>
                  <a:schemeClr val="bg1"/>
                </a:solidFill>
              </a:rPr>
              <a:t>validate_inputs()</a:t>
            </a:r>
            <a:endParaRPr lang="en-US" sz="11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Check everything exists</a:t>
            </a:r>
            <a:endParaRPr lang="en-US" sz="1100" dirty="0"/>
          </a:p>
        </p:txBody>
      </p:sp>
      <p:sp>
        <p:nvSpPr>
          <p:cNvPr id="6" name="Output box"/>
          <p:cNvSpPr txBox="1"/>
          <p:nvPr/>
        </p:nvSpPr>
        <p:spPr>
          <a:xfrm>
            <a:off x="8531352" y="1280160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accent4">
              <a:alpha val="18000"/>
            </a:schemeClr>
          </a:solidFill>
          <a:ln w="19050">
            <a:solidFill>
              <a:schemeClr val="accent4"/>
            </a:solidFill>
          </a:ln>
        </p:spPr>
        <p:txBody>
          <a:bodyPr wrap="square" lIns="1016" tIns="2286" rIns="2286" bIns="1016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tx1"/>
                </a:solidFill>
              </a:rPr>
              <a:t>OUTPUT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dirty="0">
                <a:solidFill>
                  <a:schemeClr val="tx1"/>
                </a:solidFill>
              </a:rPr>
              <a:t>Ready to run</a:t>
            </a:r>
            <a:endParaRPr lang="en-US" sz="11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Or a clear error message</a:t>
            </a:r>
            <a:endParaRPr lang="en-US" sz="1100" dirty="0"/>
          </a:p>
        </p:txBody>
      </p:sp>
      <p:sp>
        <p:nvSpPr>
          <p:cNvPr id="7" name="Flow arrow"/>
          <p:cNvSpPr/>
          <p:nvPr/>
        </p:nvSpPr>
        <p:spPr>
          <a:xfrm>
            <a:off x="3730752" y="1828800"/>
            <a:ext cx="740664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Flow arrow"/>
          <p:cNvSpPr/>
          <p:nvPr/>
        </p:nvSpPr>
        <p:spPr>
          <a:xfrm>
            <a:off x="7726680" y="1828800"/>
            <a:ext cx="7315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Sub heading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Inside the processing box</a:t>
            </a:r>
            <a:endParaRPr lang="en-US" sz="1800" dirty="0"/>
          </a:p>
        </p:txBody>
      </p:sp>
      <p:sp>
        <p:nvSpPr>
          <p:cNvPr id="10" name="Decision"/>
          <p:cNvSpPr/>
          <p:nvPr/>
        </p:nvSpPr>
        <p:spPr>
          <a:xfrm>
            <a:off x="548640" y="2880360"/>
            <a:ext cx="1852574" cy="1097280"/>
          </a:xfrm>
          <a:prstGeom prst="diamond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1" name="Decision text"/>
          <p:cNvSpPr txBox="1"/>
          <p:nvPr/>
        </p:nvSpPr>
        <p:spPr>
          <a:xfrm>
            <a:off x="808000" y="3012034"/>
            <a:ext cx="1333854" cy="8339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Resume folder exists?</a:t>
            </a:r>
            <a:endParaRPr lang="en-US" sz="1300" dirty="0"/>
          </a:p>
        </p:txBody>
      </p:sp>
      <p:sp>
        <p:nvSpPr>
          <p:cNvPr id="12" name="Flow line"/>
          <p:cNvSpPr/>
          <p:nvPr/>
        </p:nvSpPr>
        <p:spPr>
          <a:xfrm>
            <a:off x="2428646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Branch label"/>
          <p:cNvSpPr txBox="1"/>
          <p:nvPr/>
        </p:nvSpPr>
        <p:spPr>
          <a:xfrm>
            <a:off x="2446934" y="311810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YES</a:t>
            </a:r>
            <a:endParaRPr lang="en-US" sz="1200" dirty="0"/>
          </a:p>
        </p:txBody>
      </p:sp>
      <p:sp>
        <p:nvSpPr>
          <p:cNvPr id="14" name="Flow line"/>
          <p:cNvSpPr/>
          <p:nvPr/>
        </p:nvSpPr>
        <p:spPr>
          <a:xfrm>
            <a:off x="1474927" y="3995928"/>
            <a:ext cx="0" cy="36576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5" name="Branch label"/>
          <p:cNvSpPr txBox="1"/>
          <p:nvPr/>
        </p:nvSpPr>
        <p:spPr>
          <a:xfrm>
            <a:off x="1566367" y="39959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NO</a:t>
            </a:r>
            <a:endParaRPr lang="en-US" sz="1200" dirty="0"/>
          </a:p>
        </p:txBody>
      </p:sp>
      <p:sp>
        <p:nvSpPr>
          <p:cNvPr id="16" name="Process"/>
          <p:cNvSpPr txBox="1"/>
          <p:nvPr/>
        </p:nvSpPr>
        <p:spPr>
          <a:xfrm>
            <a:off x="548640" y="4398264"/>
            <a:ext cx="1852574" cy="777240"/>
          </a:xfrm>
          <a:prstGeom prst="roundRect">
            <a:avLst>
              <a:gd name="adj" fmla="val 11765"/>
            </a:avLst>
          </a:prstGeom>
          <a:solidFill>
            <a:schemeClr val="accent2">
              <a:alpha val="15000"/>
            </a:schemeClr>
          </a:solidFill>
          <a:ln w="19050">
            <a:solidFill>
              <a:schemeClr val="accent2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Stop: folder not found</a:t>
            </a:r>
            <a:endParaRPr lang="en-US" sz="1400" dirty="0"/>
          </a:p>
        </p:txBody>
      </p:sp>
      <p:sp>
        <p:nvSpPr>
          <p:cNvPr id="17" name="Decision"/>
          <p:cNvSpPr/>
          <p:nvPr/>
        </p:nvSpPr>
        <p:spPr>
          <a:xfrm>
            <a:off x="2858414" y="2880360"/>
            <a:ext cx="1852574" cy="1097280"/>
          </a:xfrm>
          <a:prstGeom prst="diamond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8" name="Decision text"/>
          <p:cNvSpPr txBox="1"/>
          <p:nvPr/>
        </p:nvSpPr>
        <p:spPr>
          <a:xfrm>
            <a:off x="3117775" y="3012034"/>
            <a:ext cx="1333854" cy="8339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Job PDF exists?</a:t>
            </a:r>
            <a:endParaRPr lang="en-US" sz="1300" dirty="0"/>
          </a:p>
        </p:txBody>
      </p:sp>
      <p:sp>
        <p:nvSpPr>
          <p:cNvPr id="19" name="Flow line"/>
          <p:cNvSpPr/>
          <p:nvPr/>
        </p:nvSpPr>
        <p:spPr>
          <a:xfrm>
            <a:off x="4738421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0" name="Branch label"/>
          <p:cNvSpPr txBox="1"/>
          <p:nvPr/>
        </p:nvSpPr>
        <p:spPr>
          <a:xfrm>
            <a:off x="4756709" y="311810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YES</a:t>
            </a:r>
            <a:endParaRPr lang="en-US" sz="1200" dirty="0"/>
          </a:p>
        </p:txBody>
      </p:sp>
      <p:sp>
        <p:nvSpPr>
          <p:cNvPr id="21" name="Flow line"/>
          <p:cNvSpPr/>
          <p:nvPr/>
        </p:nvSpPr>
        <p:spPr>
          <a:xfrm>
            <a:off x="3784702" y="3995928"/>
            <a:ext cx="0" cy="36576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Branch label"/>
          <p:cNvSpPr txBox="1"/>
          <p:nvPr/>
        </p:nvSpPr>
        <p:spPr>
          <a:xfrm>
            <a:off x="3876142" y="39959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NO</a:t>
            </a:r>
            <a:endParaRPr lang="en-US" sz="1200" dirty="0"/>
          </a:p>
        </p:txBody>
      </p:sp>
      <p:sp>
        <p:nvSpPr>
          <p:cNvPr id="23" name="Process"/>
          <p:cNvSpPr txBox="1"/>
          <p:nvPr/>
        </p:nvSpPr>
        <p:spPr>
          <a:xfrm>
            <a:off x="2858414" y="4398264"/>
            <a:ext cx="1852574" cy="777240"/>
          </a:xfrm>
          <a:prstGeom prst="roundRect">
            <a:avLst>
              <a:gd name="adj" fmla="val 11765"/>
            </a:avLst>
          </a:prstGeom>
          <a:solidFill>
            <a:schemeClr val="accent2">
              <a:alpha val="15000"/>
            </a:schemeClr>
          </a:solidFill>
          <a:ln w="19050">
            <a:solidFill>
              <a:schemeClr val="accent2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Stop: PDF not found</a:t>
            </a:r>
            <a:endParaRPr lang="en-US" sz="1400" dirty="0"/>
          </a:p>
        </p:txBody>
      </p:sp>
      <p:sp>
        <p:nvSpPr>
          <p:cNvPr id="24" name="Process"/>
          <p:cNvSpPr txBox="1"/>
          <p:nvPr/>
        </p:nvSpPr>
        <p:spPr>
          <a:xfrm>
            <a:off x="5168189" y="2994660"/>
            <a:ext cx="1852574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Create output folder if missing</a:t>
            </a:r>
            <a:endParaRPr lang="en-US" sz="1400" dirty="0"/>
          </a:p>
        </p:txBody>
      </p:sp>
      <p:sp>
        <p:nvSpPr>
          <p:cNvPr id="25" name="Flow line"/>
          <p:cNvSpPr/>
          <p:nvPr/>
        </p:nvSpPr>
        <p:spPr>
          <a:xfrm>
            <a:off x="7048195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6" name="Process"/>
          <p:cNvSpPr txBox="1"/>
          <p:nvPr/>
        </p:nvSpPr>
        <p:spPr>
          <a:xfrm>
            <a:off x="7477963" y="2994660"/>
            <a:ext cx="1852574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List all PDFs, sorted A to Z</a:t>
            </a:r>
            <a:endParaRPr lang="en-US" sz="1400" dirty="0"/>
          </a:p>
        </p:txBody>
      </p:sp>
      <p:sp>
        <p:nvSpPr>
          <p:cNvPr id="27" name="Flow line"/>
          <p:cNvSpPr/>
          <p:nvPr/>
        </p:nvSpPr>
        <p:spPr>
          <a:xfrm>
            <a:off x="9357970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8" name="Process"/>
          <p:cNvSpPr txBox="1"/>
          <p:nvPr/>
        </p:nvSpPr>
        <p:spPr>
          <a:xfrm>
            <a:off x="9787738" y="2994660"/>
            <a:ext cx="1852574" cy="868680"/>
          </a:xfrm>
          <a:prstGeom prst="roundRect">
            <a:avLst>
              <a:gd name="adj" fmla="val 10526"/>
            </a:avLst>
          </a:prstGeom>
          <a:solidFill>
            <a:schemeClr val="accent4">
              <a:alpha val="18000"/>
            </a:schemeClr>
          </a:solidFill>
          <a:ln w="19050">
            <a:solidFill>
              <a:schemeClr val="accent4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Ready for the loop</a:t>
            </a:r>
            <a:endParaRPr lang="en-US" sz="1400" dirty="0"/>
          </a:p>
        </p:txBody>
      </p:sp>
      <p:sp>
        <p:nvSpPr>
          <p:cNvPr id="29" name="Code snippet"/>
          <p:cNvSpPr txBox="1"/>
          <p:nvPr/>
        </p:nvSpPr>
        <p:spPr>
          <a:xfrm>
            <a:off x="548640" y="5349240"/>
            <a:ext cx="11091672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 not config["resumes_dir"].is_dir(): raise FileNotFoundError(...)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 not config["job_pdf"].is_file():    raise FileNotFoundError(...)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config["output_csv"].parent.mkdir(parents=True, exist_ok=True)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pdfs = find_resumes(config["resumes_dir"])   # sorted by name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6A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1" hasCustomPrompt="1"/>
          </p:nvPr>
        </p:nvSpPr>
        <p:spPr>
          <a:xfrm>
            <a:off x="548640" y="3200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3 · Extract text from a PDF</a:t>
            </a:r>
            <a:endParaRPr lang="en-US" sz="3200" dirty="0"/>
          </a:p>
        </p:txBody>
      </p:sp>
      <p:sp>
        <p:nvSpPr>
          <p:cNvPr id="4" name="Input box"/>
          <p:cNvSpPr txBox="1"/>
          <p:nvPr/>
        </p:nvSpPr>
        <p:spPr>
          <a:xfrm>
            <a:off x="548640" y="1280160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accent3">
              <a:alpha val="18000"/>
            </a:schemeClr>
          </a:solidFill>
          <a:ln w="19050">
            <a:solidFill>
              <a:schemeClr val="accent3"/>
            </a:solidFill>
          </a:ln>
        </p:spPr>
        <p:txBody>
          <a:bodyPr wrap="square" lIns="1016" tIns="2286" rIns="2286" bIns="1016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tx1"/>
                </a:solidFill>
              </a:rPr>
              <a:t>INPUT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dirty="0">
                <a:solidFill>
                  <a:schemeClr val="tx1"/>
                </a:solidFill>
              </a:rPr>
              <a:t>One PDF file</a:t>
            </a:r>
            <a:endParaRPr lang="en-US" sz="11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Job description or resume</a:t>
            </a:r>
            <a:endParaRPr lang="en-US" sz="1100" dirty="0"/>
          </a:p>
        </p:txBody>
      </p:sp>
      <p:sp>
        <p:nvSpPr>
          <p:cNvPr id="5" name="Processing box"/>
          <p:cNvSpPr txBox="1"/>
          <p:nvPr/>
        </p:nvSpPr>
        <p:spPr>
          <a:xfrm>
            <a:off x="4544568" y="1280160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2286" rIns="2286" bIns="1016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bg1"/>
                </a:solidFill>
              </a:rPr>
              <a:t>PROCESSING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dirty="0">
                <a:solidFill>
                  <a:schemeClr val="bg1"/>
                </a:solidFill>
              </a:rPr>
              <a:t>extract_pdf_text()</a:t>
            </a:r>
            <a:endParaRPr lang="en-US" sz="11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pypdf reads every page</a:t>
            </a:r>
            <a:endParaRPr lang="en-US" sz="1100" dirty="0"/>
          </a:p>
        </p:txBody>
      </p:sp>
      <p:sp>
        <p:nvSpPr>
          <p:cNvPr id="6" name="Output box"/>
          <p:cNvSpPr txBox="1"/>
          <p:nvPr/>
        </p:nvSpPr>
        <p:spPr>
          <a:xfrm>
            <a:off x="8531352" y="1280160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accent4">
              <a:alpha val="18000"/>
            </a:schemeClr>
          </a:solidFill>
          <a:ln w="19050">
            <a:solidFill>
              <a:schemeClr val="accent4"/>
            </a:solidFill>
          </a:ln>
        </p:spPr>
        <p:txBody>
          <a:bodyPr wrap="square" lIns="1016" tIns="2286" rIns="2286" bIns="1016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tx1"/>
                </a:solidFill>
              </a:rPr>
              <a:t>OUTPUT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dirty="0">
                <a:solidFill>
                  <a:schemeClr val="tx1"/>
                </a:solidFill>
              </a:rPr>
              <a:t>Plain text</a:t>
            </a:r>
            <a:endParaRPr lang="en-US" sz="11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One string</a:t>
            </a:r>
            <a:endParaRPr lang="en-US" sz="1100" dirty="0"/>
          </a:p>
        </p:txBody>
      </p:sp>
      <p:sp>
        <p:nvSpPr>
          <p:cNvPr id="7" name="Flow arrow"/>
          <p:cNvSpPr/>
          <p:nvPr/>
        </p:nvSpPr>
        <p:spPr>
          <a:xfrm>
            <a:off x="3730752" y="1828800"/>
            <a:ext cx="740664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Flow arrow"/>
          <p:cNvSpPr/>
          <p:nvPr/>
        </p:nvSpPr>
        <p:spPr>
          <a:xfrm>
            <a:off x="7726680" y="1828800"/>
            <a:ext cx="7315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Sub heading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Inside the processing box</a:t>
            </a:r>
            <a:endParaRPr lang="en-US" sz="1800" dirty="0"/>
          </a:p>
        </p:txBody>
      </p:sp>
      <p:sp>
        <p:nvSpPr>
          <p:cNvPr id="10" name="Process"/>
          <p:cNvSpPr txBox="1"/>
          <p:nvPr/>
        </p:nvSpPr>
        <p:spPr>
          <a:xfrm>
            <a:off x="548640" y="2994660"/>
            <a:ext cx="1852574" cy="868680"/>
          </a:xfrm>
          <a:prstGeom prst="roundRect">
            <a:avLst>
              <a:gd name="adj" fmla="val 10526"/>
            </a:avLst>
          </a:prstGeom>
          <a:solidFill>
            <a:schemeClr val="accent3">
              <a:alpha val="18000"/>
            </a:schemeClr>
          </a:solidFill>
          <a:ln w="19050">
            <a:solidFill>
              <a:schemeClr val="accent3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Open PDF with PdfReader</a:t>
            </a:r>
            <a:endParaRPr lang="en-US" sz="1400" dirty="0"/>
          </a:p>
        </p:txBody>
      </p:sp>
      <p:sp>
        <p:nvSpPr>
          <p:cNvPr id="11" name="Flow line"/>
          <p:cNvSpPr/>
          <p:nvPr/>
        </p:nvSpPr>
        <p:spPr>
          <a:xfrm>
            <a:off x="2428646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Process"/>
          <p:cNvSpPr txBox="1"/>
          <p:nvPr/>
        </p:nvSpPr>
        <p:spPr>
          <a:xfrm>
            <a:off x="2858414" y="2994660"/>
            <a:ext cx="1852574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Read the text of each page</a:t>
            </a:r>
            <a:endParaRPr lang="en-US" sz="1400" dirty="0"/>
          </a:p>
        </p:txBody>
      </p:sp>
      <p:sp>
        <p:nvSpPr>
          <p:cNvPr id="13" name="Flow line"/>
          <p:cNvSpPr/>
          <p:nvPr/>
        </p:nvSpPr>
        <p:spPr>
          <a:xfrm>
            <a:off x="4738421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4" name="Process"/>
          <p:cNvSpPr txBox="1"/>
          <p:nvPr/>
        </p:nvSpPr>
        <p:spPr>
          <a:xfrm>
            <a:off x="5168189" y="2994660"/>
            <a:ext cx="1852574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Join pages into one string</a:t>
            </a:r>
            <a:endParaRPr lang="en-US" sz="1400" dirty="0"/>
          </a:p>
        </p:txBody>
      </p:sp>
      <p:sp>
        <p:nvSpPr>
          <p:cNvPr id="15" name="Flow line"/>
          <p:cNvSpPr/>
          <p:nvPr/>
        </p:nvSpPr>
        <p:spPr>
          <a:xfrm>
            <a:off x="7048195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Decision"/>
          <p:cNvSpPr/>
          <p:nvPr/>
        </p:nvSpPr>
        <p:spPr>
          <a:xfrm>
            <a:off x="7477963" y="2880360"/>
            <a:ext cx="1852574" cy="1097280"/>
          </a:xfrm>
          <a:prstGeom prst="diamond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7" name="Decision text"/>
          <p:cNvSpPr txBox="1"/>
          <p:nvPr/>
        </p:nvSpPr>
        <p:spPr>
          <a:xfrm>
            <a:off x="7737324" y="3012034"/>
            <a:ext cx="1333854" cy="8339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Text empty?</a:t>
            </a:r>
            <a:endParaRPr lang="en-US" sz="1300" dirty="0"/>
          </a:p>
        </p:txBody>
      </p:sp>
      <p:sp>
        <p:nvSpPr>
          <p:cNvPr id="18" name="Flow line"/>
          <p:cNvSpPr/>
          <p:nvPr/>
        </p:nvSpPr>
        <p:spPr>
          <a:xfrm>
            <a:off x="9357970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Branch label"/>
          <p:cNvSpPr txBox="1"/>
          <p:nvPr/>
        </p:nvSpPr>
        <p:spPr>
          <a:xfrm>
            <a:off x="9376258" y="311810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NO</a:t>
            </a:r>
            <a:endParaRPr lang="en-US" sz="1200" dirty="0"/>
          </a:p>
        </p:txBody>
      </p:sp>
      <p:sp>
        <p:nvSpPr>
          <p:cNvPr id="20" name="Flow line"/>
          <p:cNvSpPr/>
          <p:nvPr/>
        </p:nvSpPr>
        <p:spPr>
          <a:xfrm>
            <a:off x="8404250" y="3995928"/>
            <a:ext cx="0" cy="36576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1" name="Branch label"/>
          <p:cNvSpPr txBox="1"/>
          <p:nvPr/>
        </p:nvSpPr>
        <p:spPr>
          <a:xfrm>
            <a:off x="8495690" y="39959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YES</a:t>
            </a:r>
            <a:endParaRPr lang="en-US" sz="1200" dirty="0"/>
          </a:p>
        </p:txBody>
      </p:sp>
      <p:sp>
        <p:nvSpPr>
          <p:cNvPr id="22" name="Process"/>
          <p:cNvSpPr txBox="1"/>
          <p:nvPr/>
        </p:nvSpPr>
        <p:spPr>
          <a:xfrm>
            <a:off x="7477963" y="4398264"/>
            <a:ext cx="1852574" cy="777240"/>
          </a:xfrm>
          <a:prstGeom prst="roundRect">
            <a:avLst>
              <a:gd name="adj" fmla="val 11765"/>
            </a:avLst>
          </a:prstGeom>
          <a:solidFill>
            <a:schemeClr val="accent2">
              <a:alpha val="15000"/>
            </a:schemeClr>
          </a:solidFill>
          <a:ln w="19050">
            <a:solidFill>
              <a:schemeClr val="accent2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Scanned PDF: no OCR, report error</a:t>
            </a:r>
            <a:endParaRPr lang="en-US" sz="1400" dirty="0"/>
          </a:p>
        </p:txBody>
      </p:sp>
      <p:sp>
        <p:nvSpPr>
          <p:cNvPr id="23" name="Process"/>
          <p:cNvSpPr txBox="1"/>
          <p:nvPr/>
        </p:nvSpPr>
        <p:spPr>
          <a:xfrm>
            <a:off x="9787738" y="2994660"/>
            <a:ext cx="1852574" cy="868680"/>
          </a:xfrm>
          <a:prstGeom prst="roundRect">
            <a:avLst>
              <a:gd name="adj" fmla="val 10526"/>
            </a:avLst>
          </a:prstGeom>
          <a:solidFill>
            <a:schemeClr val="accent4">
              <a:alpha val="18000"/>
            </a:schemeClr>
          </a:solidFill>
          <a:ln w="19050">
            <a:solidFill>
              <a:schemeClr val="accent4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Return plain text</a:t>
            </a:r>
            <a:endParaRPr lang="en-US" sz="1400" dirty="0"/>
          </a:p>
        </p:txBody>
      </p:sp>
      <p:sp>
        <p:nvSpPr>
          <p:cNvPr id="24" name="Code snippet"/>
          <p:cNvSpPr txBox="1"/>
          <p:nvPr/>
        </p:nvSpPr>
        <p:spPr>
          <a:xfrm>
            <a:off x="548640" y="5349240"/>
            <a:ext cx="11091672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reader = PdfReader(str(pdf_path))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text = "\n".join(page.extract_text() or "" for page in reader.pages).strip()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 not text.strip(): raise ValueError("No readable text; this may be a scanned PDF.")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6A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1" hasCustomPrompt="1"/>
          </p:nvPr>
        </p:nvSpPr>
        <p:spPr>
          <a:xfrm>
            <a:off x="548640" y="3200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4 · Extract candidate details (LLM)</a:t>
            </a:r>
            <a:endParaRPr lang="en-US" sz="3200" dirty="0"/>
          </a:p>
        </p:txBody>
      </p:sp>
      <p:sp>
        <p:nvSpPr>
          <p:cNvPr id="4" name="Input box"/>
          <p:cNvSpPr txBox="1"/>
          <p:nvPr/>
        </p:nvSpPr>
        <p:spPr>
          <a:xfrm>
            <a:off x="548640" y="1280160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accent3">
              <a:alpha val="18000"/>
            </a:schemeClr>
          </a:solidFill>
          <a:ln w="19050">
            <a:solidFill>
              <a:schemeClr val="accent3"/>
            </a:solidFill>
          </a:ln>
        </p:spPr>
        <p:txBody>
          <a:bodyPr wrap="square" lIns="1016" tIns="2286" rIns="2286" bIns="1016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tx1"/>
                </a:solidFill>
              </a:rPr>
              <a:t>INPUT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dirty="0">
                <a:solidFill>
                  <a:schemeClr val="tx1"/>
                </a:solidFill>
              </a:rPr>
              <a:t>Resume text</a:t>
            </a:r>
            <a:endParaRPr lang="en-US" sz="11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From Step 3</a:t>
            </a:r>
            <a:endParaRPr lang="en-US" sz="1100" dirty="0"/>
          </a:p>
        </p:txBody>
      </p:sp>
      <p:sp>
        <p:nvSpPr>
          <p:cNvPr id="5" name="Processing box"/>
          <p:cNvSpPr txBox="1"/>
          <p:nvPr/>
        </p:nvSpPr>
        <p:spPr>
          <a:xfrm>
            <a:off x="4544568" y="1280160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2286" rIns="2286" bIns="1016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bg1"/>
                </a:solidFill>
              </a:rPr>
              <a:t>PROCESSING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dirty="0">
                <a:solidFill>
                  <a:schemeClr val="bg1"/>
                </a:solidFill>
              </a:rPr>
              <a:t>extract_candidate_details()</a:t>
            </a:r>
            <a:endParaRPr lang="en-US" sz="11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Prompt + JSON schema to the LLM</a:t>
            </a:r>
            <a:endParaRPr lang="en-US" sz="1100" dirty="0"/>
          </a:p>
        </p:txBody>
      </p:sp>
      <p:sp>
        <p:nvSpPr>
          <p:cNvPr id="6" name="Output box"/>
          <p:cNvSpPr txBox="1"/>
          <p:nvPr/>
        </p:nvSpPr>
        <p:spPr>
          <a:xfrm>
            <a:off x="8531352" y="1280160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accent4">
              <a:alpha val="18000"/>
            </a:schemeClr>
          </a:solidFill>
          <a:ln w="19050">
            <a:solidFill>
              <a:schemeClr val="accent4"/>
            </a:solidFill>
          </a:ln>
        </p:spPr>
        <p:txBody>
          <a:bodyPr wrap="square" lIns="1016" tIns="2286" rIns="2286" bIns="1016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tx1"/>
                </a:solidFill>
              </a:rPr>
              <a:t>OUTPUT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dirty="0">
                <a:solidFill>
                  <a:schemeClr val="tx1"/>
                </a:solidFill>
              </a:rPr>
              <a:t>Candidate record</a:t>
            </a:r>
            <a:endParaRPr lang="en-US" sz="11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Name, email, phone, skills …</a:t>
            </a:r>
            <a:endParaRPr lang="en-US" sz="1100" dirty="0"/>
          </a:p>
        </p:txBody>
      </p:sp>
      <p:sp>
        <p:nvSpPr>
          <p:cNvPr id="7" name="Flow arrow"/>
          <p:cNvSpPr/>
          <p:nvPr/>
        </p:nvSpPr>
        <p:spPr>
          <a:xfrm>
            <a:off x="3730752" y="1828800"/>
            <a:ext cx="740664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Flow arrow"/>
          <p:cNvSpPr/>
          <p:nvPr/>
        </p:nvSpPr>
        <p:spPr>
          <a:xfrm>
            <a:off x="7726680" y="1828800"/>
            <a:ext cx="7315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Sub heading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Inside the processing box</a:t>
            </a:r>
            <a:endParaRPr lang="en-US" sz="1800" dirty="0"/>
          </a:p>
        </p:txBody>
      </p:sp>
      <p:sp>
        <p:nvSpPr>
          <p:cNvPr id="10" name="Process"/>
          <p:cNvSpPr txBox="1"/>
          <p:nvPr/>
        </p:nvSpPr>
        <p:spPr>
          <a:xfrm>
            <a:off x="548640" y="2994660"/>
            <a:ext cx="1852574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Build prompt: facts only, no guessing</a:t>
            </a:r>
            <a:endParaRPr lang="en-US" sz="1400" dirty="0"/>
          </a:p>
        </p:txBody>
      </p:sp>
      <p:sp>
        <p:nvSpPr>
          <p:cNvPr id="11" name="Flow line"/>
          <p:cNvSpPr/>
          <p:nvPr/>
        </p:nvSpPr>
        <p:spPr>
          <a:xfrm>
            <a:off x="2428646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Process"/>
          <p:cNvSpPr txBox="1"/>
          <p:nvPr/>
        </p:nvSpPr>
        <p:spPr>
          <a:xfrm>
            <a:off x="2858414" y="2994660"/>
            <a:ext cx="1852574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Send prompt + JSON schema to LLM</a:t>
            </a:r>
            <a:endParaRPr lang="en-US" sz="1400" dirty="0"/>
          </a:p>
        </p:txBody>
      </p:sp>
      <p:sp>
        <p:nvSpPr>
          <p:cNvPr id="13" name="Flow line"/>
          <p:cNvSpPr/>
          <p:nvPr/>
        </p:nvSpPr>
        <p:spPr>
          <a:xfrm>
            <a:off x="4738421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4" name="Decision"/>
          <p:cNvSpPr/>
          <p:nvPr/>
        </p:nvSpPr>
        <p:spPr>
          <a:xfrm>
            <a:off x="5168189" y="2880360"/>
            <a:ext cx="1852574" cy="1097280"/>
          </a:xfrm>
          <a:prstGeom prst="diamond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5" name="Decision text"/>
          <p:cNvSpPr txBox="1"/>
          <p:nvPr/>
        </p:nvSpPr>
        <p:spPr>
          <a:xfrm>
            <a:off x="5427549" y="3012034"/>
            <a:ext cx="1333854" cy="8339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Reply empty?</a:t>
            </a:r>
            <a:endParaRPr lang="en-US" sz="1300" dirty="0"/>
          </a:p>
        </p:txBody>
      </p:sp>
      <p:sp>
        <p:nvSpPr>
          <p:cNvPr id="16" name="Flow line"/>
          <p:cNvSpPr/>
          <p:nvPr/>
        </p:nvSpPr>
        <p:spPr>
          <a:xfrm>
            <a:off x="7048195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7" name="Branch label"/>
          <p:cNvSpPr txBox="1"/>
          <p:nvPr/>
        </p:nvSpPr>
        <p:spPr>
          <a:xfrm>
            <a:off x="7066483" y="311810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NO</a:t>
            </a:r>
            <a:endParaRPr lang="en-US" sz="1200" dirty="0"/>
          </a:p>
        </p:txBody>
      </p:sp>
      <p:sp>
        <p:nvSpPr>
          <p:cNvPr id="18" name="Flow line"/>
          <p:cNvSpPr/>
          <p:nvPr/>
        </p:nvSpPr>
        <p:spPr>
          <a:xfrm>
            <a:off x="6094476" y="3995928"/>
            <a:ext cx="0" cy="36576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9" name="Branch label"/>
          <p:cNvSpPr txBox="1"/>
          <p:nvPr/>
        </p:nvSpPr>
        <p:spPr>
          <a:xfrm>
            <a:off x="6185916" y="39959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YES</a:t>
            </a:r>
            <a:endParaRPr lang="en-US" sz="1200" dirty="0"/>
          </a:p>
        </p:txBody>
      </p:sp>
      <p:sp>
        <p:nvSpPr>
          <p:cNvPr id="20" name="Process"/>
          <p:cNvSpPr txBox="1"/>
          <p:nvPr/>
        </p:nvSpPr>
        <p:spPr>
          <a:xfrm>
            <a:off x="5168189" y="4398264"/>
            <a:ext cx="1852574" cy="777240"/>
          </a:xfrm>
          <a:prstGeom prst="roundRect">
            <a:avLst>
              <a:gd name="adj" fmla="val 11765"/>
            </a:avLst>
          </a:prstGeom>
          <a:solidFill>
            <a:schemeClr val="accent2">
              <a:alpha val="15000"/>
            </a:schemeClr>
          </a:solidFill>
          <a:ln w="19050">
            <a:solidFill>
              <a:schemeClr val="accent2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Raise error: empty response</a:t>
            </a:r>
            <a:endParaRPr lang="en-US" sz="1400" dirty="0"/>
          </a:p>
        </p:txBody>
      </p:sp>
      <p:sp>
        <p:nvSpPr>
          <p:cNvPr id="21" name="Process"/>
          <p:cNvSpPr txBox="1"/>
          <p:nvPr/>
        </p:nvSpPr>
        <p:spPr>
          <a:xfrm>
            <a:off x="7477963" y="2994660"/>
            <a:ext cx="1852574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Parse the JSON reply</a:t>
            </a:r>
            <a:endParaRPr lang="en-US" sz="1400" dirty="0"/>
          </a:p>
        </p:txBody>
      </p:sp>
      <p:sp>
        <p:nvSpPr>
          <p:cNvPr id="22" name="Flow line"/>
          <p:cNvSpPr/>
          <p:nvPr/>
        </p:nvSpPr>
        <p:spPr>
          <a:xfrm>
            <a:off x="9357970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Process"/>
          <p:cNvSpPr txBox="1"/>
          <p:nvPr/>
        </p:nvSpPr>
        <p:spPr>
          <a:xfrm>
            <a:off x="9787738" y="2994660"/>
            <a:ext cx="1852574" cy="868680"/>
          </a:xfrm>
          <a:prstGeom prst="roundRect">
            <a:avLst>
              <a:gd name="adj" fmla="val 10526"/>
            </a:avLst>
          </a:prstGeom>
          <a:solidFill>
            <a:schemeClr val="accent4">
              <a:alpha val="18000"/>
            </a:schemeClr>
          </a:solidFill>
          <a:ln w="19050">
            <a:solidFill>
              <a:schemeClr val="accent4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Fill blanks with “” or []</a:t>
            </a:r>
            <a:endParaRPr lang="en-US" sz="1400" dirty="0"/>
          </a:p>
        </p:txBody>
      </p:sp>
      <p:sp>
        <p:nvSpPr>
          <p:cNvPr id="24" name="Code snippet"/>
          <p:cNvSpPr txBox="1"/>
          <p:nvPr/>
        </p:nvSpPr>
        <p:spPr>
          <a:xfrm>
            <a:off x="548640" y="5349240"/>
            <a:ext cx="11091672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response = client.chat.completions.create(model=config["model"], temperature=0,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response_format={"type": "json_schema", ...}, messages=[system_msg, user_msg])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data = json.loads(response.choices[0].message.content)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6A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1" hasCustomPrompt="1"/>
          </p:nvPr>
        </p:nvSpPr>
        <p:spPr>
          <a:xfrm>
            <a:off x="548640" y="3200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5 · Score the resume against the job</a:t>
            </a:r>
            <a:endParaRPr lang="en-US" sz="3200" dirty="0"/>
          </a:p>
        </p:txBody>
      </p:sp>
      <p:sp>
        <p:nvSpPr>
          <p:cNvPr id="4" name="Input box"/>
          <p:cNvSpPr txBox="1"/>
          <p:nvPr/>
        </p:nvSpPr>
        <p:spPr>
          <a:xfrm>
            <a:off x="548640" y="1280160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accent3">
              <a:alpha val="18000"/>
            </a:schemeClr>
          </a:solidFill>
          <a:ln w="19050">
            <a:solidFill>
              <a:schemeClr val="accent3"/>
            </a:solidFill>
          </a:ln>
        </p:spPr>
        <p:txBody>
          <a:bodyPr wrap="square" lIns="1016" tIns="2286" rIns="2286" bIns="1016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tx1"/>
                </a:solidFill>
              </a:rPr>
              <a:t>INPUT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dirty="0">
                <a:solidFill>
                  <a:schemeClr val="tx1"/>
                </a:solidFill>
              </a:rPr>
              <a:t>Resume text + job text</a:t>
            </a:r>
            <a:endParaRPr lang="en-US" sz="11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Both from Step 3</a:t>
            </a:r>
            <a:endParaRPr lang="en-US" sz="1100" dirty="0"/>
          </a:p>
        </p:txBody>
      </p:sp>
      <p:sp>
        <p:nvSpPr>
          <p:cNvPr id="5" name="Processing box"/>
          <p:cNvSpPr txBox="1"/>
          <p:nvPr/>
        </p:nvSpPr>
        <p:spPr>
          <a:xfrm>
            <a:off x="4544568" y="1280160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2286" rIns="2286" bIns="1016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bg1"/>
                </a:solidFill>
              </a:rPr>
              <a:t>PROCESSING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dirty="0">
                <a:solidFill>
                  <a:schemeClr val="bg1"/>
                </a:solidFill>
              </a:rPr>
              <a:t>score_candidate()</a:t>
            </a:r>
            <a:endParaRPr lang="en-US" sz="11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LLM applies the rubric</a:t>
            </a:r>
            <a:endParaRPr lang="en-US" sz="1100" dirty="0"/>
          </a:p>
        </p:txBody>
      </p:sp>
      <p:sp>
        <p:nvSpPr>
          <p:cNvPr id="6" name="Output box"/>
          <p:cNvSpPr txBox="1"/>
          <p:nvPr/>
        </p:nvSpPr>
        <p:spPr>
          <a:xfrm>
            <a:off x="8531352" y="1280160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accent4">
              <a:alpha val="18000"/>
            </a:schemeClr>
          </a:solidFill>
          <a:ln w="19050">
            <a:solidFill>
              <a:schemeClr val="accent4"/>
            </a:solidFill>
          </a:ln>
        </p:spPr>
        <p:txBody>
          <a:bodyPr wrap="square" lIns="1016" tIns="2286" rIns="2286" bIns="1016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tx1"/>
                </a:solidFill>
              </a:rPr>
              <a:t>OUTPUT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dirty="0">
                <a:solidFill>
                  <a:schemeClr val="tx1"/>
                </a:solidFill>
              </a:rPr>
              <a:t>Score breakdown</a:t>
            </a:r>
            <a:endParaRPr lang="en-US" sz="11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Four scores + total</a:t>
            </a:r>
            <a:endParaRPr lang="en-US" sz="1100" dirty="0"/>
          </a:p>
        </p:txBody>
      </p:sp>
      <p:sp>
        <p:nvSpPr>
          <p:cNvPr id="7" name="Flow arrow"/>
          <p:cNvSpPr/>
          <p:nvPr/>
        </p:nvSpPr>
        <p:spPr>
          <a:xfrm>
            <a:off x="3730752" y="1828800"/>
            <a:ext cx="740664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Flow arrow"/>
          <p:cNvSpPr/>
          <p:nvPr/>
        </p:nvSpPr>
        <p:spPr>
          <a:xfrm>
            <a:off x="7726680" y="1828800"/>
            <a:ext cx="7315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Sub heading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Inside the processing box</a:t>
            </a:r>
            <a:endParaRPr lang="en-US" sz="1800" dirty="0"/>
          </a:p>
        </p:txBody>
      </p:sp>
      <p:sp>
        <p:nvSpPr>
          <p:cNvPr id="10" name="Process"/>
          <p:cNvSpPr txBox="1"/>
          <p:nvPr/>
        </p:nvSpPr>
        <p:spPr>
          <a:xfrm>
            <a:off x="548640" y="2994660"/>
            <a:ext cx="1852574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Build prompt: job + resume + rubric</a:t>
            </a:r>
            <a:endParaRPr lang="en-US" sz="1400" dirty="0"/>
          </a:p>
        </p:txBody>
      </p:sp>
      <p:sp>
        <p:nvSpPr>
          <p:cNvPr id="11" name="Flow line"/>
          <p:cNvSpPr/>
          <p:nvPr/>
        </p:nvSpPr>
        <p:spPr>
          <a:xfrm>
            <a:off x="2428646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Process"/>
          <p:cNvSpPr txBox="1"/>
          <p:nvPr/>
        </p:nvSpPr>
        <p:spPr>
          <a:xfrm>
            <a:off x="2858414" y="2994660"/>
            <a:ext cx="1852574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LLM scores the 4 categories</a:t>
            </a:r>
            <a:endParaRPr lang="en-US" sz="1400" dirty="0"/>
          </a:p>
        </p:txBody>
      </p:sp>
      <p:sp>
        <p:nvSpPr>
          <p:cNvPr id="13" name="Flow line"/>
          <p:cNvSpPr/>
          <p:nvPr/>
        </p:nvSpPr>
        <p:spPr>
          <a:xfrm>
            <a:off x="4738421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4" name="Decision"/>
          <p:cNvSpPr/>
          <p:nvPr/>
        </p:nvSpPr>
        <p:spPr>
          <a:xfrm>
            <a:off x="5168189" y="2880360"/>
            <a:ext cx="1852574" cy="1097280"/>
          </a:xfrm>
          <a:prstGeom prst="diamond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5" name="Decision text"/>
          <p:cNvSpPr txBox="1"/>
          <p:nvPr/>
        </p:nvSpPr>
        <p:spPr>
          <a:xfrm>
            <a:off x="5427549" y="3012034"/>
            <a:ext cx="1333854" cy="83393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Reply empty?</a:t>
            </a:r>
            <a:endParaRPr lang="en-US" sz="1300" dirty="0"/>
          </a:p>
        </p:txBody>
      </p:sp>
      <p:sp>
        <p:nvSpPr>
          <p:cNvPr id="16" name="Flow line"/>
          <p:cNvSpPr/>
          <p:nvPr/>
        </p:nvSpPr>
        <p:spPr>
          <a:xfrm>
            <a:off x="7048195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7" name="Branch label"/>
          <p:cNvSpPr txBox="1"/>
          <p:nvPr/>
        </p:nvSpPr>
        <p:spPr>
          <a:xfrm>
            <a:off x="7066483" y="3118104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NO</a:t>
            </a:r>
            <a:endParaRPr lang="en-US" sz="1200" dirty="0"/>
          </a:p>
        </p:txBody>
      </p:sp>
      <p:sp>
        <p:nvSpPr>
          <p:cNvPr id="18" name="Flow line"/>
          <p:cNvSpPr/>
          <p:nvPr/>
        </p:nvSpPr>
        <p:spPr>
          <a:xfrm>
            <a:off x="6094476" y="3995928"/>
            <a:ext cx="0" cy="36576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9" name="Branch label"/>
          <p:cNvSpPr txBox="1"/>
          <p:nvPr/>
        </p:nvSpPr>
        <p:spPr>
          <a:xfrm>
            <a:off x="6185916" y="3995928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YES</a:t>
            </a:r>
            <a:endParaRPr lang="en-US" sz="1200" dirty="0"/>
          </a:p>
        </p:txBody>
      </p:sp>
      <p:sp>
        <p:nvSpPr>
          <p:cNvPr id="20" name="Process"/>
          <p:cNvSpPr txBox="1"/>
          <p:nvPr/>
        </p:nvSpPr>
        <p:spPr>
          <a:xfrm>
            <a:off x="5168189" y="4398264"/>
            <a:ext cx="1852574" cy="777240"/>
          </a:xfrm>
          <a:prstGeom prst="roundRect">
            <a:avLst>
              <a:gd name="adj" fmla="val 11765"/>
            </a:avLst>
          </a:prstGeom>
          <a:solidFill>
            <a:schemeClr val="accent2">
              <a:alpha val="15000"/>
            </a:schemeClr>
          </a:solidFill>
          <a:ln w="19050">
            <a:solidFill>
              <a:schemeClr val="accent2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Raise error: empty response</a:t>
            </a:r>
            <a:endParaRPr lang="en-US" sz="1400" dirty="0"/>
          </a:p>
        </p:txBody>
      </p:sp>
      <p:sp>
        <p:nvSpPr>
          <p:cNvPr id="21" name="Process"/>
          <p:cNvSpPr txBox="1"/>
          <p:nvPr/>
        </p:nvSpPr>
        <p:spPr>
          <a:xfrm>
            <a:off x="7477963" y="2994660"/>
            <a:ext cx="1852574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Parse scores + evidence</a:t>
            </a:r>
            <a:endParaRPr lang="en-US" sz="1400" dirty="0"/>
          </a:p>
        </p:txBody>
      </p:sp>
      <p:sp>
        <p:nvSpPr>
          <p:cNvPr id="22" name="Flow line"/>
          <p:cNvSpPr/>
          <p:nvPr/>
        </p:nvSpPr>
        <p:spPr>
          <a:xfrm>
            <a:off x="9357970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Process"/>
          <p:cNvSpPr txBox="1"/>
          <p:nvPr/>
        </p:nvSpPr>
        <p:spPr>
          <a:xfrm>
            <a:off x="9787738" y="2994660"/>
            <a:ext cx="1852574" cy="868680"/>
          </a:xfrm>
          <a:prstGeom prst="roundRect">
            <a:avLst>
              <a:gd name="adj" fmla="val 10526"/>
            </a:avLst>
          </a:prstGeom>
          <a:solidFill>
            <a:schemeClr val="accent4">
              <a:alpha val="18000"/>
            </a:schemeClr>
          </a:solidFill>
          <a:ln w="19050">
            <a:solidFill>
              <a:schemeClr val="accent4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Python adds the total</a:t>
            </a:r>
            <a:endParaRPr lang="en-US" sz="1400" dirty="0"/>
          </a:p>
        </p:txBody>
      </p:sp>
      <p:sp>
        <p:nvSpPr>
          <p:cNvPr id="24" name="Code snippet"/>
          <p:cNvSpPr txBox="1"/>
          <p:nvPr/>
        </p:nvSpPr>
        <p:spPr>
          <a:xfrm>
            <a:off x="548640" y="5349240"/>
            <a:ext cx="11091672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result = ask_llm(client, config, system_msg, prompt, SCORE_SCHEMA)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result["total"] = (result["skills"] + result["experience"]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         + result["education"] + result["other"])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6A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1" hasCustomPrompt="1"/>
          </p:nvPr>
        </p:nvSpPr>
        <p:spPr>
          <a:xfrm>
            <a:off x="548640" y="3200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5 · The 100-point scoring rubric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51206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Points badge"/>
          <p:cNvSpPr/>
          <p:nvPr/>
        </p:nvSpPr>
        <p:spPr>
          <a:xfrm>
            <a:off x="6126480" y="1554480"/>
            <a:ext cx="822960" cy="822960"/>
          </a:xfrm>
          <a:prstGeom prst="ellipse">
            <a:avLst/>
          </a:prstGeom>
          <a:solidFill>
            <a:srgbClr val="5B44C8"/>
          </a:solidFill>
          <a:ln w="12700">
            <a:solidFill>
              <a:srgbClr val="5B44C8"/>
            </a:solidFill>
            <a:prstDash val="solid"/>
          </a:ln>
        </p:spPr>
      </p:sp>
      <p:sp>
        <p:nvSpPr>
          <p:cNvPr id="6" name="Points"/>
          <p:cNvSpPr txBox="1"/>
          <p:nvPr/>
        </p:nvSpPr>
        <p:spPr>
          <a:xfrm>
            <a:off x="6126480" y="155448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40</a:t>
            </a:r>
            <a:endParaRPr lang="en-US" sz="2200" dirty="0"/>
          </a:p>
        </p:txBody>
      </p:sp>
      <p:sp>
        <p:nvSpPr>
          <p:cNvPr id="7" name="Rubric text"/>
          <p:cNvSpPr txBox="1"/>
          <p:nvPr/>
        </p:nvSpPr>
        <p:spPr>
          <a:xfrm>
            <a:off x="7178040" y="1463040"/>
            <a:ext cx="44805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Relevant skills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Python, ML algorithms, TensorFlow / PyTorch, NLP</a:t>
            </a:r>
            <a:endParaRPr lang="en-US" sz="1800" dirty="0"/>
          </a:p>
        </p:txBody>
      </p:sp>
      <p:sp>
        <p:nvSpPr>
          <p:cNvPr id="8" name="Points badge"/>
          <p:cNvSpPr/>
          <p:nvPr/>
        </p:nvSpPr>
        <p:spPr>
          <a:xfrm>
            <a:off x="6126480" y="2724912"/>
            <a:ext cx="822960" cy="822960"/>
          </a:xfrm>
          <a:prstGeom prst="ellipse">
            <a:avLst/>
          </a:prstGeom>
          <a:solidFill>
            <a:srgbClr val="E8559A"/>
          </a:solidFill>
          <a:ln w="12700">
            <a:solidFill>
              <a:srgbClr val="E8559A"/>
            </a:solidFill>
            <a:prstDash val="solid"/>
          </a:ln>
        </p:spPr>
      </p:sp>
      <p:sp>
        <p:nvSpPr>
          <p:cNvPr id="9" name="Points"/>
          <p:cNvSpPr txBox="1"/>
          <p:nvPr/>
        </p:nvSpPr>
        <p:spPr>
          <a:xfrm>
            <a:off x="6126480" y="2724912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30</a:t>
            </a:r>
            <a:endParaRPr lang="en-US" sz="2200" dirty="0"/>
          </a:p>
        </p:txBody>
      </p:sp>
      <p:sp>
        <p:nvSpPr>
          <p:cNvPr id="10" name="Rubric text"/>
          <p:cNvSpPr txBox="1"/>
          <p:nvPr/>
        </p:nvSpPr>
        <p:spPr>
          <a:xfrm>
            <a:off x="7178040" y="2633472"/>
            <a:ext cx="44805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Relevant experience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Projects and work that match the role</a:t>
            </a:r>
            <a:endParaRPr lang="en-US" sz="1800" dirty="0"/>
          </a:p>
        </p:txBody>
      </p:sp>
      <p:sp>
        <p:nvSpPr>
          <p:cNvPr id="11" name="Points badge"/>
          <p:cNvSpPr/>
          <p:nvPr/>
        </p:nvSpPr>
        <p:spPr>
          <a:xfrm>
            <a:off x="6126480" y="3895344"/>
            <a:ext cx="822960" cy="82296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Points"/>
          <p:cNvSpPr txBox="1"/>
          <p:nvPr/>
        </p:nvSpPr>
        <p:spPr>
          <a:xfrm>
            <a:off x="6126480" y="3895344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20</a:t>
            </a:r>
            <a:endParaRPr lang="en-US" sz="2200" dirty="0"/>
          </a:p>
        </p:txBody>
      </p:sp>
      <p:sp>
        <p:nvSpPr>
          <p:cNvPr id="13" name="Rubric text"/>
          <p:cNvSpPr txBox="1"/>
          <p:nvPr/>
        </p:nvSpPr>
        <p:spPr>
          <a:xfrm>
            <a:off x="7178040" y="3803904"/>
            <a:ext cx="44805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Education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Degrees and qualifications</a:t>
            </a:r>
            <a:endParaRPr lang="en-US" sz="1800" dirty="0"/>
          </a:p>
        </p:txBody>
      </p:sp>
      <p:sp>
        <p:nvSpPr>
          <p:cNvPr id="14" name="Points badge"/>
          <p:cNvSpPr/>
          <p:nvPr/>
        </p:nvSpPr>
        <p:spPr>
          <a:xfrm>
            <a:off x="6126480" y="5065776"/>
            <a:ext cx="822960" cy="822960"/>
          </a:xfrm>
          <a:prstGeom prst="ellipse">
            <a:avLst/>
          </a:prstGeom>
          <a:solidFill>
            <a:srgbClr val="2DBE8C"/>
          </a:solidFill>
          <a:ln w="12700">
            <a:solidFill>
              <a:srgbClr val="2DBE8C"/>
            </a:solidFill>
            <a:prstDash val="solid"/>
          </a:ln>
        </p:spPr>
      </p:sp>
      <p:sp>
        <p:nvSpPr>
          <p:cNvPr id="15" name="Points"/>
          <p:cNvSpPr txBox="1"/>
          <p:nvPr/>
        </p:nvSpPr>
        <p:spPr>
          <a:xfrm>
            <a:off x="6126480" y="5065776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10</a:t>
            </a:r>
            <a:endParaRPr lang="en-US" sz="2200" dirty="0"/>
          </a:p>
        </p:txBody>
      </p:sp>
      <p:sp>
        <p:nvSpPr>
          <p:cNvPr id="16" name="Rubric text"/>
          <p:cNvSpPr txBox="1"/>
          <p:nvPr/>
        </p:nvSpPr>
        <p:spPr>
          <a:xfrm>
            <a:off x="7178040" y="4974336"/>
            <a:ext cx="44805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Other requirements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Anything else the job explicitly asks for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6A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1" hasCustomPrompt="1"/>
          </p:nvPr>
        </p:nvSpPr>
        <p:spPr>
          <a:xfrm>
            <a:off x="548640" y="3200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6 · Rank the candidates (ranking.py)</a:t>
            </a:r>
            <a:endParaRPr lang="en-US" sz="3200" dirty="0"/>
          </a:p>
        </p:txBody>
      </p:sp>
      <p:sp>
        <p:nvSpPr>
          <p:cNvPr id="4" name="Input box"/>
          <p:cNvSpPr txBox="1"/>
          <p:nvPr/>
        </p:nvSpPr>
        <p:spPr>
          <a:xfrm>
            <a:off x="548640" y="1280160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accent3">
              <a:alpha val="18000"/>
            </a:schemeClr>
          </a:solidFill>
          <a:ln w="19050">
            <a:solidFill>
              <a:schemeClr val="accent3"/>
            </a:solidFill>
          </a:ln>
        </p:spPr>
        <p:txBody>
          <a:bodyPr wrap="square" lIns="1016" tIns="2286" rIns="2286" bIns="1016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tx1"/>
                </a:solidFill>
              </a:rPr>
              <a:t>INPUT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dirty="0">
                <a:solidFill>
                  <a:schemeClr val="tx1"/>
                </a:solidFill>
              </a:rPr>
              <a:t>List of candidates</a:t>
            </a:r>
            <a:endParaRPr lang="en-US" sz="11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Each with a total score</a:t>
            </a:r>
            <a:endParaRPr lang="en-US" sz="1100" dirty="0"/>
          </a:p>
        </p:txBody>
      </p:sp>
      <p:sp>
        <p:nvSpPr>
          <p:cNvPr id="5" name="Processing box"/>
          <p:cNvSpPr txBox="1"/>
          <p:nvPr/>
        </p:nvSpPr>
        <p:spPr>
          <a:xfrm>
            <a:off x="4544568" y="1280160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2286" rIns="2286" bIns="1016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bg1"/>
                </a:solidFill>
              </a:rPr>
              <a:t>PROCESSING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dirty="0">
                <a:solidFill>
                  <a:schemeClr val="bg1"/>
                </a:solidFill>
              </a:rPr>
              <a:t>rank_candidates()</a:t>
            </a:r>
            <a:endParaRPr lang="en-US" sz="11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Sort, then number them</a:t>
            </a:r>
            <a:endParaRPr lang="en-US" sz="1100" dirty="0"/>
          </a:p>
        </p:txBody>
      </p:sp>
      <p:sp>
        <p:nvSpPr>
          <p:cNvPr id="6" name="Output box"/>
          <p:cNvSpPr txBox="1"/>
          <p:nvPr/>
        </p:nvSpPr>
        <p:spPr>
          <a:xfrm>
            <a:off x="8531352" y="1280160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accent4">
              <a:alpha val="18000"/>
            </a:schemeClr>
          </a:solidFill>
          <a:ln w="19050">
            <a:solidFill>
              <a:schemeClr val="accent4"/>
            </a:solidFill>
          </a:ln>
        </p:spPr>
        <p:txBody>
          <a:bodyPr wrap="square" lIns="1016" tIns="2286" rIns="2286" bIns="1016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tx1"/>
                </a:solidFill>
              </a:rPr>
              <a:t>OUTPUT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dirty="0">
                <a:solidFill>
                  <a:schemeClr val="tx1"/>
                </a:solidFill>
              </a:rPr>
              <a:t>Ranked list</a:t>
            </a:r>
            <a:endParaRPr lang="en-US" sz="11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Match Score + Ranking added</a:t>
            </a:r>
            <a:endParaRPr lang="en-US" sz="1100" dirty="0"/>
          </a:p>
        </p:txBody>
      </p:sp>
      <p:sp>
        <p:nvSpPr>
          <p:cNvPr id="7" name="Flow arrow"/>
          <p:cNvSpPr/>
          <p:nvPr/>
        </p:nvSpPr>
        <p:spPr>
          <a:xfrm>
            <a:off x="3730752" y="1828800"/>
            <a:ext cx="740664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Flow arrow"/>
          <p:cNvSpPr/>
          <p:nvPr/>
        </p:nvSpPr>
        <p:spPr>
          <a:xfrm>
            <a:off x="7726680" y="1828800"/>
            <a:ext cx="7315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Sub heading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Inside the processing box</a:t>
            </a:r>
            <a:endParaRPr lang="en-US" sz="1800" dirty="0"/>
          </a:p>
        </p:txBody>
      </p:sp>
      <p:sp>
        <p:nvSpPr>
          <p:cNvPr id="10" name="Process"/>
          <p:cNvSpPr txBox="1"/>
          <p:nvPr/>
        </p:nvSpPr>
        <p:spPr>
          <a:xfrm>
            <a:off x="548640" y="2994660"/>
            <a:ext cx="1852574" cy="868680"/>
          </a:xfrm>
          <a:prstGeom prst="roundRect">
            <a:avLst>
              <a:gd name="adj" fmla="val 10526"/>
            </a:avLst>
          </a:prstGeom>
          <a:solidFill>
            <a:schemeClr val="accent3">
              <a:alpha val="18000"/>
            </a:schemeClr>
          </a:solidFill>
          <a:ln w="19050">
            <a:solidFill>
              <a:schemeClr val="accent3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Candidates with scores</a:t>
            </a:r>
            <a:endParaRPr lang="en-US" sz="1400" dirty="0"/>
          </a:p>
        </p:txBody>
      </p:sp>
      <p:sp>
        <p:nvSpPr>
          <p:cNvPr id="11" name="Flow line"/>
          <p:cNvSpPr/>
          <p:nvPr/>
        </p:nvSpPr>
        <p:spPr>
          <a:xfrm>
            <a:off x="2428646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Process"/>
          <p:cNvSpPr txBox="1"/>
          <p:nvPr/>
        </p:nvSpPr>
        <p:spPr>
          <a:xfrm>
            <a:off x="2858414" y="2994660"/>
            <a:ext cx="1852574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Sort by score, high to low</a:t>
            </a:r>
            <a:endParaRPr lang="en-US" sz="1400" dirty="0"/>
          </a:p>
        </p:txBody>
      </p:sp>
      <p:sp>
        <p:nvSpPr>
          <p:cNvPr id="13" name="Flow line"/>
          <p:cNvSpPr/>
          <p:nvPr/>
        </p:nvSpPr>
        <p:spPr>
          <a:xfrm>
            <a:off x="4738421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4" name="Process"/>
          <p:cNvSpPr txBox="1"/>
          <p:nvPr/>
        </p:nvSpPr>
        <p:spPr>
          <a:xfrm>
            <a:off x="5168189" y="2994660"/>
            <a:ext cx="1852574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Same score? Sort by name A to Z</a:t>
            </a:r>
            <a:endParaRPr lang="en-US" sz="1400" dirty="0"/>
          </a:p>
        </p:txBody>
      </p:sp>
      <p:sp>
        <p:nvSpPr>
          <p:cNvPr id="15" name="Flow line"/>
          <p:cNvSpPr/>
          <p:nvPr/>
        </p:nvSpPr>
        <p:spPr>
          <a:xfrm>
            <a:off x="7048195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Process"/>
          <p:cNvSpPr txBox="1"/>
          <p:nvPr/>
        </p:nvSpPr>
        <p:spPr>
          <a:xfrm>
            <a:off x="7477963" y="2994660"/>
            <a:ext cx="1852574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Still tied? Sort by filename</a:t>
            </a:r>
            <a:endParaRPr lang="en-US" sz="1400" dirty="0"/>
          </a:p>
        </p:txBody>
      </p:sp>
      <p:sp>
        <p:nvSpPr>
          <p:cNvPr id="17" name="Flow line"/>
          <p:cNvSpPr/>
          <p:nvPr/>
        </p:nvSpPr>
        <p:spPr>
          <a:xfrm>
            <a:off x="9357970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Process"/>
          <p:cNvSpPr txBox="1"/>
          <p:nvPr/>
        </p:nvSpPr>
        <p:spPr>
          <a:xfrm>
            <a:off x="9787738" y="2994660"/>
            <a:ext cx="1852574" cy="868680"/>
          </a:xfrm>
          <a:prstGeom prst="roundRect">
            <a:avLst>
              <a:gd name="adj" fmla="val 10526"/>
            </a:avLst>
          </a:prstGeom>
          <a:solidFill>
            <a:schemeClr val="accent4">
              <a:alpha val="18000"/>
            </a:schemeClr>
          </a:solidFill>
          <a:ln w="19050">
            <a:solidFill>
              <a:schemeClr val="accent4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Number them 1, 2, 3 …</a:t>
            </a:r>
            <a:endParaRPr lang="en-US" sz="1400" dirty="0"/>
          </a:p>
        </p:txBody>
      </p:sp>
      <p:sp>
        <p:nvSpPr>
          <p:cNvPr id="19" name="Code snippet"/>
          <p:cNvSpPr txBox="1"/>
          <p:nvPr/>
        </p:nvSpPr>
        <p:spPr>
          <a:xfrm>
            <a:off x="548640" y="5349240"/>
            <a:ext cx="11091672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candidates.sort(key=lambda c: (-c["Score Breakdown"]["total"],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c["Name"].casefold(), c["Source Filename"].casefold()))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for rank, c in enumerate(candidates, start=1): c["Ranking"] = rank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6A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1" hasCustomPrompt="1"/>
          </p:nvPr>
        </p:nvSpPr>
        <p:spPr>
          <a:xfrm>
            <a:off x="548640" y="3200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Step 7 · Save the results as CSV (utils.py)</a:t>
            </a:r>
            <a:endParaRPr lang="en-US" sz="3200" dirty="0"/>
          </a:p>
        </p:txBody>
      </p:sp>
      <p:sp>
        <p:nvSpPr>
          <p:cNvPr id="4" name="Input box"/>
          <p:cNvSpPr txBox="1"/>
          <p:nvPr/>
        </p:nvSpPr>
        <p:spPr>
          <a:xfrm>
            <a:off x="548640" y="1280160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accent3">
              <a:alpha val="18000"/>
            </a:schemeClr>
          </a:solidFill>
          <a:ln w="19050">
            <a:solidFill>
              <a:schemeClr val="accent3"/>
            </a:solidFill>
          </a:ln>
        </p:spPr>
        <p:txBody>
          <a:bodyPr wrap="square" lIns="1016" tIns="2286" rIns="2286" bIns="1016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tx1"/>
                </a:solidFill>
              </a:rPr>
              <a:t>INPUT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dirty="0">
                <a:solidFill>
                  <a:schemeClr val="tx1"/>
                </a:solidFill>
              </a:rPr>
              <a:t>Ranked candidates + errors</a:t>
            </a:r>
            <a:endParaRPr lang="en-US" sz="11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From Step 6 and the loop</a:t>
            </a:r>
            <a:endParaRPr lang="en-US" sz="1100" dirty="0"/>
          </a:p>
        </p:txBody>
      </p:sp>
      <p:sp>
        <p:nvSpPr>
          <p:cNvPr id="5" name="Processing box"/>
          <p:cNvSpPr txBox="1"/>
          <p:nvPr/>
        </p:nvSpPr>
        <p:spPr>
          <a:xfrm>
            <a:off x="4544568" y="1280160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2286" rIns="2286" bIns="1016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bg1"/>
                </a:solidFill>
              </a:rPr>
              <a:t>PROCESSING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dirty="0">
                <a:solidFill>
                  <a:schemeClr val="bg1"/>
                </a:solidFill>
              </a:rPr>
              <a:t>save_results()</a:t>
            </a:r>
            <a:endParaRPr lang="en-US" sz="11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Format rows and write files</a:t>
            </a:r>
            <a:endParaRPr lang="en-US" sz="1100" dirty="0"/>
          </a:p>
        </p:txBody>
      </p:sp>
      <p:sp>
        <p:nvSpPr>
          <p:cNvPr id="6" name="Output box"/>
          <p:cNvSpPr txBox="1"/>
          <p:nvPr/>
        </p:nvSpPr>
        <p:spPr>
          <a:xfrm>
            <a:off x="8531352" y="1280160"/>
            <a:ext cx="3108960" cy="1097280"/>
          </a:xfrm>
          <a:prstGeom prst="roundRect">
            <a:avLst>
              <a:gd name="adj" fmla="val 10000"/>
            </a:avLst>
          </a:prstGeom>
          <a:solidFill>
            <a:schemeClr val="accent4">
              <a:alpha val="18000"/>
            </a:schemeClr>
          </a:solidFill>
          <a:ln w="19050">
            <a:solidFill>
              <a:schemeClr val="accent4"/>
            </a:solidFill>
          </a:ln>
        </p:spPr>
        <p:txBody>
          <a:bodyPr wrap="square" lIns="1016" tIns="2286" rIns="2286" bIns="1016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tx1"/>
                </a:solidFill>
              </a:rPr>
              <a:t>OUTPUT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dirty="0">
                <a:solidFill>
                  <a:schemeClr val="tx1"/>
                </a:solidFill>
              </a:rPr>
              <a:t>Two CSV files</a:t>
            </a:r>
            <a:endParaRPr lang="en-US" sz="11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Results and errors</a:t>
            </a:r>
            <a:endParaRPr lang="en-US" sz="1100" dirty="0"/>
          </a:p>
        </p:txBody>
      </p:sp>
      <p:sp>
        <p:nvSpPr>
          <p:cNvPr id="7" name="Flow arrow"/>
          <p:cNvSpPr/>
          <p:nvPr/>
        </p:nvSpPr>
        <p:spPr>
          <a:xfrm>
            <a:off x="3730752" y="1828800"/>
            <a:ext cx="740664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Flow arrow"/>
          <p:cNvSpPr/>
          <p:nvPr/>
        </p:nvSpPr>
        <p:spPr>
          <a:xfrm>
            <a:off x="7726680" y="1828800"/>
            <a:ext cx="731520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Sub heading"/>
          <p:cNvSpPr txBox="1"/>
          <p:nvPr/>
        </p:nvSpPr>
        <p:spPr>
          <a:xfrm>
            <a:off x="548640" y="25146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Inside the processing box</a:t>
            </a:r>
            <a:endParaRPr lang="en-US" sz="1800" dirty="0"/>
          </a:p>
        </p:txBody>
      </p:sp>
      <p:sp>
        <p:nvSpPr>
          <p:cNvPr id="10" name="Process"/>
          <p:cNvSpPr txBox="1"/>
          <p:nvPr/>
        </p:nvSpPr>
        <p:spPr>
          <a:xfrm>
            <a:off x="548640" y="2994660"/>
            <a:ext cx="1852574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Write the header row</a:t>
            </a:r>
            <a:endParaRPr lang="en-US" sz="1400" dirty="0"/>
          </a:p>
        </p:txBody>
      </p:sp>
      <p:sp>
        <p:nvSpPr>
          <p:cNvPr id="11" name="Flow line"/>
          <p:cNvSpPr/>
          <p:nvPr/>
        </p:nvSpPr>
        <p:spPr>
          <a:xfrm>
            <a:off x="2428646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2" name="Process"/>
          <p:cNvSpPr txBox="1"/>
          <p:nvPr/>
        </p:nvSpPr>
        <p:spPr>
          <a:xfrm>
            <a:off x="2858414" y="2994660"/>
            <a:ext cx="1852574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Join each list with “;”</a:t>
            </a:r>
            <a:endParaRPr lang="en-US" sz="1400" dirty="0"/>
          </a:p>
        </p:txBody>
      </p:sp>
      <p:sp>
        <p:nvSpPr>
          <p:cNvPr id="13" name="Flow line"/>
          <p:cNvSpPr/>
          <p:nvPr/>
        </p:nvSpPr>
        <p:spPr>
          <a:xfrm>
            <a:off x="4738421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4" name="Process"/>
          <p:cNvSpPr txBox="1"/>
          <p:nvPr/>
        </p:nvSpPr>
        <p:spPr>
          <a:xfrm>
            <a:off x="5168189" y="2994660"/>
            <a:ext cx="1852574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Put ' before phone numbers (Excel)</a:t>
            </a:r>
            <a:endParaRPr lang="en-US" sz="1400" dirty="0"/>
          </a:p>
        </p:txBody>
      </p:sp>
      <p:sp>
        <p:nvSpPr>
          <p:cNvPr id="15" name="Flow line"/>
          <p:cNvSpPr/>
          <p:nvPr/>
        </p:nvSpPr>
        <p:spPr>
          <a:xfrm>
            <a:off x="7048195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6" name="Process"/>
          <p:cNvSpPr txBox="1"/>
          <p:nvPr/>
        </p:nvSpPr>
        <p:spPr>
          <a:xfrm>
            <a:off x="7477963" y="2994660"/>
            <a:ext cx="1852574" cy="868680"/>
          </a:xfrm>
          <a:prstGeom prst="roundRect">
            <a:avLst>
              <a:gd name="adj" fmla="val 10526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Write one row per candidate</a:t>
            </a:r>
            <a:endParaRPr lang="en-US" sz="1400" dirty="0"/>
          </a:p>
        </p:txBody>
      </p:sp>
      <p:sp>
        <p:nvSpPr>
          <p:cNvPr id="17" name="Flow line"/>
          <p:cNvSpPr/>
          <p:nvPr/>
        </p:nvSpPr>
        <p:spPr>
          <a:xfrm>
            <a:off x="9357970" y="3429000"/>
            <a:ext cx="40233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Process"/>
          <p:cNvSpPr txBox="1"/>
          <p:nvPr/>
        </p:nvSpPr>
        <p:spPr>
          <a:xfrm>
            <a:off x="9787738" y="2994660"/>
            <a:ext cx="1852574" cy="868680"/>
          </a:xfrm>
          <a:prstGeom prst="roundRect">
            <a:avLst>
              <a:gd name="adj" fmla="val 10526"/>
            </a:avLst>
          </a:prstGeom>
          <a:solidFill>
            <a:schemeClr val="accent4">
              <a:alpha val="18000"/>
            </a:schemeClr>
          </a:solidFill>
          <a:ln w="19050">
            <a:solidFill>
              <a:schemeClr val="accent4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Write errors CSV (Filename, Reason)</a:t>
            </a:r>
            <a:endParaRPr lang="en-US" sz="1400" dirty="0"/>
          </a:p>
        </p:txBody>
      </p:sp>
      <p:sp>
        <p:nvSpPr>
          <p:cNvPr id="19" name="Code snippet"/>
          <p:cNvSpPr txBox="1"/>
          <p:nvPr/>
        </p:nvSpPr>
        <p:spPr>
          <a:xfrm>
            <a:off x="548640" y="5349240"/>
            <a:ext cx="11091672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writer = csv.DictWriter(file, fieldnames=COLUMNS); writer.writeheader()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row = {c: csv_value(candidate.get(c, "")) for c in COLUMNS}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if row["Phone"]: row["Phone"] = "'" + row["Phone"]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6A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1" hasCustomPrompt="1"/>
          </p:nvPr>
        </p:nvSpPr>
        <p:spPr>
          <a:xfrm>
            <a:off x="548640" y="3200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if one resume fails?</a:t>
            </a:r>
            <a:endParaRPr lang="en-US" sz="3200" dirty="0"/>
          </a:p>
        </p:txBody>
      </p:sp>
      <p:sp>
        <p:nvSpPr>
          <p:cNvPr id="4" name="Loop start"/>
          <p:cNvSpPr txBox="1"/>
          <p:nvPr/>
        </p:nvSpPr>
        <p:spPr>
          <a:xfrm>
            <a:off x="548640" y="1554480"/>
            <a:ext cx="2377440" cy="1371600"/>
          </a:xfrm>
          <a:prstGeom prst="roundRect">
            <a:avLst>
              <a:gd name="adj" fmla="val 8000"/>
            </a:avLst>
          </a:prstGeom>
          <a:solidFill>
            <a:schemeClr val="accent3">
              <a:alpha val="18000"/>
            </a:schemeClr>
          </a:solidFill>
          <a:ln w="19050">
            <a:solidFill>
              <a:schemeClr val="accent3"/>
            </a:solidFill>
          </a:ln>
        </p:spPr>
        <p:txBody>
          <a:bodyPr wrap="square" lIns="1016" tIns="2286" rIns="2286" bIns="1016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tx1"/>
                </a:solidFill>
              </a:rPr>
              <a:t>INPUT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dirty="0">
                <a:solidFill>
                  <a:schemeClr val="tx1"/>
                </a:solidFill>
              </a:rPr>
              <a:t>Next resume PDF</a:t>
            </a:r>
            <a:endParaRPr lang="en-US" sz="1100" dirty="0"/>
          </a:p>
        </p:txBody>
      </p:sp>
      <p:sp>
        <p:nvSpPr>
          <p:cNvPr id="5" name="Try block"/>
          <p:cNvSpPr txBox="1"/>
          <p:nvPr/>
        </p:nvSpPr>
        <p:spPr>
          <a:xfrm>
            <a:off x="3566160" y="1554480"/>
            <a:ext cx="310896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1016" tIns="2286" rIns="2286" bIns="1016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bg1"/>
                </a:solidFill>
              </a:rPr>
              <a:t>PROCESSING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dirty="0">
                <a:solidFill>
                  <a:schemeClr val="bg1"/>
                </a:solidFill>
              </a:rPr>
              <a:t>Try: Steps 3 → 4 → 5</a:t>
            </a:r>
            <a:endParaRPr lang="en-US" sz="1100" dirty="0"/>
          </a:p>
          <a:p>
            <a:pPr marL="0" indent="0" algn="l">
              <a:buNone/>
            </a:pPr>
            <a:r>
              <a:rPr lang="en-US" sz="1400" dirty="0">
                <a:solidFill>
                  <a:schemeClr val="bg1"/>
                </a:solidFill>
              </a:rPr>
              <a:t>Read, extract, score</a:t>
            </a:r>
            <a:endParaRPr lang="en-US" sz="1100" dirty="0"/>
          </a:p>
        </p:txBody>
      </p:sp>
      <p:sp>
        <p:nvSpPr>
          <p:cNvPr id="6" name="Flow arrow"/>
          <p:cNvSpPr/>
          <p:nvPr/>
        </p:nvSpPr>
        <p:spPr>
          <a:xfrm>
            <a:off x="2999232" y="2240280"/>
            <a:ext cx="49377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" name="Decision"/>
          <p:cNvSpPr/>
          <p:nvPr/>
        </p:nvSpPr>
        <p:spPr>
          <a:xfrm>
            <a:off x="7315200" y="1371600"/>
            <a:ext cx="2011680" cy="1737360"/>
          </a:xfrm>
          <a:prstGeom prst="diamond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8" name="Decision text"/>
          <p:cNvSpPr txBox="1"/>
          <p:nvPr/>
        </p:nvSpPr>
        <p:spPr>
          <a:xfrm>
            <a:off x="7315200" y="1371600"/>
            <a:ext cx="201168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Worked?</a:t>
            </a:r>
            <a:endParaRPr lang="en-US" sz="1600" dirty="0"/>
          </a:p>
        </p:txBody>
      </p:sp>
      <p:sp>
        <p:nvSpPr>
          <p:cNvPr id="9" name="Flow arrow"/>
          <p:cNvSpPr/>
          <p:nvPr/>
        </p:nvSpPr>
        <p:spPr>
          <a:xfrm>
            <a:off x="6748272" y="2240280"/>
            <a:ext cx="493776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Success"/>
          <p:cNvSpPr txBox="1"/>
          <p:nvPr/>
        </p:nvSpPr>
        <p:spPr>
          <a:xfrm>
            <a:off x="9966960" y="1554480"/>
            <a:ext cx="1673352" cy="1371600"/>
          </a:xfrm>
          <a:prstGeom prst="roundRect">
            <a:avLst>
              <a:gd name="adj" fmla="val 8000"/>
            </a:avLst>
          </a:prstGeom>
          <a:solidFill>
            <a:schemeClr val="accent4">
              <a:alpha val="18000"/>
            </a:schemeClr>
          </a:solidFill>
          <a:ln w="19050">
            <a:solidFill>
              <a:schemeClr val="accent4"/>
            </a:solidFill>
          </a:ln>
        </p:spPr>
        <p:txBody>
          <a:bodyPr wrap="square" lIns="1016" tIns="2286" rIns="2286" bIns="1016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tx1"/>
                </a:solidFill>
              </a:rPr>
              <a:t>OUTPUT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dirty="0">
                <a:solidFill>
                  <a:schemeClr val="tx1"/>
                </a:solidFill>
              </a:rPr>
              <a:t>Add to candidates</a:t>
            </a:r>
            <a:endParaRPr lang="en-US" sz="1100" dirty="0"/>
          </a:p>
        </p:txBody>
      </p:sp>
      <p:sp>
        <p:nvSpPr>
          <p:cNvPr id="11" name="Flow arrow"/>
          <p:cNvSpPr/>
          <p:nvPr/>
        </p:nvSpPr>
        <p:spPr>
          <a:xfrm>
            <a:off x="9400032" y="2240280"/>
            <a:ext cx="493776" cy="0"/>
          </a:xfrm>
          <a:prstGeom prst="line">
            <a:avLst/>
          </a:prstGeom>
          <a:noFill/>
          <a:ln w="31750">
            <a:solidFill>
              <a:srgbClr val="2DBE8C"/>
            </a:solidFill>
            <a:prstDash val="solid"/>
            <a:tailEnd type="triangle"/>
          </a:ln>
        </p:spPr>
      </p:sp>
      <p:sp>
        <p:nvSpPr>
          <p:cNvPr id="12" name="Yes label"/>
          <p:cNvSpPr txBox="1"/>
          <p:nvPr/>
        </p:nvSpPr>
        <p:spPr>
          <a:xfrm>
            <a:off x="9326880" y="182880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YES</a:t>
            </a:r>
            <a:endParaRPr lang="en-US" sz="1200" dirty="0"/>
          </a:p>
        </p:txBody>
      </p:sp>
      <p:sp>
        <p:nvSpPr>
          <p:cNvPr id="13" name="Flow arrow"/>
          <p:cNvSpPr/>
          <p:nvPr/>
        </p:nvSpPr>
        <p:spPr>
          <a:xfrm>
            <a:off x="8321040" y="3182112"/>
            <a:ext cx="0" cy="585216"/>
          </a:xfrm>
          <a:prstGeom prst="line">
            <a:avLst/>
          </a:prstGeom>
          <a:noFill/>
          <a:ln w="31750">
            <a:solidFill>
              <a:srgbClr val="E8559A"/>
            </a:solidFill>
            <a:prstDash val="solid"/>
            <a:tailEnd type="triangle"/>
          </a:ln>
        </p:spPr>
      </p:sp>
      <p:sp>
        <p:nvSpPr>
          <p:cNvPr id="14" name="No label"/>
          <p:cNvSpPr txBox="1"/>
          <p:nvPr/>
        </p:nvSpPr>
        <p:spPr>
          <a:xfrm>
            <a:off x="8458200" y="3337560"/>
            <a:ext cx="640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NO</a:t>
            </a:r>
            <a:endParaRPr lang="en-US" sz="1200" dirty="0"/>
          </a:p>
        </p:txBody>
      </p:sp>
      <p:sp>
        <p:nvSpPr>
          <p:cNvPr id="15" name="Error box"/>
          <p:cNvSpPr txBox="1"/>
          <p:nvPr/>
        </p:nvSpPr>
        <p:spPr>
          <a:xfrm>
            <a:off x="6766560" y="3840480"/>
            <a:ext cx="3108960" cy="1005840"/>
          </a:xfrm>
          <a:prstGeom prst="roundRect">
            <a:avLst>
              <a:gd name="adj" fmla="val 10909"/>
            </a:avLst>
          </a:prstGeom>
          <a:solidFill>
            <a:schemeClr val="accent2">
              <a:alpha val="15000"/>
            </a:schemeClr>
          </a:solidFill>
          <a:ln w="19050">
            <a:solidFill>
              <a:schemeClr val="accent2"/>
            </a:solidFill>
          </a:ln>
        </p:spPr>
        <p:txBody>
          <a:bodyPr wrap="square" lIns="1016" tIns="2286" rIns="2286" bIns="1016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chemeClr val="tx1"/>
                </a:solidFill>
              </a:rPr>
              <a:t>ERROR</a:t>
            </a:r>
            <a:endParaRPr lang="en-US" sz="1100" dirty="0"/>
          </a:p>
          <a:p>
            <a:pPr marL="0" indent="0" algn="l">
              <a:buNone/>
            </a:pPr>
            <a:r>
              <a:rPr lang="en-US" sz="1700" b="1" dirty="0">
                <a:solidFill>
                  <a:schemeClr val="tx1"/>
                </a:solidFill>
              </a:rPr>
              <a:t>Save filename + reason, skip it</a:t>
            </a:r>
            <a:endParaRPr lang="en-US" sz="1100" dirty="0"/>
          </a:p>
        </p:txBody>
      </p:sp>
      <p:sp>
        <p:nvSpPr>
          <p:cNvPr id="16" name="Sub heading"/>
          <p:cNvSpPr txBox="1"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Why it matters</a:t>
            </a:r>
            <a:endParaRPr lang="en-US" sz="1800" dirty="0"/>
          </a:p>
        </p:txBody>
      </p:sp>
      <p:sp>
        <p:nvSpPr>
          <p:cNvPr id="17" name="Bullets"/>
          <p:cNvSpPr txBox="1"/>
          <p:nvPr/>
        </p:nvSpPr>
        <p:spPr>
          <a:xfrm>
            <a:off x="548640" y="4023360"/>
            <a:ext cx="5760720" cy="228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One unreadable PDF does not stop the other resumes.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Each failure is written to resume_screening_errors.csv.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Failed resumes are not scored or ranked.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 our sample run 17 of 20 resumes were scored.</a:t>
            </a:r>
            <a:endParaRPr lang="en-US" sz="1400" dirty="0"/>
          </a:p>
        </p:txBody>
      </p:sp>
      <p:sp>
        <p:nvSpPr>
          <p:cNvPr id="18" name="Code snippet"/>
          <p:cNvSpPr txBox="1"/>
          <p:nvPr/>
        </p:nvSpPr>
        <p:spPr>
          <a:xfrm>
            <a:off x="6766560" y="5029200"/>
            <a:ext cx="4873752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1905" tIns="1905" rIns="1905" bIns="1905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try: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...steps 3, 4 and 5...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candidates.append(candidate)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except Exception as error: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errors.append({"Filename": pdf.name,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"Failure Reason": str(error)[:200]})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6A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1" hasCustomPrompt="1"/>
          </p:nvPr>
        </p:nvSpPr>
        <p:spPr>
          <a:xfrm>
            <a:off x="548640" y="3200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Sample output: scores for 17 candidates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73152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Fact card"/>
          <p:cNvSpPr/>
          <p:nvPr/>
        </p:nvSpPr>
        <p:spPr>
          <a:xfrm>
            <a:off x="8229600" y="1463040"/>
            <a:ext cx="341071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Fact number"/>
          <p:cNvSpPr txBox="1"/>
          <p:nvPr/>
        </p:nvSpPr>
        <p:spPr>
          <a:xfrm>
            <a:off x="8412480" y="1463040"/>
            <a:ext cx="10972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40</a:t>
            </a:r>
            <a:endParaRPr lang="en-US" sz="3800" dirty="0"/>
          </a:p>
        </p:txBody>
      </p:sp>
      <p:sp>
        <p:nvSpPr>
          <p:cNvPr id="7" name="Fact label"/>
          <p:cNvSpPr txBox="1"/>
          <p:nvPr/>
        </p:nvSpPr>
        <p:spPr>
          <a:xfrm>
            <a:off x="9509760" y="146304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highest score</a:t>
            </a:r>
            <a:endParaRPr lang="en-US" sz="1400" dirty="0"/>
          </a:p>
        </p:txBody>
      </p:sp>
      <p:sp>
        <p:nvSpPr>
          <p:cNvPr id="8" name="Fact card"/>
          <p:cNvSpPr/>
          <p:nvPr/>
        </p:nvSpPr>
        <p:spPr>
          <a:xfrm>
            <a:off x="8229600" y="2651760"/>
            <a:ext cx="341071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act number"/>
          <p:cNvSpPr txBox="1"/>
          <p:nvPr/>
        </p:nvSpPr>
        <p:spPr>
          <a:xfrm>
            <a:off x="8412480" y="2651760"/>
            <a:ext cx="10972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15</a:t>
            </a:r>
            <a:endParaRPr lang="en-US" sz="3800" dirty="0"/>
          </a:p>
        </p:txBody>
      </p:sp>
      <p:sp>
        <p:nvSpPr>
          <p:cNvPr id="10" name="Fact label"/>
          <p:cNvSpPr txBox="1"/>
          <p:nvPr/>
        </p:nvSpPr>
        <p:spPr>
          <a:xfrm>
            <a:off x="9509760" y="265176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median score</a:t>
            </a:r>
            <a:endParaRPr lang="en-US" sz="1400" dirty="0"/>
          </a:p>
        </p:txBody>
      </p:sp>
      <p:sp>
        <p:nvSpPr>
          <p:cNvPr id="11" name="Fact card"/>
          <p:cNvSpPr/>
          <p:nvPr/>
        </p:nvSpPr>
        <p:spPr>
          <a:xfrm>
            <a:off x="8229600" y="3840480"/>
            <a:ext cx="341071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Fact number"/>
          <p:cNvSpPr txBox="1"/>
          <p:nvPr/>
        </p:nvSpPr>
        <p:spPr>
          <a:xfrm>
            <a:off x="8412480" y="3840480"/>
            <a:ext cx="109728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3800" dirty="0"/>
          </a:p>
        </p:txBody>
      </p:sp>
      <p:sp>
        <p:nvSpPr>
          <p:cNvPr id="13" name="Fact label"/>
          <p:cNvSpPr txBox="1"/>
          <p:nvPr/>
        </p:nvSpPr>
        <p:spPr>
          <a:xfrm>
            <a:off x="9509760" y="3840480"/>
            <a:ext cx="20574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candidates tied at 25</a:t>
            </a:r>
            <a:endParaRPr lang="en-US" sz="1400" dirty="0"/>
          </a:p>
        </p:txBody>
      </p:sp>
      <p:sp>
        <p:nvSpPr>
          <p:cNvPr id="14" name="Takeaway"/>
          <p:cNvSpPr txBox="1"/>
          <p:nvPr/>
        </p:nvSpPr>
        <p:spPr>
          <a:xfrm>
            <a:off x="8229600" y="5120640"/>
            <a:ext cx="3410712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Low scores are expected: the job asks for Python, ML and NLP skills, and most sample resumes are not AI-focused.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6A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1" hasCustomPrompt="1"/>
          </p:nvPr>
        </p:nvSpPr>
        <p:spPr>
          <a:xfrm>
            <a:off x="548640" y="320040"/>
            <a:ext cx="10332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Run it yourself</a:t>
            </a:r>
            <a:endParaRPr lang="en-US" sz="3200" dirty="0"/>
          </a:p>
        </p:txBody>
      </p:sp>
      <p:sp>
        <p:nvSpPr>
          <p:cNvPr id="4" name="Number badge"/>
          <p:cNvSpPr/>
          <p:nvPr/>
        </p:nvSpPr>
        <p:spPr>
          <a:xfrm>
            <a:off x="548640" y="144475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ber"/>
          <p:cNvSpPr txBox="1"/>
          <p:nvPr/>
        </p:nvSpPr>
        <p:spPr>
          <a:xfrm>
            <a:off x="548640" y="144475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Instruction"/>
          <p:cNvSpPr txBox="1"/>
          <p:nvPr/>
        </p:nvSpPr>
        <p:spPr>
          <a:xfrm>
            <a:off x="1280160" y="137160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Create a virtual environment</a:t>
            </a:r>
            <a:endParaRPr lang="en-US" sz="1400" dirty="0"/>
          </a:p>
        </p:txBody>
      </p:sp>
      <p:sp>
        <p:nvSpPr>
          <p:cNvPr id="7" name="Command"/>
          <p:cNvSpPr txBox="1"/>
          <p:nvPr/>
        </p:nvSpPr>
        <p:spPr>
          <a:xfrm>
            <a:off x="6675120" y="1408176"/>
            <a:ext cx="4965192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0" tIns="1905" rIns="1905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py -3.11 -m venv .venv</a:t>
            </a:r>
            <a:endParaRPr lang="en-US" sz="1300" dirty="0"/>
          </a:p>
        </p:txBody>
      </p:sp>
      <p:sp>
        <p:nvSpPr>
          <p:cNvPr id="8" name="Number badge"/>
          <p:cNvSpPr/>
          <p:nvPr/>
        </p:nvSpPr>
        <p:spPr>
          <a:xfrm>
            <a:off x="548640" y="226771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Number"/>
          <p:cNvSpPr txBox="1"/>
          <p:nvPr/>
        </p:nvSpPr>
        <p:spPr>
          <a:xfrm>
            <a:off x="548640" y="226771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Instruction"/>
          <p:cNvSpPr txBox="1"/>
          <p:nvPr/>
        </p:nvSpPr>
        <p:spPr>
          <a:xfrm>
            <a:off x="1280160" y="219456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Activate it</a:t>
            </a:r>
            <a:endParaRPr lang="en-US" sz="1400" dirty="0"/>
          </a:p>
        </p:txBody>
      </p:sp>
      <p:sp>
        <p:nvSpPr>
          <p:cNvPr id="11" name="Command"/>
          <p:cNvSpPr txBox="1"/>
          <p:nvPr/>
        </p:nvSpPr>
        <p:spPr>
          <a:xfrm>
            <a:off x="6675120" y="2231136"/>
            <a:ext cx="4965192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0" tIns="1905" rIns="1905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.\.venv\Scripts\Activate.ps1</a:t>
            </a:r>
            <a:endParaRPr lang="en-US" sz="1300" dirty="0"/>
          </a:p>
        </p:txBody>
      </p:sp>
      <p:sp>
        <p:nvSpPr>
          <p:cNvPr id="12" name="Number badge"/>
          <p:cNvSpPr/>
          <p:nvPr/>
        </p:nvSpPr>
        <p:spPr>
          <a:xfrm>
            <a:off x="548640" y="309067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umber"/>
          <p:cNvSpPr txBox="1"/>
          <p:nvPr/>
        </p:nvSpPr>
        <p:spPr>
          <a:xfrm>
            <a:off x="548640" y="30906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Instruction"/>
          <p:cNvSpPr txBox="1"/>
          <p:nvPr/>
        </p:nvSpPr>
        <p:spPr>
          <a:xfrm>
            <a:off x="1280160" y="301752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Install the packages</a:t>
            </a:r>
            <a:endParaRPr lang="en-US" sz="1400" dirty="0"/>
          </a:p>
        </p:txBody>
      </p:sp>
      <p:sp>
        <p:nvSpPr>
          <p:cNvPr id="15" name="Command"/>
          <p:cNvSpPr txBox="1"/>
          <p:nvPr/>
        </p:nvSpPr>
        <p:spPr>
          <a:xfrm>
            <a:off x="6675120" y="3054096"/>
            <a:ext cx="4965192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0" tIns="1905" rIns="1905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pip install -r requirements.txt</a:t>
            </a:r>
            <a:endParaRPr lang="en-US" sz="1300" dirty="0"/>
          </a:p>
        </p:txBody>
      </p:sp>
      <p:sp>
        <p:nvSpPr>
          <p:cNvPr id="16" name="Number badge"/>
          <p:cNvSpPr/>
          <p:nvPr/>
        </p:nvSpPr>
        <p:spPr>
          <a:xfrm>
            <a:off x="548640" y="391363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ber"/>
          <p:cNvSpPr txBox="1"/>
          <p:nvPr/>
        </p:nvSpPr>
        <p:spPr>
          <a:xfrm>
            <a:off x="548640" y="39136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Instruction"/>
          <p:cNvSpPr txBox="1"/>
          <p:nvPr/>
        </p:nvSpPr>
        <p:spPr>
          <a:xfrm>
            <a:off x="1280160" y="384048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Add your API key to .env, resumes to resumes/, job PDF to job_description/</a:t>
            </a:r>
            <a:endParaRPr lang="en-US" sz="1400" dirty="0"/>
          </a:p>
        </p:txBody>
      </p:sp>
      <p:sp>
        <p:nvSpPr>
          <p:cNvPr id="19" name="Command"/>
          <p:cNvSpPr txBox="1"/>
          <p:nvPr/>
        </p:nvSpPr>
        <p:spPr>
          <a:xfrm>
            <a:off x="6675120" y="3877056"/>
            <a:ext cx="4965192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0" tIns="1905" rIns="1905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OPENAI_API_KEY=your-key-here</a:t>
            </a:r>
            <a:endParaRPr lang="en-US" sz="1300" dirty="0"/>
          </a:p>
        </p:txBody>
      </p:sp>
      <p:sp>
        <p:nvSpPr>
          <p:cNvPr id="20" name="Number badge"/>
          <p:cNvSpPr/>
          <p:nvPr/>
        </p:nvSpPr>
        <p:spPr>
          <a:xfrm>
            <a:off x="548640" y="473659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Number"/>
          <p:cNvSpPr txBox="1"/>
          <p:nvPr/>
        </p:nvSpPr>
        <p:spPr>
          <a:xfrm>
            <a:off x="548640" y="47365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Instruction"/>
          <p:cNvSpPr txBox="1"/>
          <p:nvPr/>
        </p:nvSpPr>
        <p:spPr>
          <a:xfrm>
            <a:off x="1280160" y="466344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Run the screening</a:t>
            </a:r>
            <a:endParaRPr lang="en-US" sz="1400" dirty="0"/>
          </a:p>
        </p:txBody>
      </p:sp>
      <p:sp>
        <p:nvSpPr>
          <p:cNvPr id="23" name="Command"/>
          <p:cNvSpPr txBox="1"/>
          <p:nvPr/>
        </p:nvSpPr>
        <p:spPr>
          <a:xfrm>
            <a:off x="6675120" y="4700016"/>
            <a:ext cx="4965192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0" tIns="1905" rIns="1905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python app.py</a:t>
            </a:r>
            <a:endParaRPr lang="en-US" sz="1300" dirty="0"/>
          </a:p>
        </p:txBody>
      </p:sp>
      <p:sp>
        <p:nvSpPr>
          <p:cNvPr id="24" name="Number badge"/>
          <p:cNvSpPr/>
          <p:nvPr/>
        </p:nvSpPr>
        <p:spPr>
          <a:xfrm>
            <a:off x="548640" y="555955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Number"/>
          <p:cNvSpPr txBox="1"/>
          <p:nvPr/>
        </p:nvSpPr>
        <p:spPr>
          <a:xfrm>
            <a:off x="548640" y="555955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Instruction"/>
          <p:cNvSpPr txBox="1"/>
          <p:nvPr/>
        </p:nvSpPr>
        <p:spPr>
          <a:xfrm>
            <a:off x="1280160" y="5486400"/>
            <a:ext cx="52120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Check the tests (optional)</a:t>
            </a:r>
            <a:endParaRPr lang="en-US" sz="1400" dirty="0"/>
          </a:p>
        </p:txBody>
      </p:sp>
      <p:sp>
        <p:nvSpPr>
          <p:cNvPr id="27" name="Command"/>
          <p:cNvSpPr txBox="1"/>
          <p:nvPr/>
        </p:nvSpPr>
        <p:spPr>
          <a:xfrm>
            <a:off x="6675120" y="5522976"/>
            <a:ext cx="4965192" cy="585216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accent5"/>
            </a:solidFill>
          </a:ln>
        </p:spPr>
        <p:txBody>
          <a:bodyPr wrap="square" lIns="0" tIns="1905" rIns="1905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python -m pytest -v</a:t>
            </a:r>
            <a:endParaRPr lang="en-US" sz="13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6B6A8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opeAI Teaching">
  <a:themeElements>
    <a:clrScheme name="HopeAI Teaching">
      <a:dk1>
        <a:srgbClr val="1F1B3A"/>
      </a:dk1>
      <a:lt1>
        <a:srgbClr val="FFFFFF"/>
      </a:lt1>
      <a:dk2>
        <a:srgbClr val="4A4668"/>
      </a:dk2>
      <a:lt2>
        <a:srgbClr val="F4F2FF"/>
      </a:lt2>
      <a:accent1>
        <a:srgbClr val="5B44C8"/>
      </a:accent1>
      <a:accent2>
        <a:srgbClr val="E8559A"/>
      </a:accent2>
      <a:accent3>
        <a:srgbClr val="F5A623"/>
      </a:accent3>
      <a:accent4>
        <a:srgbClr val="2DBE8C"/>
      </a:accent4>
      <a:accent5>
        <a:srgbClr val="8E7CF0"/>
      </a:accent5>
      <a:accent6>
        <a:srgbClr val="6B6A85"/>
      </a:accent6>
      <a:hlink>
        <a:srgbClr val="5B44C8"/>
      </a:hlink>
      <a:folHlink>
        <a:srgbClr val="8E7CF0"/>
      </a:folHlink>
    </a:clrScheme>
    <a:fontScheme name="HopeAI Teach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HopeAI Teaching">
  <a:themeElements>
    <a:clrScheme name="HopeAI Teaching">
      <a:dk1>
        <a:srgbClr val="1F1B3A"/>
      </a:dk1>
      <a:lt1>
        <a:srgbClr val="FFFFFF"/>
      </a:lt1>
      <a:dk2>
        <a:srgbClr val="4A4668"/>
      </a:dk2>
      <a:lt2>
        <a:srgbClr val="F4F2FF"/>
      </a:lt2>
      <a:accent1>
        <a:srgbClr val="5B44C8"/>
      </a:accent1>
      <a:accent2>
        <a:srgbClr val="E8559A"/>
      </a:accent2>
      <a:accent3>
        <a:srgbClr val="F5A623"/>
      </a:accent3>
      <a:accent4>
        <a:srgbClr val="2DBE8C"/>
      </a:accent4>
      <a:accent5>
        <a:srgbClr val="8E7CF0"/>
      </a:accent5>
      <a:accent6>
        <a:srgbClr val="6B6A85"/>
      </a:accent6>
      <a:hlink>
        <a:srgbClr val="5B44C8"/>
      </a:hlink>
      <a:folHlink>
        <a:srgbClr val="8E7CF0"/>
      </a:folHlink>
    </a:clrScheme>
    <a:fontScheme name="HopeAI Teach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5675</Words>
  <Application>WPS Presentation</Application>
  <PresentationFormat>On-screen Show (16:9)</PresentationFormat>
  <Paragraphs>441</Paragraphs>
  <Slides>13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SimSun</vt:lpstr>
      <vt:lpstr>Wingdings</vt:lpstr>
      <vt:lpstr>Courier New</vt:lpstr>
      <vt:lpstr>Courier New</vt:lpstr>
      <vt:lpstr>Courier New</vt:lpstr>
      <vt:lpstr>Arial</vt:lpstr>
      <vt:lpstr>Cambria</vt:lpstr>
      <vt:lpstr>Cambria</vt:lpstr>
      <vt:lpstr>Cambria</vt:lpstr>
      <vt:lpstr>Calibri</vt:lpstr>
      <vt:lpstr>Microsoft YaHei</vt:lpstr>
      <vt:lpstr>Arial Unicode MS</vt:lpstr>
      <vt:lpstr>HopeAI Teaching</vt:lpstr>
      <vt:lpstr>Resume Screening with AI</vt:lpstr>
      <vt:lpstr>The complete flowchart (app.py)</vt:lpstr>
      <vt:lpstr>Step 1 · Load settings (config.py)</vt:lpstr>
      <vt:lpstr>Step 2 · Validate the inputs (utils.py)</vt:lpstr>
      <vt:lpstr>Step 3 · Extract text from a PDF</vt:lpstr>
      <vt:lpstr>Step 4 · Extract candidate details (LLM)</vt:lpstr>
      <vt:lpstr>Step 5 · Score the resume against the job</vt:lpstr>
      <vt:lpstr>Step 5 · The 100-point scoring rubric</vt:lpstr>
      <vt:lpstr>Step 6 · Rank the candidates (ranking.py)</vt:lpstr>
      <vt:lpstr>Step 7 · Save the results as CSV (utils.py)</vt:lpstr>
      <vt:lpstr>What if one resume fails?</vt:lpstr>
      <vt:lpstr>Sample output: scores for 17 candidates</vt:lpstr>
      <vt:lpstr>Run it yourself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 Screening with AI - Step by Step</dc:title>
  <dc:creator>Hope AI Institute</dc:creator>
  <dc:subject>PptxGenJS Presentation</dc:subject>
  <cp:lastModifiedBy>Vidhya Chandrasekar</cp:lastModifiedBy>
  <cp:revision>2</cp:revision>
  <dcterms:created xsi:type="dcterms:W3CDTF">2026-10-23T08:00:00Z</dcterms:created>
  <dcterms:modified xsi:type="dcterms:W3CDTF">2026-10-23T09:05:17Z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70748A9E2F604C218B57A09E423D58A5_13</vt:lpwstr>
  </property>
</Properties>
</file>