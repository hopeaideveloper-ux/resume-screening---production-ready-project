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68" r:id="rId5"/>
    <p:sldId id="266" r:id="rId6"/>
    <p:sldId id="267" r:id="rId7"/>
    <p:sldId id="257" r:id="rId8"/>
    <p:sldId id="258" r:id="rId9"/>
    <p:sldId id="259" r:id="rId10"/>
    <p:sldId id="260" r:id="rId11"/>
    <p:sldId id="261" r:id="rId12"/>
    <p:sldId id="262" r:id="rId13"/>
    <p:sldId id="263" r:id="rId14"/>
    <p:sldId id="264"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d30037-ed3f-5774-592e-6893005d533a}">
          <p14:sldIdLst>
            <p14:sldId id="256"/>
            <p14:sldId id="268"/>
            <p14:sldId id="266"/>
            <p14:sldId id="267"/>
          </p14:sldIdLst>
        </p14:section>
        <p14:section name="The eight steps" id="{964aaf4e-5bf5-2bc6-b213-d5f56cf64ce3}">
          <p14:sldIdLst>
            <p14:sldId id="257"/>
            <p14:sldId id="258"/>
            <p14:sldId id="259"/>
            <p14:sldId id="260"/>
            <p14:sldId id="261"/>
            <p14:sldId id="262"/>
            <p14:sldId id="263"/>
            <p14:sldId id="264"/>
          </p14:sldIdLst>
        </p14:section>
        <p14:section name="Wrap-up" id="{5978b080-839b-1daf-f0d8-7a8fa4ed33f3}">
          <p14:sldIdLst>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Maximum points</c:v>
                </c:pt>
              </c:strCache>
            </c:strRef>
          </c:tx>
          <c:spPr>
            <a:solidFill>
              <a:srgbClr val="5B4BDB"/>
            </a:solidFill>
            <a:effectLst/>
          </c:spPr>
          <c:invertIfNegative val="0"/>
          <c:dPt>
            <c:idx val="0"/>
            <c:invertIfNegative val="0"/>
            <c:bubble3D val="0"/>
            <c:spPr>
              <a:solidFill>
                <a:srgbClr val="5B4BDB"/>
              </a:solidFill>
              <a:effectLst/>
            </c:spPr>
          </c:dPt>
          <c:dPt>
            <c:idx val="1"/>
            <c:invertIfNegative val="0"/>
            <c:bubble3D val="0"/>
            <c:spPr>
              <a:solidFill>
                <a:srgbClr val="2F7DE1"/>
              </a:solidFill>
              <a:effectLst/>
            </c:spPr>
          </c:dPt>
          <c:dPt>
            <c:idx val="2"/>
            <c:invertIfNegative val="0"/>
            <c:bubble3D val="0"/>
            <c:spPr>
              <a:solidFill>
                <a:srgbClr val="0E9F8E"/>
              </a:solidFill>
              <a:effectLst/>
            </c:spPr>
          </c:dPt>
          <c:dPt>
            <c:idx val="3"/>
            <c:invertIfNegative val="0"/>
            <c:bubble3D val="0"/>
            <c:spPr>
              <a:solidFill>
                <a:srgbClr val="F59E0B"/>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1500" b="1" i="0" u="none" strike="noStrike" kern="1200" baseline="0">
                    <a:solidFill>
                      <a:srgbClr val="1B1F3B"/>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Relevant skills</c:v>
                </c:pt>
                <c:pt idx="1">
                  <c:v>Relevant experience</c:v>
                </c:pt>
                <c:pt idx="2">
                  <c:v>Education</c:v>
                </c:pt>
                <c:pt idx="3">
                  <c:v>Other requirements</c:v>
                </c:pt>
              </c:strCache>
            </c:strRef>
          </c:cat>
          <c:val>
            <c:numRef>
              <c:f>Sheet1!$B$2:$B$5</c:f>
              <c:numCache>
                <c:formatCode>General</c:formatCode>
                <c:ptCount val="4"/>
                <c:pt idx="0">
                  <c:v>40</c:v>
                </c:pt>
                <c:pt idx="1">
                  <c:v>30</c:v>
                </c:pt>
                <c:pt idx="2">
                  <c:v>20</c:v>
                </c:pt>
                <c:pt idx="3">
                  <c:v>10</c:v>
                </c:pt>
              </c:numCache>
            </c:numRef>
          </c:val>
        </c:ser>
        <c:dLbls>
          <c:showLegendKey val="0"/>
          <c:showVal val="1"/>
          <c:showCatName val="0"/>
          <c:showSerName val="0"/>
          <c:showPercent val="0"/>
          <c:showBubbleSize val="0"/>
        </c:dLbls>
        <c:gapWidth val="45"/>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500" b="0" i="0" u="none" strike="noStrike" kern="1200" baseline="0">
                <a:solidFill>
                  <a:srgbClr val="1B1F3B"/>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p>
        </c:txPr>
        <c:crossAx val="2094734552"/>
        <c:crosses val="autoZero"/>
        <c:auto val="1"/>
        <c:lblAlgn val="ctr"/>
        <c:lblOffset val="100"/>
        <c:noMultiLvlLbl val="1"/>
      </c:catAx>
      <c:valAx>
        <c:axId val="2094734552"/>
        <c:scaling>
          <c:orientation val="minMax"/>
          <c:max val="48"/>
          <c:min val="0"/>
        </c:scaling>
        <c:delete val="1"/>
        <c:axPos val="t"/>
        <c:numFmt formatCode="General" sourceLinked="0"/>
        <c:majorTickMark val="out"/>
        <c:minorTickMark val="none"/>
        <c:tickLblPos val="low"/>
        <c:txPr>
          <a:bodyPr rot="-60000000" spcFirstLastPara="0" vertOverflow="ellipsis" vert="horz" wrap="square" anchor="ctr" anchorCtr="1"/>
          <a:lstStyle/>
          <a:p>
            <a:pPr>
              <a:defRPr lang="en-US" sz="1500" b="0" i="0" u="none" strike="noStrike" kern="1200" baseline="0">
                <a:solidFill>
                  <a:srgbClr val="000000"/>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533a8815-799c-4ff9-9756-027fcdbd3cdb}"/>
      </c:ext>
    </c:extLst>
  </c:chart>
  <c:spPr>
    <a:noFill/>
    <a:ln>
      <a:noFill/>
    </a:ln>
    <a:effectLst/>
  </c:spPr>
  <c:txPr>
    <a:bodyPr/>
    <a:lstStyle/>
    <a:p>
      <a:pPr>
        <a:defRPr lang="en-US" sz="1500">
          <a:latin typeface="Times New Roman" panose="02020603050405020304" charset="0"/>
          <a:ea typeface="Times New Roman" panose="02020603050405020304" charset="0"/>
          <a:cs typeface="Times New Roman" panose="02020603050405020304" charset="0"/>
          <a:sym typeface="Times New Roman" panose="02020603050405020304" charset="0"/>
        </a:defRPr>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takes the eight panels of the resume screening flow diagram and gives each its own slide: the diagram on the left, the explanation and the matching code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only prepares the inputs: a folder of resume PDFs plus one job description PDF. In the sample project that is 20 resumes and an AI/ML Engineer (Fresher)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load_config() needs OPENAI_API_KEY and falls back to defaults for the model and paths. validate_inputs() checks that the resumes folder and the job PDF exist and creates the output folders. A missing path stops the program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description is read once, before any resume. If no text can be extracted the program stops, because there would be nothing to compare resumes against. OCR is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Resumes are sorted by file name ignoring case so runs are repeatable. A resume with no readable text is recorded in the error CSV and never stops the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LLM call per resume. The prompt says to extract only facts that are written, to use null or an empty list for anything missing, and to ignore protected characteristics such as age, gender, religion, caste, disability and marital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LLM call. The model returns four integer scores within fixed limits plus short evidence notes. The Python code, not the model, sums them into the total out of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 is plain Python sorting with no LLM. The tie-break rules make the order repeatable: in the sample run four candidates tied at 25, and name then filename decided their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CSV has nine columns and opens cleanly in Excel, with phone numbers protected from losing leading zeros. The error CSV lists each failed filename with a reason trimmed to 200 characters. The run ends by printing how many resumes succeeded and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PDFs in, two LLM calls per resume, a ranked CSV and an error CSV out. Scores support human review and should not be the sole basis for hiring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91672" cy="777240"/>
          </a:xfrm>
          <a:prstGeom prst="rect">
            <a:avLst/>
          </a:prstGeom>
          <a:noFill/>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4572000" cy="274320"/>
          </a:xfrm>
          <a:prstGeom prst="rect">
            <a:avLst/>
          </a:prstGeom>
          <a:noFill/>
        </p:spPr>
        <p:txBody>
          <a:bodyPr wrap="square" lIns="0" tIns="0" rIns="0" bIns="0" rtlCol="0" anchor="ctr"/>
          <a:lstStyle/>
          <a:p>
            <a:pPr marL="0" indent="0">
              <a:buNone/>
            </a:pPr>
            <a:r>
              <a:rPr lang="en-US" sz="1000" dirty="0">
                <a:solidFill>
                  <a:schemeClr val="tx2"/>
                </a:solidFill>
              </a:rPr>
              <a:t>Resume Screening with an LLM</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EP">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1600200" y="365760"/>
            <a:ext cx="10040112" cy="777240"/>
          </a:xfrm>
          <a:prstGeom prst="rect">
            <a:avLst/>
          </a:prstGeom>
          <a:noFill/>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4572000" cy="274320"/>
          </a:xfrm>
          <a:prstGeom prst="rect">
            <a:avLst/>
          </a:prstGeom>
          <a:noFill/>
        </p:spPr>
        <p:txBody>
          <a:bodyPr wrap="square" lIns="0" tIns="0" rIns="0" bIns="0" rtlCol="0" anchor="ctr"/>
          <a:lstStyle/>
          <a:p>
            <a:pPr marL="0" indent="0">
              <a:buNone/>
            </a:pPr>
            <a:r>
              <a:rPr lang="en-US" sz="1000" dirty="0">
                <a:solidFill>
                  <a:schemeClr val="tx2"/>
                </a:solidFill>
              </a:rPr>
              <a:t>Resume Screening with an LLM</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p:spPr>
      </p:sp>
      <p:sp>
        <p:nvSpPr>
          <p:cNvPr id="3" name="Text 1"/>
          <p:cNvSpPr/>
          <p:nvPr>
            <p:ph type="title" idx="101" hasCustomPrompt="1"/>
          </p:nvPr>
        </p:nvSpPr>
        <p:spPr>
          <a:xfrm>
            <a:off x="731520" y="2011680"/>
            <a:ext cx="6217920" cy="1920240"/>
          </a:xfrm>
          <a:prstGeom prst="rect">
            <a:avLst/>
          </a:prstGeom>
          <a:noFill/>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4" name="Text 1"/>
          <p:cNvSpPr/>
          <p:nvPr>
            <p:ph type="body" idx="102" hasCustomPrompt="1"/>
          </p:nvPr>
        </p:nvSpPr>
        <p:spPr>
          <a:xfrm>
            <a:off x="731520" y="4114800"/>
            <a:ext cx="5852160" cy="914400"/>
          </a:xfrm>
          <a:prstGeom prst="rect">
            <a:avLst/>
          </a:prstGeom>
          <a:noFill/>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p:spPr>
      </p:sp>
      <p:sp>
        <p:nvSpPr>
          <p:cNvPr id="3" name="Text 1"/>
          <p:cNvSpPr/>
          <p:nvPr>
            <p:ph type="title" idx="101" hasCustomPrompt="1"/>
          </p:nvPr>
        </p:nvSpPr>
        <p:spPr>
          <a:xfrm>
            <a:off x="548640" y="365760"/>
            <a:ext cx="11091672" cy="777240"/>
          </a:xfrm>
          <a:prstGeom prst="rect">
            <a:avLst/>
          </a:prstGeom>
          <a:noFill/>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1"/>
          <p:cNvSpPr/>
          <p:nvPr/>
        </p:nvSpPr>
        <p:spPr>
          <a:xfrm>
            <a:off x="548640" y="6400800"/>
            <a:ext cx="4572000" cy="274320"/>
          </a:xfrm>
          <a:prstGeom prst="rect">
            <a:avLst/>
          </a:prstGeom>
          <a:noFill/>
        </p:spPr>
        <p:txBody>
          <a:bodyPr wrap="square" lIns="0" tIns="0" rIns="0" bIns="0" rtlCol="0" anchor="ctr"/>
          <a:lstStyle/>
          <a:p>
            <a:pPr marL="0" indent="0">
              <a:buNone/>
            </a:pPr>
            <a:r>
              <a:rPr lang="en-US" sz="1000" dirty="0">
                <a:solidFill>
                  <a:schemeClr val="bg2"/>
                </a:solidFill>
              </a:rPr>
              <a:t>Resume Screening with an LLM</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F4F3FB"/>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731520" y="2011680"/>
            <a:ext cx="6217920" cy="1920240"/>
          </a:xfrm>
          <a:prstGeom prst="rect">
            <a:avLst/>
          </a:prstGeom>
          <a:noFill/>
        </p:spPr>
        <p:txBody>
          <a:bodyPr wrap="square" lIns="0" tIns="0" rIns="0" bIns="0" rtlCol="0" anchor="t"/>
          <a:lstStyle/>
          <a:p>
            <a:pPr marL="0" indent="0" algn="l">
              <a:buNone/>
            </a:pPr>
            <a:r>
              <a:rPr lang="en-US" sz="4600" b="1" dirty="0">
                <a:solidFill>
                  <a:schemeClr val="bg1"/>
                </a:solidFill>
              </a:rPr>
              <a:t>Resume Screening: the 8-step process</a:t>
            </a:r>
            <a:endParaRPr lang="en-US" sz="4600" dirty="0"/>
          </a:p>
        </p:txBody>
      </p:sp>
      <p:sp>
        <p:nvSpPr>
          <p:cNvPr id="4" name="Chip 1"/>
          <p:cNvSpPr txBox="1"/>
          <p:nvPr/>
        </p:nvSpPr>
        <p:spPr>
          <a:xfrm>
            <a:off x="731520" y="1325880"/>
            <a:ext cx="3383280" cy="411480"/>
          </a:xfrm>
          <a:prstGeom prst="roundRect">
            <a:avLst>
              <a:gd name="adj" fmla="val 44444"/>
            </a:avLst>
          </a:prstGeom>
          <a:solidFill>
            <a:schemeClr val="accent5">
              <a:alpha val="70000"/>
            </a:schemeClr>
          </a:solidFill>
        </p:spPr>
        <p:txBody>
          <a:bodyPr wrap="square" lIns="50800" tIns="50800" rIns="50800" bIns="50800" rtlCol="0" anchor="ctr"/>
          <a:lstStyle/>
          <a:p>
            <a:pPr marL="0" indent="0" algn="ctr">
              <a:buNone/>
            </a:pPr>
            <a:r>
              <a:rPr lang="en-US" sz="1400" b="1" dirty="0">
                <a:solidFill>
                  <a:schemeClr val="tx1"/>
                </a:solidFill>
              </a:rPr>
              <a:t>Python  ·  pypdf  ·  OpenAI API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1"/>
          <p:cNvSpPr/>
          <p:nvPr/>
        </p:nvSpPr>
        <p:spPr>
          <a:xfrm>
            <a:off x="2688590" y="2032000"/>
            <a:ext cx="6814820" cy="1920240"/>
          </a:xfrm>
          <a:prstGeom prst="rect">
            <a:avLst/>
          </a:prstGeom>
          <a:noFill/>
        </p:spPr>
        <p:txBody>
          <a:bodyPr wrap="square" lIns="0" tIns="0" rIns="0" bIns="0" rtlCol="0" anchor="t"/>
          <a:lstStyle>
            <a:lvl1pPr marL="0" indent="0" algn="l" defTabSz="914400" rtl="0" eaLnBrk="1" latinLnBrk="0" hangingPunct="1">
              <a:spcBef>
                <a:spcPct val="0"/>
              </a:spcBef>
              <a:buNone/>
              <a:defRPr lang="en-US" sz="4600" b="1" kern="1200" dirty="0">
                <a:solidFill>
                  <a:schemeClr val="bg1"/>
                </a:solidFill>
                <a:latin typeface="+mj-lt"/>
                <a:ea typeface="+mj-ea"/>
                <a:cs typeface="+mj-cs"/>
              </a:defRPr>
            </a:lvl1pPr>
          </a:lstStyle>
          <a:p>
            <a:pPr marL="0" indent="0" algn="l">
              <a:buNone/>
            </a:pPr>
            <a:r>
              <a:rPr lang="en-US" sz="6000" b="1" dirty="0">
                <a:solidFill>
                  <a:schemeClr val="tx1"/>
                </a:solidFill>
              </a:rPr>
              <a:t>Resume Screening: </a:t>
            </a:r>
            <a:r>
              <a:rPr lang="en-IN" altLang="en-US" sz="6000" b="1" dirty="0">
                <a:solidFill>
                  <a:schemeClr val="tx1"/>
                </a:solidFill>
              </a:rPr>
              <a:t>T</a:t>
            </a:r>
            <a:r>
              <a:rPr lang="en-US" sz="6000" b="1" dirty="0">
                <a:solidFill>
                  <a:schemeClr val="tx1"/>
                </a:solidFill>
              </a:rPr>
              <a:t>he 8-step process</a:t>
            </a:r>
            <a:endParaRPr lang="en-US" sz="6000" b="1" dirty="0">
              <a:solidFill>
                <a:schemeClr val="tx1"/>
              </a:solidFill>
            </a:endParaRPr>
          </a:p>
        </p:txBody>
      </p:sp>
      <p:pic>
        <p:nvPicPr>
          <p:cNvPr id="4" name="Picture 3" descr="ChatGPT Image Sep 1, 2026, 10_23_54 AM"/>
          <p:cNvPicPr>
            <a:picLocks noChangeAspect="1"/>
          </p:cNvPicPr>
          <p:nvPr/>
        </p:nvPicPr>
        <p:blipFill>
          <a:blip r:embed="rId1"/>
          <a:stretch>
            <a:fillRect/>
          </a:stretch>
        </p:blipFill>
        <p:spPr>
          <a:xfrm>
            <a:off x="10198100" y="179705"/>
            <a:ext cx="1798320" cy="14395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idx="100"/>
          </p:nvPr>
        </p:nvSpPr>
        <p:spPr/>
        <p:txBody>
          <a:bodyPr/>
          <a:p>
            <a:endParaRPr lang="en-US"/>
          </a:p>
        </p:txBody>
      </p:sp>
      <p:sp>
        <p:nvSpPr>
          <p:cNvPr id="3" name="Text 0"/>
          <p:cNvSpPr/>
          <p:nvPr/>
        </p:nvSpPr>
        <p:spPr>
          <a:xfrm>
            <a:off x="548640" y="365760"/>
            <a:ext cx="11091672" cy="777240"/>
          </a:xfrm>
          <a:prstGeom prst="rect">
            <a:avLst/>
          </a:prstGeom>
          <a:noFill/>
        </p:spPr>
        <p:txBody>
          <a:bodyPr wrap="square" lIns="0" tIns="0" rIns="0" bIns="0" rtlCol="0" anchor="ctr"/>
          <a:lstStyle>
            <a:lvl1pPr marL="0" indent="0" algn="l" defTabSz="914400" rtl="0" eaLnBrk="1" latinLnBrk="0" hangingPunct="1">
              <a:spcBef>
                <a:spcPct val="0"/>
              </a:spcBef>
              <a:buNone/>
              <a:defRPr lang="en-US" sz="3400" b="1" kern="1200" dirty="0">
                <a:solidFill>
                  <a:schemeClr val="tx1"/>
                </a:solidFill>
                <a:latin typeface="+mj-lt"/>
                <a:ea typeface="+mj-ea"/>
                <a:cs typeface="+mj-cs"/>
              </a:defRPr>
            </a:lvl1pPr>
          </a:lstStyle>
          <a:p>
            <a:pPr marL="0" indent="0" algn="l">
              <a:buNone/>
            </a:pPr>
            <a:r>
              <a:rPr lang="en-IN" altLang="en-US" sz="3400" b="1" dirty="0">
                <a:solidFill>
                  <a:schemeClr val="tx1"/>
                </a:solidFill>
              </a:rPr>
              <a:t>Project Overview</a:t>
            </a:r>
            <a:endParaRPr lang="en-IN" altLang="en-US" sz="3400" b="1" dirty="0">
              <a:solidFill>
                <a:schemeClr val="tx1"/>
              </a:solidFill>
            </a:endParaRPr>
          </a:p>
        </p:txBody>
      </p:sp>
      <p:sp>
        <p:nvSpPr>
          <p:cNvPr id="4" name="Step card 14"/>
          <p:cNvSpPr/>
          <p:nvPr/>
        </p:nvSpPr>
        <p:spPr>
          <a:xfrm>
            <a:off x="548640" y="1371600"/>
            <a:ext cx="2606040" cy="2240280"/>
          </a:xfrm>
          <a:prstGeom prst="roundRect">
            <a:avLst>
              <a:gd name="adj" fmla="val 6122"/>
            </a:avLst>
          </a:prstGeom>
          <a:solidFill>
            <a:schemeClr val="accent1">
              <a:alpha val="12000"/>
            </a:schemeClr>
          </a:solidFill>
        </p:spPr>
      </p:sp>
      <p:sp>
        <p:nvSpPr>
          <p:cNvPr id="5" name="Number badge 15"/>
          <p:cNvSpPr txBox="1"/>
          <p:nvPr/>
        </p:nvSpPr>
        <p:spPr>
          <a:xfrm>
            <a:off x="731520" y="1554480"/>
            <a:ext cx="548640" cy="548640"/>
          </a:xfrm>
          <a:prstGeom prst="ellipse">
            <a:avLst/>
          </a:prstGeom>
          <a:solidFill>
            <a:schemeClr val="accent1"/>
          </a:solidFill>
        </p:spPr>
        <p:txBody>
          <a:bodyPr wrap="square" lIns="0" tIns="0" rIns="0" bIns="0" rtlCol="0" anchor="ctr"/>
          <a:lstStyle/>
          <a:p>
            <a:pPr marL="0" indent="0" algn="ctr">
              <a:buNone/>
            </a:pPr>
            <a:r>
              <a:rPr lang="en-US" b="1" dirty="0">
                <a:solidFill>
                  <a:schemeClr val="bg1"/>
                </a:solidFill>
                <a:latin typeface="Times New Roman" panose="02020603050405020304" charset="0"/>
                <a:cs typeface="Times New Roman" panose="02020603050405020304" charset="0"/>
              </a:rPr>
              <a:t>1</a:t>
            </a:r>
            <a:endParaRPr lang="en-US" b="1" dirty="0">
              <a:solidFill>
                <a:schemeClr val="bg1"/>
              </a:solidFill>
              <a:latin typeface="Times New Roman" panose="02020603050405020304" charset="0"/>
              <a:cs typeface="Times New Roman" panose="02020603050405020304" charset="0"/>
            </a:endParaRPr>
          </a:p>
        </p:txBody>
      </p:sp>
      <p:sp>
        <p:nvSpPr>
          <p:cNvPr id="6" name="Text 16"/>
          <p:cNvSpPr txBox="1"/>
          <p:nvPr/>
        </p:nvSpPr>
        <p:spPr>
          <a:xfrm>
            <a:off x="1417320" y="1554480"/>
            <a:ext cx="1645920" cy="548640"/>
          </a:xfrm>
          <a:prstGeom prst="rect">
            <a:avLst/>
          </a:prstGeom>
          <a:noFill/>
        </p:spPr>
        <p:txBody>
          <a:bodyPr wrap="square" lIns="0" tIns="0" rIns="0" bIns="0" rtlCol="0" anchor="ctr"/>
          <a:lstStyle/>
          <a:p>
            <a:pPr marL="0" indent="0">
              <a:buNone/>
            </a:pPr>
            <a:r>
              <a:rPr lang="en-US" b="1" kern="0" spc="200" dirty="0">
                <a:solidFill>
                  <a:schemeClr val="accent1"/>
                </a:solidFill>
                <a:latin typeface="Times New Roman" panose="02020603050405020304" charset="0"/>
                <a:cs typeface="Times New Roman" panose="02020603050405020304" charset="0"/>
              </a:rPr>
              <a:t>SET UP</a:t>
            </a:r>
            <a:endParaRPr lang="en-US" b="1" kern="0" spc="200" dirty="0">
              <a:solidFill>
                <a:schemeClr val="accent1"/>
              </a:solidFill>
              <a:latin typeface="Times New Roman" panose="02020603050405020304" charset="0"/>
              <a:cs typeface="Times New Roman" panose="02020603050405020304" charset="0"/>
            </a:endParaRPr>
          </a:p>
        </p:txBody>
      </p:sp>
      <p:sp>
        <p:nvSpPr>
          <p:cNvPr id="7" name="Text 17"/>
          <p:cNvSpPr txBox="1"/>
          <p:nvPr/>
        </p:nvSpPr>
        <p:spPr>
          <a:xfrm>
            <a:off x="731520" y="2240280"/>
            <a:ext cx="2286000" cy="548640"/>
          </a:xfrm>
          <a:prstGeom prst="rect">
            <a:avLst/>
          </a:prstGeom>
          <a:noFill/>
        </p:spPr>
        <p:txBody>
          <a:bodyPr wrap="square" lIns="0" tIns="0" rIns="0" bIns="0" rtlCol="0" anchor="t"/>
          <a:lstStyle/>
          <a:p>
            <a:pPr marL="0" indent="0">
              <a:buNone/>
            </a:pPr>
            <a:r>
              <a:rPr lang="en-US" b="1" dirty="0">
                <a:solidFill>
                  <a:schemeClr val="tx1"/>
                </a:solidFill>
                <a:latin typeface="Times New Roman" panose="02020603050405020304" charset="0"/>
                <a:cs typeface="Times New Roman" panose="02020603050405020304" charset="0"/>
              </a:rPr>
              <a:t>Provide input files</a:t>
            </a:r>
            <a:endParaRPr lang="en-US" b="1" dirty="0">
              <a:solidFill>
                <a:schemeClr val="tx1"/>
              </a:solidFill>
              <a:latin typeface="Times New Roman" panose="02020603050405020304" charset="0"/>
              <a:cs typeface="Times New Roman" panose="02020603050405020304" charset="0"/>
            </a:endParaRPr>
          </a:p>
        </p:txBody>
      </p:sp>
      <p:sp>
        <p:nvSpPr>
          <p:cNvPr id="8" name="Text 18"/>
          <p:cNvSpPr txBox="1"/>
          <p:nvPr/>
        </p:nvSpPr>
        <p:spPr>
          <a:xfrm>
            <a:off x="731520" y="2788920"/>
            <a:ext cx="2286000" cy="73152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Resume PDFs plus one job description PDF</a:t>
            </a:r>
            <a:endParaRPr lang="en-US" dirty="0">
              <a:solidFill>
                <a:schemeClr val="tx2"/>
              </a:solidFill>
              <a:latin typeface="Times New Roman" panose="02020603050405020304" charset="0"/>
              <a:cs typeface="Times New Roman" panose="02020603050405020304" charset="0"/>
            </a:endParaRPr>
          </a:p>
        </p:txBody>
      </p:sp>
      <p:sp>
        <p:nvSpPr>
          <p:cNvPr id="9" name="Step card 19"/>
          <p:cNvSpPr/>
          <p:nvPr/>
        </p:nvSpPr>
        <p:spPr>
          <a:xfrm>
            <a:off x="3377154" y="1371600"/>
            <a:ext cx="2606040" cy="2240280"/>
          </a:xfrm>
          <a:prstGeom prst="roundRect">
            <a:avLst>
              <a:gd name="adj" fmla="val 6122"/>
            </a:avLst>
          </a:prstGeom>
          <a:solidFill>
            <a:schemeClr val="accent1">
              <a:alpha val="12000"/>
            </a:schemeClr>
          </a:solidFill>
        </p:spPr>
      </p:sp>
      <p:sp>
        <p:nvSpPr>
          <p:cNvPr id="10" name="Number badge 20"/>
          <p:cNvSpPr txBox="1"/>
          <p:nvPr/>
        </p:nvSpPr>
        <p:spPr>
          <a:xfrm>
            <a:off x="3560034" y="1554480"/>
            <a:ext cx="548640" cy="548640"/>
          </a:xfrm>
          <a:prstGeom prst="ellipse">
            <a:avLst/>
          </a:prstGeom>
          <a:solidFill>
            <a:schemeClr val="accent1"/>
          </a:solidFill>
        </p:spPr>
        <p:txBody>
          <a:bodyPr wrap="square" lIns="0" tIns="0" rIns="0" bIns="0" rtlCol="0" anchor="ctr"/>
          <a:lstStyle/>
          <a:p>
            <a:pPr marL="0" indent="0" algn="ctr">
              <a:buNone/>
            </a:pPr>
            <a:r>
              <a:rPr lang="en-US" b="1" dirty="0">
                <a:solidFill>
                  <a:schemeClr val="bg1"/>
                </a:solidFill>
                <a:latin typeface="Times New Roman" panose="02020603050405020304" charset="0"/>
                <a:cs typeface="Times New Roman" panose="02020603050405020304" charset="0"/>
              </a:rPr>
              <a:t>2</a:t>
            </a:r>
            <a:endParaRPr lang="en-US" b="1" dirty="0">
              <a:solidFill>
                <a:schemeClr val="bg1"/>
              </a:solidFill>
              <a:latin typeface="Times New Roman" panose="02020603050405020304" charset="0"/>
              <a:cs typeface="Times New Roman" panose="02020603050405020304" charset="0"/>
            </a:endParaRPr>
          </a:p>
        </p:txBody>
      </p:sp>
      <p:sp>
        <p:nvSpPr>
          <p:cNvPr id="11" name="Text 21"/>
          <p:cNvSpPr txBox="1"/>
          <p:nvPr/>
        </p:nvSpPr>
        <p:spPr>
          <a:xfrm>
            <a:off x="4245834" y="1554480"/>
            <a:ext cx="1645920" cy="548640"/>
          </a:xfrm>
          <a:prstGeom prst="rect">
            <a:avLst/>
          </a:prstGeom>
          <a:noFill/>
        </p:spPr>
        <p:txBody>
          <a:bodyPr wrap="square" lIns="0" tIns="0" rIns="0" bIns="0" rtlCol="0" anchor="ctr"/>
          <a:lstStyle/>
          <a:p>
            <a:pPr marL="0" indent="0">
              <a:buNone/>
            </a:pPr>
            <a:r>
              <a:rPr lang="en-US" b="1" kern="0" spc="200" dirty="0">
                <a:solidFill>
                  <a:schemeClr val="accent1"/>
                </a:solidFill>
                <a:latin typeface="Times New Roman" panose="02020603050405020304" charset="0"/>
                <a:cs typeface="Times New Roman" panose="02020603050405020304" charset="0"/>
              </a:rPr>
              <a:t>SET UP</a:t>
            </a:r>
            <a:endParaRPr lang="en-US" b="1" kern="0" spc="200" dirty="0">
              <a:solidFill>
                <a:schemeClr val="accent1"/>
              </a:solidFill>
              <a:latin typeface="Times New Roman" panose="02020603050405020304" charset="0"/>
              <a:cs typeface="Times New Roman" panose="02020603050405020304" charset="0"/>
            </a:endParaRPr>
          </a:p>
        </p:txBody>
      </p:sp>
      <p:sp>
        <p:nvSpPr>
          <p:cNvPr id="12" name="Text 22"/>
          <p:cNvSpPr txBox="1"/>
          <p:nvPr/>
        </p:nvSpPr>
        <p:spPr>
          <a:xfrm>
            <a:off x="3560034" y="2240280"/>
            <a:ext cx="2286000" cy="548640"/>
          </a:xfrm>
          <a:prstGeom prst="rect">
            <a:avLst/>
          </a:prstGeom>
          <a:noFill/>
        </p:spPr>
        <p:txBody>
          <a:bodyPr wrap="square" lIns="0" tIns="0" rIns="0" bIns="0" rtlCol="0" anchor="t"/>
          <a:lstStyle/>
          <a:p>
            <a:pPr marL="0" indent="0">
              <a:buNone/>
            </a:pPr>
            <a:r>
              <a:rPr lang="en-US" b="1" dirty="0">
                <a:solidFill>
                  <a:schemeClr val="tx1"/>
                </a:solidFill>
                <a:latin typeface="Times New Roman" panose="02020603050405020304" charset="0"/>
                <a:cs typeface="Times New Roman" panose="02020603050405020304" charset="0"/>
              </a:rPr>
              <a:t>Load config and validate</a:t>
            </a:r>
            <a:endParaRPr lang="en-US" b="1" dirty="0">
              <a:solidFill>
                <a:schemeClr val="tx1"/>
              </a:solidFill>
              <a:latin typeface="Times New Roman" panose="02020603050405020304" charset="0"/>
              <a:cs typeface="Times New Roman" panose="02020603050405020304" charset="0"/>
            </a:endParaRPr>
          </a:p>
        </p:txBody>
      </p:sp>
      <p:sp>
        <p:nvSpPr>
          <p:cNvPr id="13" name="Text 23"/>
          <p:cNvSpPr txBox="1"/>
          <p:nvPr/>
        </p:nvSpPr>
        <p:spPr>
          <a:xfrm>
            <a:off x="3560034" y="2788920"/>
            <a:ext cx="2286000" cy="73152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Read .env settings and check the paths exist</a:t>
            </a:r>
            <a:endParaRPr lang="en-US" dirty="0">
              <a:solidFill>
                <a:schemeClr val="tx2"/>
              </a:solidFill>
              <a:latin typeface="Times New Roman" panose="02020603050405020304" charset="0"/>
              <a:cs typeface="Times New Roman" panose="02020603050405020304" charset="0"/>
            </a:endParaRPr>
          </a:p>
        </p:txBody>
      </p:sp>
      <p:sp>
        <p:nvSpPr>
          <p:cNvPr id="14" name="Step card 24"/>
          <p:cNvSpPr/>
          <p:nvPr/>
        </p:nvSpPr>
        <p:spPr>
          <a:xfrm>
            <a:off x="6205667" y="1371600"/>
            <a:ext cx="2606040" cy="2240280"/>
          </a:xfrm>
          <a:prstGeom prst="roundRect">
            <a:avLst>
              <a:gd name="adj" fmla="val 6122"/>
            </a:avLst>
          </a:prstGeom>
          <a:solidFill>
            <a:schemeClr val="accent5">
              <a:alpha val="12000"/>
            </a:schemeClr>
          </a:solidFill>
        </p:spPr>
      </p:sp>
      <p:sp>
        <p:nvSpPr>
          <p:cNvPr id="15" name="Number badge 25"/>
          <p:cNvSpPr txBox="1"/>
          <p:nvPr/>
        </p:nvSpPr>
        <p:spPr>
          <a:xfrm>
            <a:off x="6388547" y="1554480"/>
            <a:ext cx="548640" cy="548640"/>
          </a:xfrm>
          <a:prstGeom prst="ellipse">
            <a:avLst/>
          </a:prstGeom>
          <a:solidFill>
            <a:schemeClr val="accent5"/>
          </a:solidFill>
        </p:spPr>
        <p:txBody>
          <a:bodyPr wrap="square" lIns="0" tIns="0" rIns="0" bIns="0" rtlCol="0" anchor="ctr"/>
          <a:lstStyle/>
          <a:p>
            <a:pPr marL="0" indent="0" algn="ctr">
              <a:buNone/>
            </a:pPr>
            <a:r>
              <a:rPr lang="en-US" b="1" dirty="0">
                <a:solidFill>
                  <a:schemeClr val="bg1"/>
                </a:solidFill>
                <a:latin typeface="Times New Roman" panose="02020603050405020304" charset="0"/>
                <a:cs typeface="Times New Roman" panose="02020603050405020304" charset="0"/>
              </a:rPr>
              <a:t>3</a:t>
            </a:r>
            <a:endParaRPr lang="en-US" b="1" dirty="0">
              <a:solidFill>
                <a:schemeClr val="bg1"/>
              </a:solidFill>
              <a:latin typeface="Times New Roman" panose="02020603050405020304" charset="0"/>
              <a:cs typeface="Times New Roman" panose="02020603050405020304" charset="0"/>
            </a:endParaRPr>
          </a:p>
        </p:txBody>
      </p:sp>
      <p:sp>
        <p:nvSpPr>
          <p:cNvPr id="16" name="Text 26"/>
          <p:cNvSpPr txBox="1"/>
          <p:nvPr/>
        </p:nvSpPr>
        <p:spPr>
          <a:xfrm>
            <a:off x="7074347" y="1554480"/>
            <a:ext cx="1645920" cy="548640"/>
          </a:xfrm>
          <a:prstGeom prst="rect">
            <a:avLst/>
          </a:prstGeom>
          <a:noFill/>
        </p:spPr>
        <p:txBody>
          <a:bodyPr wrap="square" lIns="0" tIns="0" rIns="0" bIns="0" rtlCol="0" anchor="ctr"/>
          <a:lstStyle/>
          <a:p>
            <a:pPr marL="0" indent="0">
              <a:buNone/>
            </a:pPr>
            <a:r>
              <a:rPr lang="en-US" b="1" kern="0" spc="200" dirty="0">
                <a:solidFill>
                  <a:schemeClr val="accent5"/>
                </a:solidFill>
                <a:latin typeface="Times New Roman" panose="02020603050405020304" charset="0"/>
                <a:cs typeface="Times New Roman" panose="02020603050405020304" charset="0"/>
              </a:rPr>
              <a:t>READ</a:t>
            </a:r>
            <a:endParaRPr lang="en-US" b="1" kern="0" spc="200" dirty="0">
              <a:solidFill>
                <a:schemeClr val="accent5"/>
              </a:solidFill>
              <a:latin typeface="Times New Roman" panose="02020603050405020304" charset="0"/>
              <a:cs typeface="Times New Roman" panose="02020603050405020304" charset="0"/>
            </a:endParaRPr>
          </a:p>
        </p:txBody>
      </p:sp>
      <p:sp>
        <p:nvSpPr>
          <p:cNvPr id="17" name="Text 27"/>
          <p:cNvSpPr txBox="1"/>
          <p:nvPr/>
        </p:nvSpPr>
        <p:spPr>
          <a:xfrm>
            <a:off x="6388735" y="2240280"/>
            <a:ext cx="2645410" cy="548640"/>
          </a:xfrm>
          <a:prstGeom prst="rect">
            <a:avLst/>
          </a:prstGeom>
          <a:noFill/>
        </p:spPr>
        <p:txBody>
          <a:bodyPr wrap="square" lIns="0" tIns="0" rIns="0" bIns="0" rtlCol="0" anchor="t"/>
          <a:lstStyle/>
          <a:p>
            <a:pPr marL="0" indent="0">
              <a:buNone/>
            </a:pPr>
            <a:r>
              <a:rPr lang="en-US" b="1" dirty="0">
                <a:solidFill>
                  <a:schemeClr val="tx1"/>
                </a:solidFill>
                <a:latin typeface="Times New Roman" panose="02020603050405020304" charset="0"/>
                <a:cs typeface="Times New Roman" panose="02020603050405020304" charset="0"/>
              </a:rPr>
              <a:t>Read the job description</a:t>
            </a:r>
            <a:endParaRPr lang="en-US" b="1" dirty="0">
              <a:solidFill>
                <a:schemeClr val="tx1"/>
              </a:solidFill>
              <a:latin typeface="Times New Roman" panose="02020603050405020304" charset="0"/>
              <a:cs typeface="Times New Roman" panose="02020603050405020304" charset="0"/>
            </a:endParaRPr>
          </a:p>
        </p:txBody>
      </p:sp>
      <p:sp>
        <p:nvSpPr>
          <p:cNvPr id="18" name="Text 28"/>
          <p:cNvSpPr txBox="1"/>
          <p:nvPr/>
        </p:nvSpPr>
        <p:spPr>
          <a:xfrm>
            <a:off x="6388547" y="2788920"/>
            <a:ext cx="2286000" cy="73152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Turn the job PDF into text; stop if it is empty</a:t>
            </a:r>
            <a:endParaRPr lang="en-US" dirty="0">
              <a:solidFill>
                <a:schemeClr val="tx2"/>
              </a:solidFill>
              <a:latin typeface="Times New Roman" panose="02020603050405020304" charset="0"/>
              <a:cs typeface="Times New Roman" panose="02020603050405020304" charset="0"/>
            </a:endParaRPr>
          </a:p>
        </p:txBody>
      </p:sp>
      <p:sp>
        <p:nvSpPr>
          <p:cNvPr id="19" name="Step card 29"/>
          <p:cNvSpPr/>
          <p:nvPr/>
        </p:nvSpPr>
        <p:spPr>
          <a:xfrm>
            <a:off x="9034181" y="1371600"/>
            <a:ext cx="2606040" cy="2240280"/>
          </a:xfrm>
          <a:prstGeom prst="roundRect">
            <a:avLst>
              <a:gd name="adj" fmla="val 6122"/>
            </a:avLst>
          </a:prstGeom>
          <a:solidFill>
            <a:schemeClr val="accent5">
              <a:alpha val="12000"/>
            </a:schemeClr>
          </a:solidFill>
        </p:spPr>
      </p:sp>
      <p:sp>
        <p:nvSpPr>
          <p:cNvPr id="20" name="Number badge 30"/>
          <p:cNvSpPr txBox="1"/>
          <p:nvPr/>
        </p:nvSpPr>
        <p:spPr>
          <a:xfrm>
            <a:off x="9217061" y="1554480"/>
            <a:ext cx="548640" cy="548640"/>
          </a:xfrm>
          <a:prstGeom prst="ellipse">
            <a:avLst/>
          </a:prstGeom>
          <a:solidFill>
            <a:schemeClr val="accent5"/>
          </a:solidFill>
        </p:spPr>
        <p:txBody>
          <a:bodyPr wrap="square" lIns="0" tIns="0" rIns="0" bIns="0" rtlCol="0" anchor="ctr"/>
          <a:lstStyle/>
          <a:p>
            <a:pPr marL="0" indent="0" algn="ctr">
              <a:buNone/>
            </a:pPr>
            <a:r>
              <a:rPr lang="en-US" b="1" dirty="0">
                <a:solidFill>
                  <a:schemeClr val="bg1"/>
                </a:solidFill>
                <a:latin typeface="Times New Roman" panose="02020603050405020304" charset="0"/>
                <a:cs typeface="Times New Roman" panose="02020603050405020304" charset="0"/>
              </a:rPr>
              <a:t>4</a:t>
            </a:r>
            <a:endParaRPr lang="en-US" b="1" dirty="0">
              <a:solidFill>
                <a:schemeClr val="bg1"/>
              </a:solidFill>
              <a:latin typeface="Times New Roman" panose="02020603050405020304" charset="0"/>
              <a:cs typeface="Times New Roman" panose="02020603050405020304" charset="0"/>
            </a:endParaRPr>
          </a:p>
        </p:txBody>
      </p:sp>
      <p:sp>
        <p:nvSpPr>
          <p:cNvPr id="21" name="Text 31"/>
          <p:cNvSpPr txBox="1"/>
          <p:nvPr/>
        </p:nvSpPr>
        <p:spPr>
          <a:xfrm>
            <a:off x="9902861" y="1554480"/>
            <a:ext cx="1645920" cy="548640"/>
          </a:xfrm>
          <a:prstGeom prst="rect">
            <a:avLst/>
          </a:prstGeom>
          <a:noFill/>
        </p:spPr>
        <p:txBody>
          <a:bodyPr wrap="square" lIns="0" tIns="0" rIns="0" bIns="0" rtlCol="0" anchor="ctr"/>
          <a:lstStyle/>
          <a:p>
            <a:pPr marL="0" indent="0">
              <a:buNone/>
            </a:pPr>
            <a:r>
              <a:rPr lang="en-US" b="1" kern="0" spc="200" dirty="0">
                <a:solidFill>
                  <a:schemeClr val="accent5"/>
                </a:solidFill>
                <a:latin typeface="Times New Roman" panose="02020603050405020304" charset="0"/>
                <a:cs typeface="Times New Roman" panose="02020603050405020304" charset="0"/>
              </a:rPr>
              <a:t>READ</a:t>
            </a:r>
            <a:endParaRPr lang="en-US" b="1" kern="0" spc="200" dirty="0">
              <a:solidFill>
                <a:schemeClr val="accent5"/>
              </a:solidFill>
              <a:latin typeface="Times New Roman" panose="02020603050405020304" charset="0"/>
              <a:cs typeface="Times New Roman" panose="02020603050405020304" charset="0"/>
            </a:endParaRPr>
          </a:p>
        </p:txBody>
      </p:sp>
      <p:sp>
        <p:nvSpPr>
          <p:cNvPr id="22" name="Text 32"/>
          <p:cNvSpPr txBox="1"/>
          <p:nvPr/>
        </p:nvSpPr>
        <p:spPr>
          <a:xfrm>
            <a:off x="9217025" y="2240280"/>
            <a:ext cx="2423795" cy="548640"/>
          </a:xfrm>
          <a:prstGeom prst="rect">
            <a:avLst/>
          </a:prstGeom>
          <a:noFill/>
        </p:spPr>
        <p:txBody>
          <a:bodyPr wrap="square" lIns="0" tIns="0" rIns="0" bIns="0" rtlCol="0" anchor="t"/>
          <a:lstStyle/>
          <a:p>
            <a:pPr marL="0" indent="0">
              <a:buNone/>
            </a:pPr>
            <a:r>
              <a:rPr lang="en-US" b="1" dirty="0">
                <a:solidFill>
                  <a:schemeClr val="tx1"/>
                </a:solidFill>
                <a:latin typeface="Times New Roman" panose="02020603050405020304" charset="0"/>
                <a:cs typeface="Times New Roman" panose="02020603050405020304" charset="0"/>
              </a:rPr>
              <a:t>Find and read </a:t>
            </a:r>
            <a:r>
              <a:rPr lang="en-IN" altLang="en-US" b="1" dirty="0">
                <a:solidFill>
                  <a:schemeClr val="tx1"/>
                </a:solidFill>
                <a:latin typeface="Times New Roman" panose="02020603050405020304" charset="0"/>
                <a:cs typeface="Times New Roman" panose="02020603050405020304" charset="0"/>
              </a:rPr>
              <a:t>resumes</a:t>
            </a:r>
            <a:endParaRPr lang="en-IN" altLang="en-US" b="1" dirty="0">
              <a:solidFill>
                <a:schemeClr val="tx1"/>
              </a:solidFill>
              <a:latin typeface="Times New Roman" panose="02020603050405020304" charset="0"/>
              <a:cs typeface="Times New Roman" panose="02020603050405020304" charset="0"/>
            </a:endParaRPr>
          </a:p>
        </p:txBody>
      </p:sp>
      <p:sp>
        <p:nvSpPr>
          <p:cNvPr id="23" name="Text 33"/>
          <p:cNvSpPr txBox="1"/>
          <p:nvPr/>
        </p:nvSpPr>
        <p:spPr>
          <a:xfrm>
            <a:off x="9217061" y="2788920"/>
            <a:ext cx="2286000" cy="73152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List the PDFs, then extract text one resume at a time</a:t>
            </a:r>
            <a:endParaRPr lang="en-US" dirty="0">
              <a:solidFill>
                <a:schemeClr val="tx2"/>
              </a:solidFill>
              <a:latin typeface="Times New Roman" panose="02020603050405020304" charset="0"/>
              <a:cs typeface="Times New Roman" panose="02020603050405020304" charset="0"/>
            </a:endParaRPr>
          </a:p>
        </p:txBody>
      </p:sp>
      <p:sp>
        <p:nvSpPr>
          <p:cNvPr id="24" name="Step card 34"/>
          <p:cNvSpPr/>
          <p:nvPr/>
        </p:nvSpPr>
        <p:spPr>
          <a:xfrm>
            <a:off x="548640" y="3794760"/>
            <a:ext cx="2606040" cy="2240280"/>
          </a:xfrm>
          <a:prstGeom prst="roundRect">
            <a:avLst>
              <a:gd name="adj" fmla="val 6122"/>
            </a:avLst>
          </a:prstGeom>
          <a:solidFill>
            <a:schemeClr val="accent6">
              <a:alpha val="12000"/>
            </a:schemeClr>
          </a:solidFill>
        </p:spPr>
      </p:sp>
      <p:sp>
        <p:nvSpPr>
          <p:cNvPr id="25" name="Number badge 35"/>
          <p:cNvSpPr txBox="1"/>
          <p:nvPr/>
        </p:nvSpPr>
        <p:spPr>
          <a:xfrm>
            <a:off x="731520" y="3977640"/>
            <a:ext cx="548640" cy="548640"/>
          </a:xfrm>
          <a:prstGeom prst="ellipse">
            <a:avLst/>
          </a:prstGeom>
          <a:solidFill>
            <a:schemeClr val="accent6"/>
          </a:solidFill>
        </p:spPr>
        <p:txBody>
          <a:bodyPr wrap="square" lIns="0" tIns="0" rIns="0" bIns="0" rtlCol="0" anchor="ctr"/>
          <a:lstStyle/>
          <a:p>
            <a:pPr marL="0" indent="0" algn="ctr">
              <a:buNone/>
            </a:pPr>
            <a:r>
              <a:rPr lang="en-US" b="1" dirty="0">
                <a:solidFill>
                  <a:schemeClr val="bg1"/>
                </a:solidFill>
                <a:latin typeface="Times New Roman" panose="02020603050405020304" charset="0"/>
                <a:cs typeface="Times New Roman" panose="02020603050405020304" charset="0"/>
              </a:rPr>
              <a:t>5</a:t>
            </a:r>
            <a:endParaRPr lang="en-US" b="1" dirty="0">
              <a:solidFill>
                <a:schemeClr val="bg1"/>
              </a:solidFill>
              <a:latin typeface="Times New Roman" panose="02020603050405020304" charset="0"/>
              <a:cs typeface="Times New Roman" panose="02020603050405020304" charset="0"/>
            </a:endParaRPr>
          </a:p>
        </p:txBody>
      </p:sp>
      <p:sp>
        <p:nvSpPr>
          <p:cNvPr id="26" name="Text 36"/>
          <p:cNvSpPr txBox="1"/>
          <p:nvPr/>
        </p:nvSpPr>
        <p:spPr>
          <a:xfrm>
            <a:off x="1417320" y="3977640"/>
            <a:ext cx="1645920" cy="548640"/>
          </a:xfrm>
          <a:prstGeom prst="rect">
            <a:avLst/>
          </a:prstGeom>
          <a:noFill/>
        </p:spPr>
        <p:txBody>
          <a:bodyPr wrap="square" lIns="0" tIns="0" rIns="0" bIns="0" rtlCol="0" anchor="ctr"/>
          <a:lstStyle/>
          <a:p>
            <a:pPr marL="0" indent="0">
              <a:buNone/>
            </a:pPr>
            <a:r>
              <a:rPr lang="en-US" b="1" kern="0" spc="200" dirty="0">
                <a:solidFill>
                  <a:schemeClr val="accent6"/>
                </a:solidFill>
                <a:latin typeface="Times New Roman" panose="02020603050405020304" charset="0"/>
                <a:cs typeface="Times New Roman" panose="02020603050405020304" charset="0"/>
              </a:rPr>
              <a:t>ANALYSE</a:t>
            </a:r>
            <a:endParaRPr lang="en-US" b="1" kern="0" spc="200" dirty="0">
              <a:solidFill>
                <a:schemeClr val="accent6"/>
              </a:solidFill>
              <a:latin typeface="Times New Roman" panose="02020603050405020304" charset="0"/>
              <a:cs typeface="Times New Roman" panose="02020603050405020304" charset="0"/>
            </a:endParaRPr>
          </a:p>
        </p:txBody>
      </p:sp>
      <p:sp>
        <p:nvSpPr>
          <p:cNvPr id="27" name="Text 37"/>
          <p:cNvSpPr txBox="1"/>
          <p:nvPr/>
        </p:nvSpPr>
        <p:spPr>
          <a:xfrm>
            <a:off x="731520" y="4663440"/>
            <a:ext cx="2286000" cy="548640"/>
          </a:xfrm>
          <a:prstGeom prst="rect">
            <a:avLst/>
          </a:prstGeom>
          <a:noFill/>
        </p:spPr>
        <p:txBody>
          <a:bodyPr wrap="square" lIns="0" tIns="0" rIns="0" bIns="0" rtlCol="0" anchor="t"/>
          <a:lstStyle/>
          <a:p>
            <a:pPr marL="0" indent="0">
              <a:buNone/>
            </a:pPr>
            <a:r>
              <a:rPr lang="en-US" b="1" dirty="0">
                <a:solidFill>
                  <a:schemeClr val="tx1"/>
                </a:solidFill>
                <a:latin typeface="Times New Roman" panose="02020603050405020304" charset="0"/>
                <a:cs typeface="Times New Roman" panose="02020603050405020304" charset="0"/>
              </a:rPr>
              <a:t>Extract candidate details</a:t>
            </a:r>
            <a:endParaRPr lang="en-US" b="1" dirty="0">
              <a:solidFill>
                <a:schemeClr val="tx1"/>
              </a:solidFill>
              <a:latin typeface="Times New Roman" panose="02020603050405020304" charset="0"/>
              <a:cs typeface="Times New Roman" panose="02020603050405020304" charset="0"/>
            </a:endParaRPr>
          </a:p>
        </p:txBody>
      </p:sp>
      <p:sp>
        <p:nvSpPr>
          <p:cNvPr id="28" name="Text 38"/>
          <p:cNvSpPr txBox="1"/>
          <p:nvPr/>
        </p:nvSpPr>
        <p:spPr>
          <a:xfrm>
            <a:off x="731520" y="5212080"/>
            <a:ext cx="2286000" cy="73152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The LLM pulls name, contact, skills, education and experience</a:t>
            </a:r>
            <a:endParaRPr lang="en-US" dirty="0">
              <a:solidFill>
                <a:schemeClr val="tx2"/>
              </a:solidFill>
              <a:latin typeface="Times New Roman" panose="02020603050405020304" charset="0"/>
              <a:cs typeface="Times New Roman" panose="02020603050405020304" charset="0"/>
            </a:endParaRPr>
          </a:p>
        </p:txBody>
      </p:sp>
      <p:sp>
        <p:nvSpPr>
          <p:cNvPr id="29" name="Step card 39"/>
          <p:cNvSpPr/>
          <p:nvPr/>
        </p:nvSpPr>
        <p:spPr>
          <a:xfrm>
            <a:off x="3377154" y="3794760"/>
            <a:ext cx="2606040" cy="2240280"/>
          </a:xfrm>
          <a:prstGeom prst="roundRect">
            <a:avLst>
              <a:gd name="adj" fmla="val 6122"/>
            </a:avLst>
          </a:prstGeom>
          <a:solidFill>
            <a:schemeClr val="accent6">
              <a:alpha val="12000"/>
            </a:schemeClr>
          </a:solidFill>
        </p:spPr>
      </p:sp>
      <p:sp>
        <p:nvSpPr>
          <p:cNvPr id="30" name="Number badge 40"/>
          <p:cNvSpPr txBox="1"/>
          <p:nvPr/>
        </p:nvSpPr>
        <p:spPr>
          <a:xfrm>
            <a:off x="3560034" y="3977640"/>
            <a:ext cx="548640" cy="548640"/>
          </a:xfrm>
          <a:prstGeom prst="ellipse">
            <a:avLst/>
          </a:prstGeom>
          <a:solidFill>
            <a:schemeClr val="accent6"/>
          </a:solidFill>
        </p:spPr>
        <p:txBody>
          <a:bodyPr wrap="square" lIns="0" tIns="0" rIns="0" bIns="0" rtlCol="0" anchor="ctr"/>
          <a:lstStyle/>
          <a:p>
            <a:pPr marL="0" indent="0" algn="ctr">
              <a:buNone/>
            </a:pPr>
            <a:r>
              <a:rPr lang="en-US" b="1" dirty="0">
                <a:solidFill>
                  <a:schemeClr val="bg1"/>
                </a:solidFill>
                <a:latin typeface="Times New Roman" panose="02020603050405020304" charset="0"/>
                <a:cs typeface="Times New Roman" panose="02020603050405020304" charset="0"/>
              </a:rPr>
              <a:t>6</a:t>
            </a:r>
            <a:endParaRPr lang="en-US" b="1" dirty="0">
              <a:solidFill>
                <a:schemeClr val="bg1"/>
              </a:solidFill>
              <a:latin typeface="Times New Roman" panose="02020603050405020304" charset="0"/>
              <a:cs typeface="Times New Roman" panose="02020603050405020304" charset="0"/>
            </a:endParaRPr>
          </a:p>
        </p:txBody>
      </p:sp>
      <p:sp>
        <p:nvSpPr>
          <p:cNvPr id="31" name="Text 41"/>
          <p:cNvSpPr txBox="1"/>
          <p:nvPr/>
        </p:nvSpPr>
        <p:spPr>
          <a:xfrm>
            <a:off x="4245834" y="3977640"/>
            <a:ext cx="1645920" cy="548640"/>
          </a:xfrm>
          <a:prstGeom prst="rect">
            <a:avLst/>
          </a:prstGeom>
          <a:noFill/>
        </p:spPr>
        <p:txBody>
          <a:bodyPr wrap="square" lIns="0" tIns="0" rIns="0" bIns="0" rtlCol="0" anchor="ctr"/>
          <a:lstStyle/>
          <a:p>
            <a:pPr marL="0" indent="0">
              <a:buNone/>
            </a:pPr>
            <a:r>
              <a:rPr lang="en-US" b="1" kern="0" spc="200" dirty="0">
                <a:solidFill>
                  <a:schemeClr val="accent6"/>
                </a:solidFill>
                <a:latin typeface="Times New Roman" panose="02020603050405020304" charset="0"/>
                <a:cs typeface="Times New Roman" panose="02020603050405020304" charset="0"/>
              </a:rPr>
              <a:t>ANALYSE</a:t>
            </a:r>
            <a:endParaRPr lang="en-US" b="1" kern="0" spc="200" dirty="0">
              <a:solidFill>
                <a:schemeClr val="accent6"/>
              </a:solidFill>
              <a:latin typeface="Times New Roman" panose="02020603050405020304" charset="0"/>
              <a:cs typeface="Times New Roman" panose="02020603050405020304" charset="0"/>
            </a:endParaRPr>
          </a:p>
        </p:txBody>
      </p:sp>
      <p:sp>
        <p:nvSpPr>
          <p:cNvPr id="32" name="Text 42"/>
          <p:cNvSpPr txBox="1"/>
          <p:nvPr/>
        </p:nvSpPr>
        <p:spPr>
          <a:xfrm>
            <a:off x="3560034" y="4663440"/>
            <a:ext cx="2286000" cy="548640"/>
          </a:xfrm>
          <a:prstGeom prst="rect">
            <a:avLst/>
          </a:prstGeom>
          <a:noFill/>
        </p:spPr>
        <p:txBody>
          <a:bodyPr wrap="square" lIns="0" tIns="0" rIns="0" bIns="0" rtlCol="0" anchor="t"/>
          <a:lstStyle/>
          <a:p>
            <a:pPr marL="0" indent="0">
              <a:buNone/>
            </a:pPr>
            <a:r>
              <a:rPr lang="en-US" b="1" dirty="0">
                <a:solidFill>
                  <a:schemeClr val="tx1"/>
                </a:solidFill>
                <a:latin typeface="Times New Roman" panose="02020603050405020304" charset="0"/>
                <a:cs typeface="Times New Roman" panose="02020603050405020304" charset="0"/>
              </a:rPr>
              <a:t>Match resume to job</a:t>
            </a:r>
            <a:endParaRPr lang="en-US" b="1" dirty="0">
              <a:solidFill>
                <a:schemeClr val="tx1"/>
              </a:solidFill>
              <a:latin typeface="Times New Roman" panose="02020603050405020304" charset="0"/>
              <a:cs typeface="Times New Roman" panose="02020603050405020304" charset="0"/>
            </a:endParaRPr>
          </a:p>
        </p:txBody>
      </p:sp>
      <p:sp>
        <p:nvSpPr>
          <p:cNvPr id="33" name="Text 43"/>
          <p:cNvSpPr txBox="1"/>
          <p:nvPr/>
        </p:nvSpPr>
        <p:spPr>
          <a:xfrm>
            <a:off x="3560034" y="5212080"/>
            <a:ext cx="2286000" cy="73152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The LLM scores the resume against the job, out of 100</a:t>
            </a:r>
            <a:endParaRPr lang="en-US" dirty="0">
              <a:solidFill>
                <a:schemeClr val="tx2"/>
              </a:solidFill>
              <a:latin typeface="Times New Roman" panose="02020603050405020304" charset="0"/>
              <a:cs typeface="Times New Roman" panose="02020603050405020304" charset="0"/>
            </a:endParaRPr>
          </a:p>
        </p:txBody>
      </p:sp>
      <p:sp>
        <p:nvSpPr>
          <p:cNvPr id="34" name="Step card 44"/>
          <p:cNvSpPr/>
          <p:nvPr/>
        </p:nvSpPr>
        <p:spPr>
          <a:xfrm>
            <a:off x="6205667" y="3794760"/>
            <a:ext cx="2606040" cy="2240280"/>
          </a:xfrm>
          <a:prstGeom prst="roundRect">
            <a:avLst>
              <a:gd name="adj" fmla="val 6122"/>
            </a:avLst>
          </a:prstGeom>
          <a:solidFill>
            <a:schemeClr val="accent2">
              <a:alpha val="12000"/>
            </a:schemeClr>
          </a:solidFill>
        </p:spPr>
      </p:sp>
      <p:sp>
        <p:nvSpPr>
          <p:cNvPr id="35" name="Number badge 45"/>
          <p:cNvSpPr txBox="1"/>
          <p:nvPr/>
        </p:nvSpPr>
        <p:spPr>
          <a:xfrm>
            <a:off x="6388547" y="3977640"/>
            <a:ext cx="548640" cy="548640"/>
          </a:xfrm>
          <a:prstGeom prst="ellipse">
            <a:avLst/>
          </a:prstGeom>
          <a:solidFill>
            <a:schemeClr val="accent2"/>
          </a:solidFill>
        </p:spPr>
        <p:txBody>
          <a:bodyPr wrap="square" lIns="0" tIns="0" rIns="0" bIns="0" rtlCol="0" anchor="ctr"/>
          <a:lstStyle/>
          <a:p>
            <a:pPr marL="0" indent="0" algn="ctr">
              <a:buNone/>
            </a:pPr>
            <a:r>
              <a:rPr lang="en-US" b="1" dirty="0">
                <a:solidFill>
                  <a:schemeClr val="bg1"/>
                </a:solidFill>
                <a:latin typeface="Times New Roman" panose="02020603050405020304" charset="0"/>
                <a:cs typeface="Times New Roman" panose="02020603050405020304" charset="0"/>
              </a:rPr>
              <a:t>7</a:t>
            </a:r>
            <a:endParaRPr lang="en-US" b="1" dirty="0">
              <a:solidFill>
                <a:schemeClr val="bg1"/>
              </a:solidFill>
              <a:latin typeface="Times New Roman" panose="02020603050405020304" charset="0"/>
              <a:cs typeface="Times New Roman" panose="02020603050405020304" charset="0"/>
            </a:endParaRPr>
          </a:p>
        </p:txBody>
      </p:sp>
      <p:sp>
        <p:nvSpPr>
          <p:cNvPr id="36" name="Text 46"/>
          <p:cNvSpPr txBox="1"/>
          <p:nvPr/>
        </p:nvSpPr>
        <p:spPr>
          <a:xfrm>
            <a:off x="7074347" y="3977640"/>
            <a:ext cx="1645920" cy="548640"/>
          </a:xfrm>
          <a:prstGeom prst="rect">
            <a:avLst/>
          </a:prstGeom>
          <a:noFill/>
        </p:spPr>
        <p:txBody>
          <a:bodyPr wrap="square" lIns="0" tIns="0" rIns="0" bIns="0" rtlCol="0" anchor="ctr"/>
          <a:lstStyle/>
          <a:p>
            <a:pPr marL="0" indent="0">
              <a:buNone/>
            </a:pPr>
            <a:r>
              <a:rPr lang="en-US" b="1" kern="0" spc="200" dirty="0">
                <a:solidFill>
                  <a:schemeClr val="accent2"/>
                </a:solidFill>
                <a:latin typeface="Times New Roman" panose="02020603050405020304" charset="0"/>
                <a:cs typeface="Times New Roman" panose="02020603050405020304" charset="0"/>
              </a:rPr>
              <a:t>DELIVER</a:t>
            </a:r>
            <a:endParaRPr lang="en-US" b="1" kern="0" spc="200" dirty="0">
              <a:solidFill>
                <a:schemeClr val="accent2"/>
              </a:solidFill>
              <a:latin typeface="Times New Roman" panose="02020603050405020304" charset="0"/>
              <a:cs typeface="Times New Roman" panose="02020603050405020304" charset="0"/>
            </a:endParaRPr>
          </a:p>
        </p:txBody>
      </p:sp>
      <p:sp>
        <p:nvSpPr>
          <p:cNvPr id="37" name="Text 47"/>
          <p:cNvSpPr txBox="1"/>
          <p:nvPr/>
        </p:nvSpPr>
        <p:spPr>
          <a:xfrm>
            <a:off x="6388547" y="4663440"/>
            <a:ext cx="2286000" cy="548640"/>
          </a:xfrm>
          <a:prstGeom prst="rect">
            <a:avLst/>
          </a:prstGeom>
          <a:noFill/>
        </p:spPr>
        <p:txBody>
          <a:bodyPr wrap="square" lIns="0" tIns="0" rIns="0" bIns="0" rtlCol="0" anchor="t"/>
          <a:lstStyle/>
          <a:p>
            <a:pPr marL="0" indent="0">
              <a:buNone/>
            </a:pPr>
            <a:r>
              <a:rPr lang="en-US" b="1" dirty="0">
                <a:solidFill>
                  <a:schemeClr val="tx1"/>
                </a:solidFill>
                <a:latin typeface="Times New Roman" panose="02020603050405020304" charset="0"/>
                <a:cs typeface="Times New Roman" panose="02020603050405020304" charset="0"/>
              </a:rPr>
              <a:t>Rank candidates</a:t>
            </a:r>
            <a:endParaRPr lang="en-US" b="1" dirty="0">
              <a:solidFill>
                <a:schemeClr val="tx1"/>
              </a:solidFill>
              <a:latin typeface="Times New Roman" panose="02020603050405020304" charset="0"/>
              <a:cs typeface="Times New Roman" panose="02020603050405020304" charset="0"/>
            </a:endParaRPr>
          </a:p>
        </p:txBody>
      </p:sp>
      <p:sp>
        <p:nvSpPr>
          <p:cNvPr id="38" name="Text 48"/>
          <p:cNvSpPr txBox="1"/>
          <p:nvPr/>
        </p:nvSpPr>
        <p:spPr>
          <a:xfrm>
            <a:off x="6388547" y="5212080"/>
            <a:ext cx="2286000" cy="73152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Sort by score, then name, then filename</a:t>
            </a:r>
            <a:endParaRPr lang="en-US" dirty="0">
              <a:solidFill>
                <a:schemeClr val="tx2"/>
              </a:solidFill>
              <a:latin typeface="Times New Roman" panose="02020603050405020304" charset="0"/>
              <a:cs typeface="Times New Roman" panose="02020603050405020304" charset="0"/>
            </a:endParaRPr>
          </a:p>
        </p:txBody>
      </p:sp>
      <p:sp>
        <p:nvSpPr>
          <p:cNvPr id="39" name="Step card 49"/>
          <p:cNvSpPr/>
          <p:nvPr/>
        </p:nvSpPr>
        <p:spPr>
          <a:xfrm>
            <a:off x="9034181" y="3794760"/>
            <a:ext cx="2606040" cy="2240280"/>
          </a:xfrm>
          <a:prstGeom prst="roundRect">
            <a:avLst>
              <a:gd name="adj" fmla="val 6122"/>
            </a:avLst>
          </a:prstGeom>
          <a:solidFill>
            <a:schemeClr val="accent2">
              <a:alpha val="12000"/>
            </a:schemeClr>
          </a:solidFill>
        </p:spPr>
      </p:sp>
      <p:sp>
        <p:nvSpPr>
          <p:cNvPr id="40" name="Number badge 50"/>
          <p:cNvSpPr txBox="1"/>
          <p:nvPr/>
        </p:nvSpPr>
        <p:spPr>
          <a:xfrm>
            <a:off x="9217061" y="3977640"/>
            <a:ext cx="548640" cy="548640"/>
          </a:xfrm>
          <a:prstGeom prst="ellipse">
            <a:avLst/>
          </a:prstGeom>
          <a:solidFill>
            <a:schemeClr val="accent2"/>
          </a:solidFill>
        </p:spPr>
        <p:txBody>
          <a:bodyPr wrap="square" lIns="0" tIns="0" rIns="0" bIns="0" rtlCol="0" anchor="ctr"/>
          <a:lstStyle/>
          <a:p>
            <a:pPr marL="0" indent="0" algn="ctr">
              <a:buNone/>
            </a:pPr>
            <a:r>
              <a:rPr lang="en-US" b="1" dirty="0">
                <a:solidFill>
                  <a:schemeClr val="bg1"/>
                </a:solidFill>
                <a:latin typeface="Times New Roman" panose="02020603050405020304" charset="0"/>
                <a:cs typeface="Times New Roman" panose="02020603050405020304" charset="0"/>
              </a:rPr>
              <a:t>8</a:t>
            </a:r>
            <a:endParaRPr lang="en-US" b="1" dirty="0">
              <a:solidFill>
                <a:schemeClr val="bg1"/>
              </a:solidFill>
              <a:latin typeface="Times New Roman" panose="02020603050405020304" charset="0"/>
              <a:cs typeface="Times New Roman" panose="02020603050405020304" charset="0"/>
            </a:endParaRPr>
          </a:p>
        </p:txBody>
      </p:sp>
      <p:sp>
        <p:nvSpPr>
          <p:cNvPr id="41" name="Text 51"/>
          <p:cNvSpPr txBox="1"/>
          <p:nvPr/>
        </p:nvSpPr>
        <p:spPr>
          <a:xfrm>
            <a:off x="9902861" y="3977640"/>
            <a:ext cx="1645920" cy="548640"/>
          </a:xfrm>
          <a:prstGeom prst="rect">
            <a:avLst/>
          </a:prstGeom>
          <a:noFill/>
        </p:spPr>
        <p:txBody>
          <a:bodyPr wrap="square" lIns="0" tIns="0" rIns="0" bIns="0" rtlCol="0" anchor="ctr"/>
          <a:lstStyle/>
          <a:p>
            <a:pPr marL="0" indent="0">
              <a:buNone/>
            </a:pPr>
            <a:r>
              <a:rPr lang="en-US" b="1" kern="0" spc="200" dirty="0">
                <a:solidFill>
                  <a:schemeClr val="accent2"/>
                </a:solidFill>
                <a:latin typeface="Times New Roman" panose="02020603050405020304" charset="0"/>
                <a:cs typeface="Times New Roman" panose="02020603050405020304" charset="0"/>
              </a:rPr>
              <a:t>DELIVER</a:t>
            </a:r>
            <a:endParaRPr lang="en-US" b="1" kern="0" spc="200" dirty="0">
              <a:solidFill>
                <a:schemeClr val="accent2"/>
              </a:solidFill>
              <a:latin typeface="Times New Roman" panose="02020603050405020304" charset="0"/>
              <a:cs typeface="Times New Roman" panose="02020603050405020304" charset="0"/>
            </a:endParaRPr>
          </a:p>
        </p:txBody>
      </p:sp>
      <p:sp>
        <p:nvSpPr>
          <p:cNvPr id="42" name="Text 52"/>
          <p:cNvSpPr txBox="1"/>
          <p:nvPr/>
        </p:nvSpPr>
        <p:spPr>
          <a:xfrm>
            <a:off x="9217061" y="4663440"/>
            <a:ext cx="2286000" cy="548640"/>
          </a:xfrm>
          <a:prstGeom prst="rect">
            <a:avLst/>
          </a:prstGeom>
          <a:noFill/>
        </p:spPr>
        <p:txBody>
          <a:bodyPr wrap="square" lIns="0" tIns="0" rIns="0" bIns="0" rtlCol="0" anchor="t"/>
          <a:lstStyle/>
          <a:p>
            <a:pPr marL="0" indent="0">
              <a:buNone/>
            </a:pPr>
            <a:r>
              <a:rPr lang="en-US" b="1" dirty="0">
                <a:solidFill>
                  <a:schemeClr val="tx1"/>
                </a:solidFill>
                <a:latin typeface="Times New Roman" panose="02020603050405020304" charset="0"/>
                <a:cs typeface="Times New Roman" panose="02020603050405020304" charset="0"/>
              </a:rPr>
              <a:t>Save results</a:t>
            </a:r>
            <a:endParaRPr lang="en-US" b="1" dirty="0">
              <a:solidFill>
                <a:schemeClr val="tx1"/>
              </a:solidFill>
              <a:latin typeface="Times New Roman" panose="02020603050405020304" charset="0"/>
              <a:cs typeface="Times New Roman" panose="02020603050405020304" charset="0"/>
            </a:endParaRPr>
          </a:p>
        </p:txBody>
      </p:sp>
      <p:sp>
        <p:nvSpPr>
          <p:cNvPr id="43" name="Text 53"/>
          <p:cNvSpPr txBox="1"/>
          <p:nvPr/>
        </p:nvSpPr>
        <p:spPr>
          <a:xfrm>
            <a:off x="9217061" y="5212080"/>
            <a:ext cx="2286000" cy="73152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Write a results CSV and an error CSV</a:t>
            </a:r>
            <a:endParaRPr lang="en-US" dirty="0">
              <a:solidFill>
                <a:schemeClr val="tx2"/>
              </a:solidFill>
              <a:latin typeface="Times New Roman" panose="02020603050405020304" charset="0"/>
              <a:cs typeface="Times New Roman" panose="02020603050405020304" charset="0"/>
            </a:endParaRPr>
          </a:p>
        </p:txBody>
      </p:sp>
      <p:sp>
        <p:nvSpPr>
          <p:cNvPr id="44"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sz="1800" b="0">
                <a:latin typeface="Times New Roman" panose="02020603050405020304" charset="0"/>
                <a:cs typeface="Times New Roman" panose="02020603050405020304" charset="0"/>
              </a:rPr>
            </a:fld>
            <a:endParaRPr lang="en-US" sz="1800" b="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idx="100"/>
          </p:nvPr>
        </p:nvSpPr>
        <p:spPr/>
        <p:txBody>
          <a:bodyPr/>
          <a:p>
            <a:endParaRPr lang="en-US"/>
          </a:p>
        </p:txBody>
      </p:sp>
      <p:sp>
        <p:nvSpPr>
          <p:cNvPr id="3" name="Text 0"/>
          <p:cNvSpPr/>
          <p:nvPr/>
        </p:nvSpPr>
        <p:spPr>
          <a:xfrm>
            <a:off x="548640" y="365760"/>
            <a:ext cx="11091672" cy="777240"/>
          </a:xfrm>
          <a:prstGeom prst="rect">
            <a:avLst/>
          </a:prstGeom>
          <a:noFill/>
        </p:spPr>
        <p:txBody>
          <a:bodyPr wrap="square" lIns="0" tIns="0" rIns="0" bIns="0" rtlCol="0" anchor="ctr"/>
          <a:lstStyle>
            <a:lvl1pPr marL="0" indent="0" algn="l" defTabSz="914400" rtl="0" eaLnBrk="1" latinLnBrk="0" hangingPunct="1">
              <a:spcBef>
                <a:spcPct val="0"/>
              </a:spcBef>
              <a:buNone/>
              <a:defRPr lang="en-US" sz="3400" b="1" kern="1200" dirty="0">
                <a:solidFill>
                  <a:schemeClr val="tx1"/>
                </a:solidFill>
                <a:latin typeface="+mj-lt"/>
                <a:ea typeface="+mj-ea"/>
                <a:cs typeface="+mj-cs"/>
              </a:defRPr>
            </a:lvl1pPr>
          </a:lstStyle>
          <a:p>
            <a:pPr marL="0" indent="0" algn="l">
              <a:buNone/>
            </a:pPr>
            <a:r>
              <a:rPr lang="en-IN" altLang="en-US" sz="3400" b="1" dirty="0">
                <a:solidFill>
                  <a:schemeClr val="tx1"/>
                </a:solidFill>
                <a:latin typeface="Times New Roman" panose="02020603050405020304" charset="0"/>
                <a:cs typeface="Times New Roman" panose="02020603050405020304" charset="0"/>
              </a:rPr>
              <a:t>Understand The Project Files</a:t>
            </a:r>
            <a:endParaRPr lang="en-IN" altLang="en-US" sz="3400" b="1" dirty="0">
              <a:solidFill>
                <a:schemeClr val="tx1"/>
              </a:solidFill>
              <a:latin typeface="Times New Roman" panose="02020603050405020304" charset="0"/>
              <a:cs typeface="Times New Roman" panose="02020603050405020304" charset="0"/>
            </a:endParaRPr>
          </a:p>
        </p:txBody>
      </p:sp>
      <p:sp>
        <p:nvSpPr>
          <p:cNvPr id="4" name="Module card 54"/>
          <p:cNvSpPr/>
          <p:nvPr/>
        </p:nvSpPr>
        <p:spPr>
          <a:xfrm>
            <a:off x="548640" y="1371600"/>
            <a:ext cx="3566160" cy="2240280"/>
          </a:xfrm>
          <a:prstGeom prst="roundRect">
            <a:avLst>
              <a:gd name="adj" fmla="val 6122"/>
            </a:avLst>
          </a:prstGeom>
          <a:solidFill>
            <a:schemeClr val="accent1">
              <a:alpha val="12000"/>
            </a:schemeClr>
          </a:solidFill>
        </p:spPr>
      </p:sp>
      <p:sp>
        <p:nvSpPr>
          <p:cNvPr id="5" name="Text 55"/>
          <p:cNvSpPr txBox="1"/>
          <p:nvPr/>
        </p:nvSpPr>
        <p:spPr>
          <a:xfrm>
            <a:off x="777240" y="1572768"/>
            <a:ext cx="2194560" cy="365760"/>
          </a:xfrm>
          <a:prstGeom prst="rect">
            <a:avLst/>
          </a:prstGeom>
          <a:noFill/>
        </p:spPr>
        <p:txBody>
          <a:bodyPr wrap="square" lIns="0" tIns="0" rIns="0" bIns="0" rtlCol="0" anchor="ctr"/>
          <a:lstStyle/>
          <a:p>
            <a:pPr marL="0" indent="0">
              <a:buNone/>
            </a:pPr>
            <a:r>
              <a:rPr lang="en-US" b="1" dirty="0">
                <a:solidFill>
                  <a:schemeClr val="tx1"/>
                </a:solidFill>
                <a:latin typeface="Times New Roman" panose="02020603050405020304" charset="0"/>
                <a:ea typeface="Courier New" panose="02070309020205020404" pitchFamily="34" charset="-122"/>
                <a:cs typeface="Times New Roman" panose="02020603050405020304" charset="0"/>
              </a:rPr>
              <a:t>app.py</a:t>
            </a:r>
            <a:endParaRPr lang="en-US" b="1" dirty="0">
              <a:solidFill>
                <a:schemeClr val="tx1"/>
              </a:solidFill>
              <a:latin typeface="Times New Roman" panose="02020603050405020304" charset="0"/>
              <a:ea typeface="Courier New" panose="02070309020205020404" pitchFamily="34" charset="-122"/>
              <a:cs typeface="Times New Roman" panose="02020603050405020304" charset="0"/>
            </a:endParaRPr>
          </a:p>
        </p:txBody>
      </p:sp>
      <p:sp>
        <p:nvSpPr>
          <p:cNvPr id="6" name="Chip 56"/>
          <p:cNvSpPr txBox="1"/>
          <p:nvPr/>
        </p:nvSpPr>
        <p:spPr>
          <a:xfrm>
            <a:off x="3017520" y="1600200"/>
            <a:ext cx="914400" cy="310896"/>
          </a:xfrm>
          <a:prstGeom prst="roundRect">
            <a:avLst>
              <a:gd name="adj" fmla="val 50000"/>
            </a:avLst>
          </a:prstGeom>
          <a:solidFill>
            <a:schemeClr val="accent1">
              <a:alpha val="30000"/>
            </a:schemeClr>
          </a:solidFill>
        </p:spPr>
        <p:txBody>
          <a:bodyPr wrap="square" lIns="50800" tIns="50800" rIns="50800" bIns="50800" rtlCol="0" anchor="ctr"/>
          <a:lstStyle/>
          <a:p>
            <a:pPr marL="0" indent="0" algn="ctr">
              <a:buNone/>
            </a:pPr>
            <a:r>
              <a:rPr lang="en-US" sz="1400" b="1" dirty="0">
                <a:solidFill>
                  <a:schemeClr val="tx1"/>
                </a:solidFill>
                <a:latin typeface="Times New Roman" panose="02020603050405020304" charset="0"/>
                <a:cs typeface="Times New Roman" panose="02020603050405020304" charset="0"/>
              </a:rPr>
              <a:t>Steps 1-8</a:t>
            </a:r>
            <a:endParaRPr lang="en-US" sz="1400" b="1" dirty="0">
              <a:solidFill>
                <a:schemeClr val="tx1"/>
              </a:solidFill>
              <a:latin typeface="Times New Roman" panose="02020603050405020304" charset="0"/>
              <a:cs typeface="Times New Roman" panose="02020603050405020304" charset="0"/>
            </a:endParaRPr>
          </a:p>
        </p:txBody>
      </p:sp>
      <p:sp>
        <p:nvSpPr>
          <p:cNvPr id="7" name="Text 57"/>
          <p:cNvSpPr txBox="1"/>
          <p:nvPr/>
        </p:nvSpPr>
        <p:spPr>
          <a:xfrm>
            <a:off x="777240" y="2103120"/>
            <a:ext cx="3108960" cy="54864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Runs the steps in order and catches errors per resume</a:t>
            </a:r>
            <a:endParaRPr lang="en-US" dirty="0">
              <a:solidFill>
                <a:schemeClr val="tx2"/>
              </a:solidFill>
              <a:latin typeface="Times New Roman" panose="02020603050405020304" charset="0"/>
              <a:cs typeface="Times New Roman" panose="02020603050405020304" charset="0"/>
            </a:endParaRPr>
          </a:p>
        </p:txBody>
      </p:sp>
      <p:sp>
        <p:nvSpPr>
          <p:cNvPr id="8" name="Text 58"/>
          <p:cNvSpPr txBox="1"/>
          <p:nvPr/>
        </p:nvSpPr>
        <p:spPr>
          <a:xfrm>
            <a:off x="777240" y="2743200"/>
            <a:ext cx="3154680" cy="731520"/>
          </a:xfrm>
          <a:prstGeom prst="rect">
            <a:avLst/>
          </a:prstGeom>
          <a:noFill/>
        </p:spPr>
        <p:txBody>
          <a:bodyPr wrap="square" lIns="0" tIns="0" rIns="0" bIns="0" rtlCol="0" anchor="t"/>
          <a:lstStyle/>
          <a:p>
            <a:pPr marL="0" indent="0">
              <a:buNone/>
            </a:pPr>
            <a:r>
              <a:rPr lang="en-US" b="1" dirty="0">
                <a:solidFill>
                  <a:schemeClr val="accent1"/>
                </a:solidFill>
                <a:latin typeface="Times New Roman" panose="02020603050405020304" charset="0"/>
                <a:ea typeface="Courier New" panose="02070309020205020404" pitchFamily="34" charset="-122"/>
                <a:cs typeface="Times New Roman" panose="02020603050405020304" charset="0"/>
              </a:rPr>
              <a:t>main()</a:t>
            </a:r>
            <a:endParaRPr lang="en-US" b="1" dirty="0">
              <a:solidFill>
                <a:schemeClr val="accent1"/>
              </a:solidFill>
              <a:latin typeface="Times New Roman" panose="02020603050405020304" charset="0"/>
              <a:ea typeface="Courier New" panose="02070309020205020404" pitchFamily="34" charset="-122"/>
              <a:cs typeface="Times New Roman" panose="02020603050405020304" charset="0"/>
            </a:endParaRPr>
          </a:p>
        </p:txBody>
      </p:sp>
      <p:sp>
        <p:nvSpPr>
          <p:cNvPr id="9" name="Module card 59"/>
          <p:cNvSpPr/>
          <p:nvPr/>
        </p:nvSpPr>
        <p:spPr>
          <a:xfrm>
            <a:off x="4311396" y="1371600"/>
            <a:ext cx="3566160" cy="2240280"/>
          </a:xfrm>
          <a:prstGeom prst="roundRect">
            <a:avLst>
              <a:gd name="adj" fmla="val 6122"/>
            </a:avLst>
          </a:prstGeom>
          <a:solidFill>
            <a:schemeClr val="accent1">
              <a:alpha val="12000"/>
            </a:schemeClr>
          </a:solidFill>
        </p:spPr>
      </p:sp>
      <p:sp>
        <p:nvSpPr>
          <p:cNvPr id="10" name="Text 60"/>
          <p:cNvSpPr txBox="1"/>
          <p:nvPr/>
        </p:nvSpPr>
        <p:spPr>
          <a:xfrm>
            <a:off x="4539996" y="1572768"/>
            <a:ext cx="2194560" cy="365760"/>
          </a:xfrm>
          <a:prstGeom prst="rect">
            <a:avLst/>
          </a:prstGeom>
          <a:noFill/>
        </p:spPr>
        <p:txBody>
          <a:bodyPr wrap="square" lIns="0" tIns="0" rIns="0" bIns="0" rtlCol="0" anchor="ctr"/>
          <a:lstStyle/>
          <a:p>
            <a:pPr marL="0" indent="0">
              <a:buNone/>
            </a:pPr>
            <a:r>
              <a:rPr lang="en-US" b="1" dirty="0">
                <a:solidFill>
                  <a:schemeClr val="tx1"/>
                </a:solidFill>
                <a:latin typeface="Times New Roman" panose="02020603050405020304" charset="0"/>
                <a:ea typeface="Courier New" panose="02070309020205020404" pitchFamily="34" charset="-122"/>
                <a:cs typeface="Times New Roman" panose="02020603050405020304" charset="0"/>
              </a:rPr>
              <a:t>config.py</a:t>
            </a:r>
            <a:endParaRPr lang="en-US" b="1" dirty="0">
              <a:solidFill>
                <a:schemeClr val="tx1"/>
              </a:solidFill>
              <a:latin typeface="Times New Roman" panose="02020603050405020304" charset="0"/>
              <a:ea typeface="Courier New" panose="02070309020205020404" pitchFamily="34" charset="-122"/>
              <a:cs typeface="Times New Roman" panose="02020603050405020304" charset="0"/>
            </a:endParaRPr>
          </a:p>
        </p:txBody>
      </p:sp>
      <p:sp>
        <p:nvSpPr>
          <p:cNvPr id="11" name="Chip 61"/>
          <p:cNvSpPr txBox="1"/>
          <p:nvPr/>
        </p:nvSpPr>
        <p:spPr>
          <a:xfrm>
            <a:off x="6780276" y="1600200"/>
            <a:ext cx="914400" cy="310896"/>
          </a:xfrm>
          <a:prstGeom prst="roundRect">
            <a:avLst>
              <a:gd name="adj" fmla="val 50000"/>
            </a:avLst>
          </a:prstGeom>
          <a:solidFill>
            <a:schemeClr val="accent1">
              <a:alpha val="30000"/>
            </a:schemeClr>
          </a:solidFill>
        </p:spPr>
        <p:txBody>
          <a:bodyPr wrap="square" lIns="50800" tIns="50800" rIns="50800" bIns="50800" rtlCol="0" anchor="ctr"/>
          <a:lstStyle/>
          <a:p>
            <a:pPr marL="0" indent="0" algn="ctr">
              <a:buNone/>
            </a:pPr>
            <a:r>
              <a:rPr lang="en-US" sz="1400" b="1" dirty="0">
                <a:solidFill>
                  <a:schemeClr val="tx1"/>
                </a:solidFill>
                <a:latin typeface="Times New Roman" panose="02020603050405020304" charset="0"/>
                <a:cs typeface="Times New Roman" panose="02020603050405020304" charset="0"/>
              </a:rPr>
              <a:t>Step 2</a:t>
            </a:r>
            <a:endParaRPr lang="en-US" sz="1400" b="1" dirty="0">
              <a:solidFill>
                <a:schemeClr val="tx1"/>
              </a:solidFill>
              <a:latin typeface="Times New Roman" panose="02020603050405020304" charset="0"/>
              <a:cs typeface="Times New Roman" panose="02020603050405020304" charset="0"/>
            </a:endParaRPr>
          </a:p>
        </p:txBody>
      </p:sp>
      <p:sp>
        <p:nvSpPr>
          <p:cNvPr id="12" name="Text 62"/>
          <p:cNvSpPr txBox="1"/>
          <p:nvPr/>
        </p:nvSpPr>
        <p:spPr>
          <a:xfrm>
            <a:off x="4539996" y="2103120"/>
            <a:ext cx="3108960" cy="54864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Loads settings and the API key from .env</a:t>
            </a:r>
            <a:endParaRPr lang="en-US" dirty="0">
              <a:solidFill>
                <a:schemeClr val="tx2"/>
              </a:solidFill>
              <a:latin typeface="Times New Roman" panose="02020603050405020304" charset="0"/>
              <a:cs typeface="Times New Roman" panose="02020603050405020304" charset="0"/>
            </a:endParaRPr>
          </a:p>
        </p:txBody>
      </p:sp>
      <p:sp>
        <p:nvSpPr>
          <p:cNvPr id="13" name="Text 63"/>
          <p:cNvSpPr txBox="1"/>
          <p:nvPr/>
        </p:nvSpPr>
        <p:spPr>
          <a:xfrm>
            <a:off x="4539996" y="2743200"/>
            <a:ext cx="3154680" cy="731520"/>
          </a:xfrm>
          <a:prstGeom prst="rect">
            <a:avLst/>
          </a:prstGeom>
          <a:noFill/>
        </p:spPr>
        <p:txBody>
          <a:bodyPr wrap="square" lIns="0" tIns="0" rIns="0" bIns="0" rtlCol="0" anchor="t"/>
          <a:lstStyle/>
          <a:p>
            <a:pPr marL="0" indent="0">
              <a:buNone/>
            </a:pPr>
            <a:r>
              <a:rPr lang="en-US" b="1" dirty="0">
                <a:solidFill>
                  <a:schemeClr val="accent1"/>
                </a:solidFill>
                <a:latin typeface="Times New Roman" panose="02020603050405020304" charset="0"/>
                <a:ea typeface="Courier New" panose="02070309020205020404" pitchFamily="34" charset="-122"/>
                <a:cs typeface="Times New Roman" panose="02020603050405020304" charset="0"/>
              </a:rPr>
              <a:t>load_config()</a:t>
            </a:r>
            <a:endParaRPr lang="en-US" b="1" dirty="0">
              <a:solidFill>
                <a:schemeClr val="accent1"/>
              </a:solidFill>
              <a:latin typeface="Times New Roman" panose="02020603050405020304" charset="0"/>
              <a:ea typeface="Courier New" panose="02070309020205020404" pitchFamily="34" charset="-122"/>
              <a:cs typeface="Times New Roman" panose="02020603050405020304" charset="0"/>
            </a:endParaRPr>
          </a:p>
        </p:txBody>
      </p:sp>
      <p:sp>
        <p:nvSpPr>
          <p:cNvPr id="14" name="Module card 64"/>
          <p:cNvSpPr/>
          <p:nvPr/>
        </p:nvSpPr>
        <p:spPr>
          <a:xfrm>
            <a:off x="8074152" y="1371600"/>
            <a:ext cx="3566160" cy="2240280"/>
          </a:xfrm>
          <a:prstGeom prst="roundRect">
            <a:avLst>
              <a:gd name="adj" fmla="val 6122"/>
            </a:avLst>
          </a:prstGeom>
          <a:solidFill>
            <a:schemeClr val="accent5">
              <a:alpha val="12000"/>
            </a:schemeClr>
          </a:solidFill>
        </p:spPr>
      </p:sp>
      <p:sp>
        <p:nvSpPr>
          <p:cNvPr id="15" name="Text 65"/>
          <p:cNvSpPr txBox="1"/>
          <p:nvPr/>
        </p:nvSpPr>
        <p:spPr>
          <a:xfrm>
            <a:off x="8302752" y="1572768"/>
            <a:ext cx="2194560" cy="365760"/>
          </a:xfrm>
          <a:prstGeom prst="rect">
            <a:avLst/>
          </a:prstGeom>
          <a:noFill/>
        </p:spPr>
        <p:txBody>
          <a:bodyPr wrap="square" lIns="0" tIns="0" rIns="0" bIns="0" rtlCol="0" anchor="ctr"/>
          <a:lstStyle/>
          <a:p>
            <a:pPr marL="0" indent="0">
              <a:buNone/>
            </a:pPr>
            <a:r>
              <a:rPr lang="en-US" b="1" dirty="0">
                <a:solidFill>
                  <a:schemeClr val="tx1"/>
                </a:solidFill>
                <a:latin typeface="Times New Roman" panose="02020603050405020304" charset="0"/>
                <a:ea typeface="Courier New" panose="02070309020205020404" pitchFamily="34" charset="-122"/>
                <a:cs typeface="Times New Roman" panose="02020603050405020304" charset="0"/>
              </a:rPr>
              <a:t>resume_parser.py</a:t>
            </a:r>
            <a:endParaRPr lang="en-US" b="1" dirty="0">
              <a:solidFill>
                <a:schemeClr val="tx1"/>
              </a:solidFill>
              <a:latin typeface="Times New Roman" panose="02020603050405020304" charset="0"/>
              <a:ea typeface="Courier New" panose="02070309020205020404" pitchFamily="34" charset="-122"/>
              <a:cs typeface="Times New Roman" panose="02020603050405020304" charset="0"/>
            </a:endParaRPr>
          </a:p>
        </p:txBody>
      </p:sp>
      <p:sp>
        <p:nvSpPr>
          <p:cNvPr id="16" name="Chip 66"/>
          <p:cNvSpPr txBox="1"/>
          <p:nvPr/>
        </p:nvSpPr>
        <p:spPr>
          <a:xfrm>
            <a:off x="10543032" y="1600200"/>
            <a:ext cx="914400" cy="310896"/>
          </a:xfrm>
          <a:prstGeom prst="roundRect">
            <a:avLst>
              <a:gd name="adj" fmla="val 50000"/>
            </a:avLst>
          </a:prstGeom>
          <a:solidFill>
            <a:schemeClr val="accent5">
              <a:alpha val="30000"/>
            </a:schemeClr>
          </a:solidFill>
        </p:spPr>
        <p:txBody>
          <a:bodyPr wrap="square" lIns="50800" tIns="50800" rIns="50800" bIns="50800" rtlCol="0" anchor="ctr"/>
          <a:lstStyle/>
          <a:p>
            <a:pPr marL="0" indent="0" algn="ctr">
              <a:buNone/>
            </a:pPr>
            <a:r>
              <a:rPr lang="en-US" sz="1400" b="1" dirty="0">
                <a:solidFill>
                  <a:schemeClr val="tx1"/>
                </a:solidFill>
                <a:latin typeface="Times New Roman" panose="02020603050405020304" charset="0"/>
                <a:cs typeface="Times New Roman" panose="02020603050405020304" charset="0"/>
              </a:rPr>
              <a:t>Steps 3-5</a:t>
            </a:r>
            <a:endParaRPr lang="en-US" sz="1400" b="1" dirty="0">
              <a:solidFill>
                <a:schemeClr val="tx1"/>
              </a:solidFill>
              <a:latin typeface="Times New Roman" panose="02020603050405020304" charset="0"/>
              <a:cs typeface="Times New Roman" panose="02020603050405020304" charset="0"/>
            </a:endParaRPr>
          </a:p>
        </p:txBody>
      </p:sp>
      <p:sp>
        <p:nvSpPr>
          <p:cNvPr id="17" name="Text 67"/>
          <p:cNvSpPr txBox="1"/>
          <p:nvPr/>
        </p:nvSpPr>
        <p:spPr>
          <a:xfrm>
            <a:off x="8302752" y="2103120"/>
            <a:ext cx="3108960" cy="54864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PDF text extraction and LLM detail extraction</a:t>
            </a:r>
            <a:endParaRPr lang="en-US" dirty="0">
              <a:solidFill>
                <a:schemeClr val="tx2"/>
              </a:solidFill>
              <a:latin typeface="Times New Roman" panose="02020603050405020304" charset="0"/>
              <a:cs typeface="Times New Roman" panose="02020603050405020304" charset="0"/>
            </a:endParaRPr>
          </a:p>
        </p:txBody>
      </p:sp>
      <p:sp>
        <p:nvSpPr>
          <p:cNvPr id="18" name="Text 68"/>
          <p:cNvSpPr txBox="1"/>
          <p:nvPr/>
        </p:nvSpPr>
        <p:spPr>
          <a:xfrm>
            <a:off x="8302752" y="2743200"/>
            <a:ext cx="3154680" cy="731520"/>
          </a:xfrm>
          <a:prstGeom prst="rect">
            <a:avLst/>
          </a:prstGeom>
          <a:noFill/>
        </p:spPr>
        <p:txBody>
          <a:bodyPr wrap="square" lIns="0" tIns="0" rIns="0" bIns="0" rtlCol="0" anchor="t"/>
          <a:lstStyle/>
          <a:p>
            <a:pPr marL="0" indent="0">
              <a:buNone/>
            </a:pPr>
            <a:r>
              <a:rPr lang="en-US" b="1" dirty="0">
                <a:solidFill>
                  <a:schemeClr val="accent5"/>
                </a:solidFill>
                <a:latin typeface="Times New Roman" panose="02020603050405020304" charset="0"/>
                <a:ea typeface="Courier New" panose="02070309020205020404" pitchFamily="34" charset="-122"/>
                <a:cs typeface="Times New Roman" panose="02020603050405020304" charset="0"/>
              </a:rPr>
              <a:t>extract_pdf_text()</a:t>
            </a:r>
            <a:endParaRPr lang="en-US" dirty="0">
              <a:latin typeface="Times New Roman" panose="02020603050405020304" charset="0"/>
              <a:cs typeface="Times New Roman" panose="02020603050405020304" charset="0"/>
            </a:endParaRPr>
          </a:p>
          <a:p>
            <a:pPr marL="0" indent="0">
              <a:buNone/>
            </a:pPr>
            <a:r>
              <a:rPr lang="en-US" b="1" dirty="0">
                <a:solidFill>
                  <a:schemeClr val="accent5"/>
                </a:solidFill>
                <a:latin typeface="Times New Roman" panose="02020603050405020304" charset="0"/>
                <a:ea typeface="Courier New" panose="02070309020205020404" pitchFamily="34" charset="-122"/>
                <a:cs typeface="Times New Roman" panose="02020603050405020304" charset="0"/>
              </a:rPr>
              <a:t>ask_llm()</a:t>
            </a:r>
            <a:endParaRPr lang="en-US" dirty="0">
              <a:latin typeface="Times New Roman" panose="02020603050405020304" charset="0"/>
              <a:cs typeface="Times New Roman" panose="02020603050405020304" charset="0"/>
            </a:endParaRPr>
          </a:p>
          <a:p>
            <a:pPr marL="0" indent="0">
              <a:buNone/>
            </a:pPr>
            <a:r>
              <a:rPr lang="en-US" b="1" dirty="0">
                <a:solidFill>
                  <a:schemeClr val="accent5"/>
                </a:solidFill>
                <a:latin typeface="Times New Roman" panose="02020603050405020304" charset="0"/>
                <a:ea typeface="Courier New" panose="02070309020205020404" pitchFamily="34" charset="-122"/>
                <a:cs typeface="Times New Roman" panose="02020603050405020304" charset="0"/>
              </a:rPr>
              <a:t>extract_candidate_details()</a:t>
            </a:r>
            <a:endParaRPr lang="en-US" dirty="0">
              <a:latin typeface="Times New Roman" panose="02020603050405020304" charset="0"/>
              <a:cs typeface="Times New Roman" panose="02020603050405020304" charset="0"/>
            </a:endParaRPr>
          </a:p>
        </p:txBody>
      </p:sp>
      <p:sp>
        <p:nvSpPr>
          <p:cNvPr id="19" name="Module card 69"/>
          <p:cNvSpPr/>
          <p:nvPr/>
        </p:nvSpPr>
        <p:spPr>
          <a:xfrm>
            <a:off x="548640" y="3794760"/>
            <a:ext cx="3566160" cy="2240280"/>
          </a:xfrm>
          <a:prstGeom prst="roundRect">
            <a:avLst>
              <a:gd name="adj" fmla="val 6122"/>
            </a:avLst>
          </a:prstGeom>
          <a:solidFill>
            <a:schemeClr val="accent6">
              <a:alpha val="12000"/>
            </a:schemeClr>
          </a:solidFill>
        </p:spPr>
      </p:sp>
      <p:sp>
        <p:nvSpPr>
          <p:cNvPr id="20" name="Text 70"/>
          <p:cNvSpPr txBox="1"/>
          <p:nvPr/>
        </p:nvSpPr>
        <p:spPr>
          <a:xfrm>
            <a:off x="777240" y="3995928"/>
            <a:ext cx="2194560" cy="365760"/>
          </a:xfrm>
          <a:prstGeom prst="rect">
            <a:avLst/>
          </a:prstGeom>
          <a:noFill/>
        </p:spPr>
        <p:txBody>
          <a:bodyPr wrap="square" lIns="0" tIns="0" rIns="0" bIns="0" rtlCol="0" anchor="ctr"/>
          <a:lstStyle/>
          <a:p>
            <a:pPr marL="0" indent="0">
              <a:buNone/>
            </a:pPr>
            <a:r>
              <a:rPr lang="en-US" b="1" dirty="0">
                <a:solidFill>
                  <a:schemeClr val="tx1"/>
                </a:solidFill>
                <a:latin typeface="Times New Roman" panose="02020603050405020304" charset="0"/>
                <a:ea typeface="Courier New" panose="02070309020205020404" pitchFamily="34" charset="-122"/>
                <a:cs typeface="Times New Roman" panose="02020603050405020304" charset="0"/>
              </a:rPr>
              <a:t>matching.py</a:t>
            </a:r>
            <a:endParaRPr lang="en-US" b="1" dirty="0">
              <a:solidFill>
                <a:schemeClr val="tx1"/>
              </a:solidFill>
              <a:latin typeface="Times New Roman" panose="02020603050405020304" charset="0"/>
              <a:ea typeface="Courier New" panose="02070309020205020404" pitchFamily="34" charset="-122"/>
              <a:cs typeface="Times New Roman" panose="02020603050405020304" charset="0"/>
            </a:endParaRPr>
          </a:p>
        </p:txBody>
      </p:sp>
      <p:sp>
        <p:nvSpPr>
          <p:cNvPr id="21" name="Chip 71"/>
          <p:cNvSpPr txBox="1"/>
          <p:nvPr/>
        </p:nvSpPr>
        <p:spPr>
          <a:xfrm>
            <a:off x="3017520" y="4023360"/>
            <a:ext cx="914400" cy="310896"/>
          </a:xfrm>
          <a:prstGeom prst="roundRect">
            <a:avLst>
              <a:gd name="adj" fmla="val 50000"/>
            </a:avLst>
          </a:prstGeom>
          <a:solidFill>
            <a:schemeClr val="accent6">
              <a:alpha val="30000"/>
            </a:schemeClr>
          </a:solidFill>
        </p:spPr>
        <p:txBody>
          <a:bodyPr wrap="square" lIns="50800" tIns="50800" rIns="50800" bIns="50800" rtlCol="0" anchor="ctr"/>
          <a:lstStyle/>
          <a:p>
            <a:pPr marL="0" indent="0" algn="ctr">
              <a:buNone/>
            </a:pPr>
            <a:r>
              <a:rPr lang="en-US" sz="1400" b="1" dirty="0">
                <a:solidFill>
                  <a:schemeClr val="tx1"/>
                </a:solidFill>
                <a:latin typeface="Times New Roman" panose="02020603050405020304" charset="0"/>
                <a:cs typeface="Times New Roman" panose="02020603050405020304" charset="0"/>
              </a:rPr>
              <a:t>Step 6</a:t>
            </a:r>
            <a:endParaRPr lang="en-US" sz="1400" b="1" dirty="0">
              <a:solidFill>
                <a:schemeClr val="tx1"/>
              </a:solidFill>
              <a:latin typeface="Times New Roman" panose="02020603050405020304" charset="0"/>
              <a:cs typeface="Times New Roman" panose="02020603050405020304" charset="0"/>
            </a:endParaRPr>
          </a:p>
        </p:txBody>
      </p:sp>
      <p:sp>
        <p:nvSpPr>
          <p:cNvPr id="22" name="Text 72"/>
          <p:cNvSpPr txBox="1"/>
          <p:nvPr/>
        </p:nvSpPr>
        <p:spPr>
          <a:xfrm>
            <a:off x="777240" y="4526280"/>
            <a:ext cx="3108960" cy="54864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LLM scoring against a fixed 100-point rubric</a:t>
            </a:r>
            <a:endParaRPr lang="en-US" dirty="0">
              <a:solidFill>
                <a:schemeClr val="tx2"/>
              </a:solidFill>
              <a:latin typeface="Times New Roman" panose="02020603050405020304" charset="0"/>
              <a:cs typeface="Times New Roman" panose="02020603050405020304" charset="0"/>
            </a:endParaRPr>
          </a:p>
        </p:txBody>
      </p:sp>
      <p:sp>
        <p:nvSpPr>
          <p:cNvPr id="23" name="Text 73"/>
          <p:cNvSpPr txBox="1"/>
          <p:nvPr/>
        </p:nvSpPr>
        <p:spPr>
          <a:xfrm>
            <a:off x="777240" y="5166360"/>
            <a:ext cx="3154680" cy="731520"/>
          </a:xfrm>
          <a:prstGeom prst="rect">
            <a:avLst/>
          </a:prstGeom>
          <a:noFill/>
        </p:spPr>
        <p:txBody>
          <a:bodyPr wrap="square" lIns="0" tIns="0" rIns="0" bIns="0" rtlCol="0" anchor="t"/>
          <a:lstStyle/>
          <a:p>
            <a:pPr marL="0" indent="0">
              <a:buNone/>
            </a:pPr>
            <a:r>
              <a:rPr lang="en-US" b="1" dirty="0">
                <a:solidFill>
                  <a:schemeClr val="accent6"/>
                </a:solidFill>
                <a:latin typeface="Times New Roman" panose="02020603050405020304" charset="0"/>
                <a:ea typeface="Courier New" panose="02070309020205020404" pitchFamily="34" charset="-122"/>
                <a:cs typeface="Times New Roman" panose="02020603050405020304" charset="0"/>
              </a:rPr>
              <a:t>score_candidate()</a:t>
            </a:r>
            <a:endParaRPr lang="en-US" b="1" dirty="0">
              <a:solidFill>
                <a:schemeClr val="accent6"/>
              </a:solidFill>
              <a:latin typeface="Times New Roman" panose="02020603050405020304" charset="0"/>
              <a:ea typeface="Courier New" panose="02070309020205020404" pitchFamily="34" charset="-122"/>
              <a:cs typeface="Times New Roman" panose="02020603050405020304" charset="0"/>
            </a:endParaRPr>
          </a:p>
        </p:txBody>
      </p:sp>
      <p:sp>
        <p:nvSpPr>
          <p:cNvPr id="24" name="Module card 74"/>
          <p:cNvSpPr/>
          <p:nvPr/>
        </p:nvSpPr>
        <p:spPr>
          <a:xfrm>
            <a:off x="4311396" y="3794760"/>
            <a:ext cx="3566160" cy="2240280"/>
          </a:xfrm>
          <a:prstGeom prst="roundRect">
            <a:avLst>
              <a:gd name="adj" fmla="val 6122"/>
            </a:avLst>
          </a:prstGeom>
          <a:solidFill>
            <a:schemeClr val="accent2">
              <a:alpha val="12000"/>
            </a:schemeClr>
          </a:solidFill>
        </p:spPr>
      </p:sp>
      <p:sp>
        <p:nvSpPr>
          <p:cNvPr id="25" name="Text 75"/>
          <p:cNvSpPr txBox="1"/>
          <p:nvPr/>
        </p:nvSpPr>
        <p:spPr>
          <a:xfrm>
            <a:off x="4539996" y="3995928"/>
            <a:ext cx="2194560" cy="365760"/>
          </a:xfrm>
          <a:prstGeom prst="rect">
            <a:avLst/>
          </a:prstGeom>
          <a:noFill/>
        </p:spPr>
        <p:txBody>
          <a:bodyPr wrap="square" lIns="0" tIns="0" rIns="0" bIns="0" rtlCol="0" anchor="ctr"/>
          <a:lstStyle/>
          <a:p>
            <a:pPr marL="0" indent="0">
              <a:buNone/>
            </a:pPr>
            <a:r>
              <a:rPr lang="en-US" b="1" dirty="0">
                <a:solidFill>
                  <a:schemeClr val="tx1"/>
                </a:solidFill>
                <a:latin typeface="Times New Roman" panose="02020603050405020304" charset="0"/>
                <a:ea typeface="Courier New" panose="02070309020205020404" pitchFamily="34" charset="-122"/>
                <a:cs typeface="Times New Roman" panose="02020603050405020304" charset="0"/>
              </a:rPr>
              <a:t>ranking.py</a:t>
            </a:r>
            <a:endParaRPr lang="en-US" b="1" dirty="0">
              <a:solidFill>
                <a:schemeClr val="tx1"/>
              </a:solidFill>
              <a:latin typeface="Times New Roman" panose="02020603050405020304" charset="0"/>
              <a:ea typeface="Courier New" panose="02070309020205020404" pitchFamily="34" charset="-122"/>
              <a:cs typeface="Times New Roman" panose="02020603050405020304" charset="0"/>
            </a:endParaRPr>
          </a:p>
        </p:txBody>
      </p:sp>
      <p:sp>
        <p:nvSpPr>
          <p:cNvPr id="26" name="Chip 76"/>
          <p:cNvSpPr txBox="1"/>
          <p:nvPr/>
        </p:nvSpPr>
        <p:spPr>
          <a:xfrm>
            <a:off x="6780276" y="4023360"/>
            <a:ext cx="914400" cy="310896"/>
          </a:xfrm>
          <a:prstGeom prst="roundRect">
            <a:avLst>
              <a:gd name="adj" fmla="val 50000"/>
            </a:avLst>
          </a:prstGeom>
          <a:solidFill>
            <a:schemeClr val="accent2">
              <a:alpha val="30000"/>
            </a:schemeClr>
          </a:solidFill>
        </p:spPr>
        <p:txBody>
          <a:bodyPr wrap="square" lIns="50800" tIns="50800" rIns="50800" bIns="50800" rtlCol="0" anchor="ctr"/>
          <a:lstStyle/>
          <a:p>
            <a:pPr marL="0" indent="0" algn="ctr">
              <a:buNone/>
            </a:pPr>
            <a:r>
              <a:rPr lang="en-US" sz="1400" b="1" dirty="0">
                <a:solidFill>
                  <a:schemeClr val="tx1"/>
                </a:solidFill>
                <a:latin typeface="Times New Roman" panose="02020603050405020304" charset="0"/>
                <a:cs typeface="Times New Roman" panose="02020603050405020304" charset="0"/>
              </a:rPr>
              <a:t>Step 7</a:t>
            </a:r>
            <a:endParaRPr lang="en-US" sz="1400" b="1" dirty="0">
              <a:solidFill>
                <a:schemeClr val="tx1"/>
              </a:solidFill>
              <a:latin typeface="Times New Roman" panose="02020603050405020304" charset="0"/>
              <a:cs typeface="Times New Roman" panose="02020603050405020304" charset="0"/>
            </a:endParaRPr>
          </a:p>
        </p:txBody>
      </p:sp>
      <p:sp>
        <p:nvSpPr>
          <p:cNvPr id="27" name="Text 77"/>
          <p:cNvSpPr txBox="1"/>
          <p:nvPr/>
        </p:nvSpPr>
        <p:spPr>
          <a:xfrm>
            <a:off x="4539996" y="4526280"/>
            <a:ext cx="3108960" cy="54864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Sorts candidates and numbers the ranking</a:t>
            </a:r>
            <a:endParaRPr lang="en-US" dirty="0">
              <a:solidFill>
                <a:schemeClr val="tx2"/>
              </a:solidFill>
              <a:latin typeface="Times New Roman" panose="02020603050405020304" charset="0"/>
              <a:cs typeface="Times New Roman" panose="02020603050405020304" charset="0"/>
            </a:endParaRPr>
          </a:p>
        </p:txBody>
      </p:sp>
      <p:sp>
        <p:nvSpPr>
          <p:cNvPr id="28" name="Text 78"/>
          <p:cNvSpPr txBox="1"/>
          <p:nvPr/>
        </p:nvSpPr>
        <p:spPr>
          <a:xfrm>
            <a:off x="4539996" y="5166360"/>
            <a:ext cx="3154680" cy="731520"/>
          </a:xfrm>
          <a:prstGeom prst="rect">
            <a:avLst/>
          </a:prstGeom>
          <a:noFill/>
        </p:spPr>
        <p:txBody>
          <a:bodyPr wrap="square" lIns="0" tIns="0" rIns="0" bIns="0" rtlCol="0" anchor="t"/>
          <a:lstStyle/>
          <a:p>
            <a:pPr marL="0" indent="0">
              <a:buNone/>
            </a:pPr>
            <a:r>
              <a:rPr lang="en-US" b="1" dirty="0">
                <a:solidFill>
                  <a:schemeClr val="accent2"/>
                </a:solidFill>
                <a:latin typeface="Times New Roman" panose="02020603050405020304" charset="0"/>
                <a:ea typeface="Courier New" panose="02070309020205020404" pitchFamily="34" charset="-122"/>
                <a:cs typeface="Times New Roman" panose="02020603050405020304" charset="0"/>
              </a:rPr>
              <a:t>rank_candidates()</a:t>
            </a:r>
            <a:endParaRPr lang="en-US" b="1" dirty="0">
              <a:solidFill>
                <a:schemeClr val="accent2"/>
              </a:solidFill>
              <a:latin typeface="Times New Roman" panose="02020603050405020304" charset="0"/>
              <a:ea typeface="Courier New" panose="02070309020205020404" pitchFamily="34" charset="-122"/>
              <a:cs typeface="Times New Roman" panose="02020603050405020304" charset="0"/>
            </a:endParaRPr>
          </a:p>
        </p:txBody>
      </p:sp>
      <p:sp>
        <p:nvSpPr>
          <p:cNvPr id="29" name="Module card 79"/>
          <p:cNvSpPr/>
          <p:nvPr/>
        </p:nvSpPr>
        <p:spPr>
          <a:xfrm>
            <a:off x="8074152" y="3794760"/>
            <a:ext cx="3566160" cy="2240280"/>
          </a:xfrm>
          <a:prstGeom prst="roundRect">
            <a:avLst>
              <a:gd name="adj" fmla="val 6122"/>
            </a:avLst>
          </a:prstGeom>
          <a:solidFill>
            <a:schemeClr val="accent2">
              <a:alpha val="12000"/>
            </a:schemeClr>
          </a:solidFill>
        </p:spPr>
      </p:sp>
      <p:sp>
        <p:nvSpPr>
          <p:cNvPr id="30" name="Text 80"/>
          <p:cNvSpPr txBox="1"/>
          <p:nvPr/>
        </p:nvSpPr>
        <p:spPr>
          <a:xfrm>
            <a:off x="8302752" y="3995928"/>
            <a:ext cx="2194560" cy="365760"/>
          </a:xfrm>
          <a:prstGeom prst="rect">
            <a:avLst/>
          </a:prstGeom>
          <a:noFill/>
        </p:spPr>
        <p:txBody>
          <a:bodyPr wrap="square" lIns="0" tIns="0" rIns="0" bIns="0" rtlCol="0" anchor="ctr"/>
          <a:lstStyle/>
          <a:p>
            <a:pPr marL="0" indent="0">
              <a:buNone/>
            </a:pPr>
            <a:r>
              <a:rPr lang="en-US" b="1" dirty="0">
                <a:solidFill>
                  <a:schemeClr val="tx1"/>
                </a:solidFill>
                <a:latin typeface="Times New Roman" panose="02020603050405020304" charset="0"/>
                <a:ea typeface="Courier New" panose="02070309020205020404" pitchFamily="34" charset="-122"/>
                <a:cs typeface="Times New Roman" panose="02020603050405020304" charset="0"/>
              </a:rPr>
              <a:t>utils.py</a:t>
            </a:r>
            <a:endParaRPr lang="en-US" b="1" dirty="0">
              <a:solidFill>
                <a:schemeClr val="tx1"/>
              </a:solidFill>
              <a:latin typeface="Times New Roman" panose="02020603050405020304" charset="0"/>
              <a:ea typeface="Courier New" panose="02070309020205020404" pitchFamily="34" charset="-122"/>
              <a:cs typeface="Times New Roman" panose="02020603050405020304" charset="0"/>
            </a:endParaRPr>
          </a:p>
        </p:txBody>
      </p:sp>
      <p:sp>
        <p:nvSpPr>
          <p:cNvPr id="31" name="Chip 81"/>
          <p:cNvSpPr txBox="1"/>
          <p:nvPr/>
        </p:nvSpPr>
        <p:spPr>
          <a:xfrm>
            <a:off x="10543032" y="4023360"/>
            <a:ext cx="914400" cy="310896"/>
          </a:xfrm>
          <a:prstGeom prst="roundRect">
            <a:avLst>
              <a:gd name="adj" fmla="val 50000"/>
            </a:avLst>
          </a:prstGeom>
          <a:solidFill>
            <a:schemeClr val="accent2">
              <a:alpha val="30000"/>
            </a:schemeClr>
          </a:solidFill>
        </p:spPr>
        <p:txBody>
          <a:bodyPr wrap="square" lIns="50800" tIns="50800" rIns="50800" bIns="50800" rtlCol="0" anchor="ctr"/>
          <a:lstStyle/>
          <a:p>
            <a:pPr marL="0" indent="0" algn="ctr">
              <a:buNone/>
            </a:pPr>
            <a:r>
              <a:rPr lang="en-US" sz="1200" b="1" dirty="0">
                <a:solidFill>
                  <a:schemeClr val="tx1"/>
                </a:solidFill>
                <a:latin typeface="Times New Roman" panose="02020603050405020304" charset="0"/>
                <a:cs typeface="Times New Roman" panose="02020603050405020304" charset="0"/>
              </a:rPr>
              <a:t>Steps 2,4,8</a:t>
            </a:r>
            <a:endParaRPr lang="en-US" sz="1200" b="1" dirty="0">
              <a:solidFill>
                <a:schemeClr val="tx1"/>
              </a:solidFill>
              <a:latin typeface="Times New Roman" panose="02020603050405020304" charset="0"/>
              <a:cs typeface="Times New Roman" panose="02020603050405020304" charset="0"/>
            </a:endParaRPr>
          </a:p>
        </p:txBody>
      </p:sp>
      <p:sp>
        <p:nvSpPr>
          <p:cNvPr id="32" name="Text 82"/>
          <p:cNvSpPr txBox="1"/>
          <p:nvPr/>
        </p:nvSpPr>
        <p:spPr>
          <a:xfrm>
            <a:off x="8302752" y="4526280"/>
            <a:ext cx="3108960" cy="548640"/>
          </a:xfrm>
          <a:prstGeom prst="rect">
            <a:avLst/>
          </a:prstGeom>
          <a:noFill/>
        </p:spPr>
        <p:txBody>
          <a:bodyPr wrap="square" lIns="0" tIns="0" rIns="0" bIns="0" rtlCol="0" anchor="t"/>
          <a:lstStyle/>
          <a:p>
            <a:pPr marL="0" indent="0">
              <a:buNone/>
            </a:pPr>
            <a:r>
              <a:rPr lang="en-US" dirty="0">
                <a:solidFill>
                  <a:schemeClr val="tx2"/>
                </a:solidFill>
                <a:latin typeface="Times New Roman" panose="02020603050405020304" charset="0"/>
                <a:cs typeface="Times New Roman" panose="02020603050405020304" charset="0"/>
              </a:rPr>
              <a:t>Validation, resume discovery, CSV output, logging</a:t>
            </a:r>
            <a:endParaRPr lang="en-US" dirty="0">
              <a:solidFill>
                <a:schemeClr val="tx2"/>
              </a:solidFill>
              <a:latin typeface="Times New Roman" panose="02020603050405020304" charset="0"/>
              <a:cs typeface="Times New Roman" panose="02020603050405020304" charset="0"/>
            </a:endParaRPr>
          </a:p>
        </p:txBody>
      </p:sp>
      <p:sp>
        <p:nvSpPr>
          <p:cNvPr id="33" name="Text 83"/>
          <p:cNvSpPr txBox="1"/>
          <p:nvPr/>
        </p:nvSpPr>
        <p:spPr>
          <a:xfrm>
            <a:off x="8302752" y="5166360"/>
            <a:ext cx="3154680" cy="731520"/>
          </a:xfrm>
          <a:prstGeom prst="rect">
            <a:avLst/>
          </a:prstGeom>
          <a:noFill/>
        </p:spPr>
        <p:txBody>
          <a:bodyPr wrap="square" lIns="0" tIns="0" rIns="0" bIns="0" rtlCol="0" anchor="t"/>
          <a:lstStyle/>
          <a:p>
            <a:pPr marL="0" indent="0">
              <a:buNone/>
            </a:pPr>
            <a:r>
              <a:rPr lang="en-US" b="1" dirty="0">
                <a:solidFill>
                  <a:schemeClr val="accent2"/>
                </a:solidFill>
                <a:latin typeface="Times New Roman" panose="02020603050405020304" charset="0"/>
                <a:ea typeface="Courier New" panose="02070309020205020404" pitchFamily="34" charset="-122"/>
                <a:cs typeface="Times New Roman" panose="02020603050405020304" charset="0"/>
              </a:rPr>
              <a:t>validate_inputs()  find_resumes()</a:t>
            </a:r>
            <a:endParaRPr lang="en-US" dirty="0">
              <a:latin typeface="Times New Roman" panose="02020603050405020304" charset="0"/>
              <a:cs typeface="Times New Roman" panose="02020603050405020304" charset="0"/>
            </a:endParaRPr>
          </a:p>
          <a:p>
            <a:pPr marL="0" indent="0">
              <a:buNone/>
            </a:pPr>
            <a:r>
              <a:rPr lang="en-US" b="1" dirty="0">
                <a:solidFill>
                  <a:schemeClr val="accent2"/>
                </a:solidFill>
                <a:latin typeface="Times New Roman" panose="02020603050405020304" charset="0"/>
                <a:ea typeface="Courier New" panose="02070309020205020404" pitchFamily="34" charset="-122"/>
                <a:cs typeface="Times New Roman" panose="02020603050405020304" charset="0"/>
              </a:rPr>
              <a:t>save_results()  log_errors()</a:t>
            </a:r>
            <a:endParaRPr lang="en-US" dirty="0">
              <a:latin typeface="Times New Roman" panose="02020603050405020304" charset="0"/>
              <a:cs typeface="Times New Roman" panose="02020603050405020304" charset="0"/>
            </a:endParaRPr>
          </a:p>
        </p:txBody>
      </p:sp>
      <p:sp>
        <p:nvSpPr>
          <p:cNvPr id="34"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sz="1800" b="0">
                <a:latin typeface="Times New Roman" panose="02020603050405020304" charset="0"/>
                <a:cs typeface="Times New Roman" panose="02020603050405020304" charset="0"/>
              </a:rPr>
            </a:fld>
            <a:endParaRPr lang="en-US" sz="1800" b="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badge 10"/>
          <p:cNvSpPr txBox="1"/>
          <p:nvPr/>
        </p:nvSpPr>
        <p:spPr>
          <a:xfrm>
            <a:off x="548640" y="393192"/>
            <a:ext cx="731520" cy="731520"/>
          </a:xfrm>
          <a:prstGeom prst="ellipse">
            <a:avLst/>
          </a:prstGeom>
          <a:solidFill>
            <a:schemeClr val="accent6"/>
          </a:solidFill>
        </p:spPr>
        <p:txBody>
          <a:bodyPr wrap="square" lIns="0" tIns="0" rIns="0" bIns="0" rtlCol="0" anchor="ctr"/>
          <a:lstStyle/>
          <a:p>
            <a:pPr marL="0" indent="0" algn="ctr">
              <a:buNone/>
            </a:pPr>
            <a:r>
              <a:rPr lang="en-US" sz="2800" b="1" dirty="0">
                <a:solidFill>
                  <a:schemeClr val="bg1"/>
                </a:solidFill>
              </a:rPr>
              <a:t>1</a:t>
            </a:r>
            <a:endParaRPr lang="en-US" sz="2800" dirty="0"/>
          </a:p>
        </p:txBody>
      </p:sp>
      <p:sp>
        <p:nvSpPr>
          <p:cNvPr id="3" name="Progress 1 11"/>
          <p:cNvSpPr txBox="1"/>
          <p:nvPr/>
        </p:nvSpPr>
        <p:spPr>
          <a:xfrm>
            <a:off x="8001000" y="6400800"/>
            <a:ext cx="274320" cy="274320"/>
          </a:xfrm>
          <a:prstGeom prst="ellipse">
            <a:avLst/>
          </a:prstGeom>
          <a:solidFill>
            <a:schemeClr val="accent6"/>
          </a:solidFill>
        </p:spPr>
        <p:txBody>
          <a:bodyPr wrap="square" lIns="0" tIns="0" rIns="0" bIns="0" rtlCol="0" anchor="ctr"/>
          <a:lstStyle/>
          <a:p>
            <a:pPr marL="0" indent="0" algn="ctr">
              <a:buNone/>
            </a:pPr>
            <a:r>
              <a:rPr lang="en-US" sz="1000" b="1" dirty="0">
                <a:solidFill>
                  <a:schemeClr val="bg1"/>
                </a:solidFill>
              </a:rPr>
              <a:t>1</a:t>
            </a:r>
            <a:endParaRPr lang="en-US" sz="1000" dirty="0"/>
          </a:p>
        </p:txBody>
      </p:sp>
      <p:sp>
        <p:nvSpPr>
          <p:cNvPr id="4" name="Progress 2 12"/>
          <p:cNvSpPr txBox="1"/>
          <p:nvPr/>
        </p:nvSpPr>
        <p:spPr>
          <a:xfrm>
            <a:off x="834847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rPr>
              <a:t>2</a:t>
            </a:r>
            <a:endParaRPr lang="en-US" sz="1000" dirty="0"/>
          </a:p>
        </p:txBody>
      </p:sp>
      <p:sp>
        <p:nvSpPr>
          <p:cNvPr id="5" name="Progress 3 13"/>
          <p:cNvSpPr txBox="1"/>
          <p:nvPr/>
        </p:nvSpPr>
        <p:spPr>
          <a:xfrm>
            <a:off x="869594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rPr>
              <a:t>3</a:t>
            </a:r>
            <a:endParaRPr lang="en-US" sz="1000" dirty="0"/>
          </a:p>
        </p:txBody>
      </p:sp>
      <p:sp>
        <p:nvSpPr>
          <p:cNvPr id="6" name="Progress 4 14"/>
          <p:cNvSpPr txBox="1"/>
          <p:nvPr/>
        </p:nvSpPr>
        <p:spPr>
          <a:xfrm>
            <a:off x="9043416"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rPr>
              <a:t>4</a:t>
            </a:r>
            <a:endParaRPr lang="en-US" sz="1000" dirty="0"/>
          </a:p>
        </p:txBody>
      </p:sp>
      <p:sp>
        <p:nvSpPr>
          <p:cNvPr id="7" name="Progress 5 15"/>
          <p:cNvSpPr txBox="1"/>
          <p:nvPr/>
        </p:nvSpPr>
        <p:spPr>
          <a:xfrm>
            <a:off x="9390888"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rPr>
              <a:t>5</a:t>
            </a:r>
            <a:endParaRPr lang="en-US" sz="1000" dirty="0"/>
          </a:p>
        </p:txBody>
      </p:sp>
      <p:sp>
        <p:nvSpPr>
          <p:cNvPr id="8" name="Progress 6 16"/>
          <p:cNvSpPr txBox="1"/>
          <p:nvPr/>
        </p:nvSpPr>
        <p:spPr>
          <a:xfrm>
            <a:off x="973836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rPr>
              <a:t>6</a:t>
            </a:r>
            <a:endParaRPr lang="en-US" sz="1000" dirty="0"/>
          </a:p>
        </p:txBody>
      </p:sp>
      <p:sp>
        <p:nvSpPr>
          <p:cNvPr id="9" name="Progress 7 17"/>
          <p:cNvSpPr txBox="1"/>
          <p:nvPr/>
        </p:nvSpPr>
        <p:spPr>
          <a:xfrm>
            <a:off x="1008583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rPr>
              <a:t>7</a:t>
            </a:r>
            <a:endParaRPr lang="en-US" sz="1000" dirty="0"/>
          </a:p>
        </p:txBody>
      </p:sp>
      <p:sp>
        <p:nvSpPr>
          <p:cNvPr id="10" name="Progress 8 18"/>
          <p:cNvSpPr txBox="1"/>
          <p:nvPr/>
        </p:nvSpPr>
        <p:spPr>
          <a:xfrm>
            <a:off x="1043330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rPr>
              <a:t>8</a:t>
            </a:r>
            <a:endParaRPr lang="en-US" sz="1000" dirty="0"/>
          </a:p>
        </p:txBody>
      </p:sp>
      <p:sp>
        <p:nvSpPr>
          <p:cNvPr id="11" name="Text 0"/>
          <p:cNvSpPr/>
          <p:nvPr>
            <p:ph type="title" idx="100" hasCustomPrompt="1"/>
          </p:nvPr>
        </p:nvSpPr>
        <p:spPr>
          <a:xfrm>
            <a:off x="1600200" y="365760"/>
            <a:ext cx="10040112" cy="777240"/>
          </a:xfrm>
          <a:prstGeom prst="rect">
            <a:avLst/>
          </a:prstGeom>
          <a:noFill/>
        </p:spPr>
        <p:txBody>
          <a:bodyPr wrap="square" lIns="0" tIns="0" rIns="0" bIns="0" rtlCol="0" anchor="ctr"/>
          <a:lstStyle/>
          <a:p>
            <a:pPr marL="0" indent="0" algn="l">
              <a:buNone/>
            </a:pPr>
            <a:r>
              <a:rPr lang="en-US" sz="3400" b="1" dirty="0">
                <a:solidFill>
                  <a:schemeClr val="tx1"/>
                </a:solidFill>
              </a:rPr>
              <a:t>Provide input files</a:t>
            </a:r>
            <a:endParaRPr lang="en-US" sz="3400" dirty="0"/>
          </a:p>
        </p:txBody>
      </p:sp>
      <p:sp>
        <p:nvSpPr>
          <p:cNvPr id="14" name="Text 21"/>
          <p:cNvSpPr txBox="1"/>
          <p:nvPr/>
        </p:nvSpPr>
        <p:spPr>
          <a:xfrm>
            <a:off x="3291840" y="2560320"/>
            <a:ext cx="457200" cy="1371600"/>
          </a:xfrm>
          <a:prstGeom prst="rect">
            <a:avLst/>
          </a:prstGeom>
          <a:noFill/>
        </p:spPr>
        <p:txBody>
          <a:bodyPr wrap="square" lIns="0" tIns="0" rIns="0" bIns="0" rtlCol="0" anchor="ctr"/>
          <a:lstStyle/>
          <a:p>
            <a:pPr marL="0" indent="0" algn="ctr">
              <a:buNone/>
            </a:pPr>
            <a:endParaRPr lang="en-US" sz="2400" dirty="0"/>
          </a:p>
        </p:txBody>
      </p:sp>
      <p:sp>
        <p:nvSpPr>
          <p:cNvPr id="18" name="Explain card 25"/>
          <p:cNvSpPr/>
          <p:nvPr/>
        </p:nvSpPr>
        <p:spPr>
          <a:xfrm>
            <a:off x="6812280" y="1371600"/>
            <a:ext cx="4828032" cy="2926080"/>
          </a:xfrm>
          <a:prstGeom prst="roundRect">
            <a:avLst>
              <a:gd name="adj" fmla="val 4688"/>
            </a:avLst>
          </a:prstGeom>
          <a:solidFill>
            <a:schemeClr val="accent6">
              <a:alpha val="10000"/>
            </a:schemeClr>
          </a:solidFill>
        </p:spPr>
      </p:sp>
      <p:sp>
        <p:nvSpPr>
          <p:cNvPr id="19" name="Text 26"/>
          <p:cNvSpPr txBox="1"/>
          <p:nvPr/>
        </p:nvSpPr>
        <p:spPr>
          <a:xfrm>
            <a:off x="7086600" y="1536192"/>
            <a:ext cx="4297680" cy="365760"/>
          </a:xfrm>
          <a:prstGeom prst="rect">
            <a:avLst/>
          </a:prstGeom>
          <a:noFill/>
        </p:spPr>
        <p:txBody>
          <a:bodyPr wrap="square" lIns="0" tIns="0" rIns="0" bIns="0" rtlCol="0" anchor="t"/>
          <a:lstStyle/>
          <a:p>
            <a:pPr marL="0" indent="0">
              <a:buNone/>
            </a:pPr>
            <a:r>
              <a:rPr lang="en-US" sz="2000" b="1" dirty="0">
                <a:solidFill>
                  <a:schemeClr val="tx1"/>
                </a:solidFill>
              </a:rPr>
              <a:t>What happens</a:t>
            </a:r>
            <a:endParaRPr lang="en-US" sz="2000" dirty="0"/>
          </a:p>
        </p:txBody>
      </p:sp>
      <p:sp>
        <p:nvSpPr>
          <p:cNvPr id="20" name="Text 27"/>
          <p:cNvSpPr txBox="1"/>
          <p:nvPr/>
        </p:nvSpPr>
        <p:spPr>
          <a:xfrm>
            <a:off x="7086600" y="2011680"/>
            <a:ext cx="4343400" cy="2194560"/>
          </a:xfrm>
          <a:prstGeom prst="rect">
            <a:avLst/>
          </a:prstGeom>
          <a:noFill/>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Put one PDF per candidate in the resumes/ folder</a:t>
            </a:r>
            <a:endParaRPr lang="en-US" sz="1500" dirty="0">
              <a:solidFill>
                <a:schemeClr val="tx1"/>
              </a:solidFill>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Add one job description PDF in job_description/</a:t>
            </a:r>
            <a:endParaRPr lang="en-US" sz="1500" dirty="0">
              <a:solidFill>
                <a:schemeClr val="tx1"/>
              </a:solidFill>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Nothing is processed yet; this only prepares the inputs</a:t>
            </a:r>
            <a:endParaRPr lang="en-US" sz="1500" dirty="0">
              <a:solidFill>
                <a:schemeClr val="tx1"/>
              </a:solidFill>
              <a:latin typeface="Times New Roman" panose="02020603050405020304" charset="0"/>
              <a:cs typeface="Times New Roman" panose="02020603050405020304" charset="0"/>
            </a:endParaRPr>
          </a:p>
        </p:txBody>
      </p:sp>
      <p:sp>
        <p:nvSpPr>
          <p:cNvPr id="21" name="Code card 28"/>
          <p:cNvSpPr/>
          <p:nvPr/>
        </p:nvSpPr>
        <p:spPr>
          <a:xfrm>
            <a:off x="6812280" y="4480560"/>
            <a:ext cx="4828032" cy="1691640"/>
          </a:xfrm>
          <a:prstGeom prst="roundRect">
            <a:avLst>
              <a:gd name="adj" fmla="val 8108"/>
            </a:avLst>
          </a:prstGeom>
          <a:solidFill>
            <a:schemeClr val="tx1">
              <a:alpha val="6000"/>
            </a:schemeClr>
          </a:solidFill>
        </p:spPr>
      </p:sp>
      <p:sp>
        <p:nvSpPr>
          <p:cNvPr id="22" name="Text 29"/>
          <p:cNvSpPr txBox="1"/>
          <p:nvPr/>
        </p:nvSpPr>
        <p:spPr>
          <a:xfrm>
            <a:off x="7086600" y="4617720"/>
            <a:ext cx="4389120" cy="1463040"/>
          </a:xfrm>
          <a:prstGeom prst="rect">
            <a:avLst/>
          </a:prstGeom>
          <a:noFill/>
        </p:spPr>
        <p:txBody>
          <a:bodyPr wrap="square" lIns="0" tIns="0" rIns="0" bIns="0" rtlCol="0" anchor="t"/>
          <a:lstStyle/>
          <a:p>
            <a:pPr marL="0" indent="0">
              <a:spcAft>
                <a:spcPts val="400"/>
              </a:spcAft>
              <a:buNone/>
            </a:pPr>
            <a:r>
              <a:rPr lang="en-US" sz="1600" b="1" dirty="0">
                <a:solidFill>
                  <a:schemeClr val="tx1"/>
                </a:solidFill>
                <a:latin typeface="Times New Roman" panose="02020603050405020304" charset="0"/>
                <a:cs typeface="Times New Roman" panose="02020603050405020304" charset="0"/>
              </a:rPr>
              <a:t>In the code</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6"/>
                </a:solidFill>
                <a:latin typeface="Times New Roman" panose="02020603050405020304" charset="0"/>
                <a:ea typeface="Courier New" panose="02070309020205020404" pitchFamily="34" charset="-122"/>
                <a:cs typeface="Times New Roman" panose="02020603050405020304" charset="0"/>
              </a:rPr>
              <a:t>resumes/</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6"/>
                </a:solidFill>
                <a:latin typeface="Times New Roman" panose="02020603050405020304" charset="0"/>
                <a:ea typeface="Courier New" panose="02070309020205020404" pitchFamily="34" charset="-122"/>
                <a:cs typeface="Times New Roman" panose="02020603050405020304" charset="0"/>
              </a:rPr>
              <a:t>job_description/job_description.pdf</a:t>
            </a:r>
            <a:endParaRPr lang="en-US" sz="1600" dirty="0">
              <a:latin typeface="Times New Roman" panose="02020603050405020304" charset="0"/>
              <a:cs typeface="Times New Roman" panose="02020603050405020304" charset="0"/>
            </a:endParaRPr>
          </a:p>
          <a:p>
            <a:pPr marL="0" indent="0">
              <a:buNone/>
            </a:pPr>
            <a:r>
              <a:rPr lang="en-US" sz="1400" dirty="0">
                <a:solidFill>
                  <a:schemeClr val="tx2"/>
                </a:solidFill>
                <a:latin typeface="Times New Roman" panose="02020603050405020304" charset="0"/>
                <a:cs typeface="Times New Roman" panose="02020603050405020304" charset="0"/>
              </a:rPr>
              <a:t>Output: files ready for processing</a:t>
            </a:r>
            <a:endParaRPr lang="en-US" sz="1600" dirty="0">
              <a:latin typeface="Times New Roman" panose="02020603050405020304" charset="0"/>
              <a:cs typeface="Times New Roman" panose="02020603050405020304" charset="0"/>
            </a:endParaRPr>
          </a:p>
        </p:txBody>
      </p:sp>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fld>
            <a:endParaRPr lang="en-US"/>
          </a:p>
        </p:txBody>
      </p:sp>
      <p:pic>
        <p:nvPicPr>
          <p:cNvPr id="23" name="Picture 22" descr="Provide input files"/>
          <p:cNvPicPr>
            <a:picLocks noChangeAspect="1"/>
          </p:cNvPicPr>
          <p:nvPr/>
        </p:nvPicPr>
        <p:blipFill>
          <a:blip r:embed="rId1"/>
          <a:stretch>
            <a:fillRect/>
          </a:stretch>
        </p:blipFill>
        <p:spPr>
          <a:xfrm>
            <a:off x="1020445" y="1275080"/>
            <a:ext cx="4999990" cy="49999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badge 30"/>
          <p:cNvSpPr txBox="1"/>
          <p:nvPr/>
        </p:nvSpPr>
        <p:spPr>
          <a:xfrm>
            <a:off x="548640" y="393192"/>
            <a:ext cx="731520" cy="731520"/>
          </a:xfrm>
          <a:prstGeom prst="ellipse">
            <a:avLst/>
          </a:prstGeom>
          <a:solidFill>
            <a:schemeClr val="accent5"/>
          </a:solidFill>
        </p:spPr>
        <p:txBody>
          <a:bodyPr wrap="square" lIns="0" tIns="0" rIns="0" bIns="0" rtlCol="0" anchor="ctr"/>
          <a:lstStyle/>
          <a:p>
            <a:pPr marL="0" indent="0" algn="ctr">
              <a:buNone/>
            </a:pPr>
            <a:r>
              <a:rPr lang="en-US" sz="2800" b="1" dirty="0">
                <a:solidFill>
                  <a:schemeClr val="bg1"/>
                </a:solidFill>
                <a:latin typeface="Times New Roman" panose="02020603050405020304" charset="0"/>
                <a:cs typeface="Times New Roman" panose="02020603050405020304" charset="0"/>
              </a:rPr>
              <a:t>2</a:t>
            </a:r>
            <a:endParaRPr lang="en-US" sz="2800" b="1" dirty="0">
              <a:solidFill>
                <a:schemeClr val="bg1"/>
              </a:solidFill>
              <a:latin typeface="Times New Roman" panose="02020603050405020304" charset="0"/>
              <a:cs typeface="Times New Roman" panose="02020603050405020304" charset="0"/>
            </a:endParaRPr>
          </a:p>
        </p:txBody>
      </p:sp>
      <p:sp>
        <p:nvSpPr>
          <p:cNvPr id="3" name="Progress 1 31"/>
          <p:cNvSpPr txBox="1"/>
          <p:nvPr/>
        </p:nvSpPr>
        <p:spPr>
          <a:xfrm>
            <a:off x="800100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1</a:t>
            </a:r>
            <a:endParaRPr lang="en-US" sz="1000" b="1" dirty="0">
              <a:solidFill>
                <a:schemeClr val="tx2"/>
              </a:solidFill>
              <a:latin typeface="Times New Roman" panose="02020603050405020304" charset="0"/>
              <a:cs typeface="Times New Roman" panose="02020603050405020304" charset="0"/>
            </a:endParaRPr>
          </a:p>
        </p:txBody>
      </p:sp>
      <p:sp>
        <p:nvSpPr>
          <p:cNvPr id="4" name="Progress 2 32"/>
          <p:cNvSpPr txBox="1"/>
          <p:nvPr/>
        </p:nvSpPr>
        <p:spPr>
          <a:xfrm>
            <a:off x="8348472" y="6400800"/>
            <a:ext cx="274320" cy="274320"/>
          </a:xfrm>
          <a:prstGeom prst="ellipse">
            <a:avLst/>
          </a:prstGeom>
          <a:solidFill>
            <a:schemeClr val="accent5"/>
          </a:solidFill>
        </p:spPr>
        <p:txBody>
          <a:bodyPr wrap="square" lIns="0" tIns="0" rIns="0" bIns="0" rtlCol="0" anchor="ctr"/>
          <a:lstStyle/>
          <a:p>
            <a:pPr marL="0" indent="0" algn="ctr">
              <a:buNone/>
            </a:pPr>
            <a:r>
              <a:rPr lang="en-US" sz="1000" b="1" dirty="0">
                <a:solidFill>
                  <a:schemeClr val="bg1"/>
                </a:solidFill>
                <a:latin typeface="Times New Roman" panose="02020603050405020304" charset="0"/>
                <a:cs typeface="Times New Roman" panose="02020603050405020304" charset="0"/>
              </a:rPr>
              <a:t>2</a:t>
            </a:r>
            <a:endParaRPr lang="en-US" sz="1000" b="1" dirty="0">
              <a:solidFill>
                <a:schemeClr val="bg1"/>
              </a:solidFill>
              <a:latin typeface="Times New Roman" panose="02020603050405020304" charset="0"/>
              <a:cs typeface="Times New Roman" panose="02020603050405020304" charset="0"/>
            </a:endParaRPr>
          </a:p>
        </p:txBody>
      </p:sp>
      <p:sp>
        <p:nvSpPr>
          <p:cNvPr id="5" name="Progress 3 33"/>
          <p:cNvSpPr txBox="1"/>
          <p:nvPr/>
        </p:nvSpPr>
        <p:spPr>
          <a:xfrm>
            <a:off x="869594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3</a:t>
            </a:r>
            <a:endParaRPr lang="en-US" sz="1000" b="1" dirty="0">
              <a:solidFill>
                <a:schemeClr val="tx2"/>
              </a:solidFill>
              <a:latin typeface="Times New Roman" panose="02020603050405020304" charset="0"/>
              <a:cs typeface="Times New Roman" panose="02020603050405020304" charset="0"/>
            </a:endParaRPr>
          </a:p>
        </p:txBody>
      </p:sp>
      <p:sp>
        <p:nvSpPr>
          <p:cNvPr id="6" name="Progress 4 34"/>
          <p:cNvSpPr txBox="1"/>
          <p:nvPr/>
        </p:nvSpPr>
        <p:spPr>
          <a:xfrm>
            <a:off x="9043416"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4</a:t>
            </a:r>
            <a:endParaRPr lang="en-US" sz="1000" b="1" dirty="0">
              <a:solidFill>
                <a:schemeClr val="tx2"/>
              </a:solidFill>
              <a:latin typeface="Times New Roman" panose="02020603050405020304" charset="0"/>
              <a:cs typeface="Times New Roman" panose="02020603050405020304" charset="0"/>
            </a:endParaRPr>
          </a:p>
        </p:txBody>
      </p:sp>
      <p:sp>
        <p:nvSpPr>
          <p:cNvPr id="7" name="Progress 5 35"/>
          <p:cNvSpPr txBox="1"/>
          <p:nvPr/>
        </p:nvSpPr>
        <p:spPr>
          <a:xfrm>
            <a:off x="9390888"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5</a:t>
            </a:r>
            <a:endParaRPr lang="en-US" sz="1000" b="1" dirty="0">
              <a:solidFill>
                <a:schemeClr val="tx2"/>
              </a:solidFill>
              <a:latin typeface="Times New Roman" panose="02020603050405020304" charset="0"/>
              <a:cs typeface="Times New Roman" panose="02020603050405020304" charset="0"/>
            </a:endParaRPr>
          </a:p>
        </p:txBody>
      </p:sp>
      <p:sp>
        <p:nvSpPr>
          <p:cNvPr id="8" name="Progress 6 36"/>
          <p:cNvSpPr txBox="1"/>
          <p:nvPr/>
        </p:nvSpPr>
        <p:spPr>
          <a:xfrm>
            <a:off x="973836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6</a:t>
            </a:r>
            <a:endParaRPr lang="en-US" sz="1000" b="1" dirty="0">
              <a:solidFill>
                <a:schemeClr val="tx2"/>
              </a:solidFill>
              <a:latin typeface="Times New Roman" panose="02020603050405020304" charset="0"/>
              <a:cs typeface="Times New Roman" panose="02020603050405020304" charset="0"/>
            </a:endParaRPr>
          </a:p>
        </p:txBody>
      </p:sp>
      <p:sp>
        <p:nvSpPr>
          <p:cNvPr id="9" name="Progress 7 37"/>
          <p:cNvSpPr txBox="1"/>
          <p:nvPr/>
        </p:nvSpPr>
        <p:spPr>
          <a:xfrm>
            <a:off x="1008583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7</a:t>
            </a:r>
            <a:endParaRPr lang="en-US" sz="1000" b="1" dirty="0">
              <a:solidFill>
                <a:schemeClr val="tx2"/>
              </a:solidFill>
              <a:latin typeface="Times New Roman" panose="02020603050405020304" charset="0"/>
              <a:cs typeface="Times New Roman" panose="02020603050405020304" charset="0"/>
            </a:endParaRPr>
          </a:p>
        </p:txBody>
      </p:sp>
      <p:sp>
        <p:nvSpPr>
          <p:cNvPr id="10" name="Progress 8 38"/>
          <p:cNvSpPr txBox="1"/>
          <p:nvPr/>
        </p:nvSpPr>
        <p:spPr>
          <a:xfrm>
            <a:off x="1043330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8</a:t>
            </a:r>
            <a:endParaRPr lang="en-US" sz="1000" b="1" dirty="0">
              <a:solidFill>
                <a:schemeClr val="tx2"/>
              </a:solidFill>
              <a:latin typeface="Times New Roman" panose="02020603050405020304" charset="0"/>
              <a:cs typeface="Times New Roman" panose="02020603050405020304" charset="0"/>
            </a:endParaRPr>
          </a:p>
        </p:txBody>
      </p:sp>
      <p:sp>
        <p:nvSpPr>
          <p:cNvPr id="11" name="Text 0"/>
          <p:cNvSpPr/>
          <p:nvPr>
            <p:ph type="title" idx="100" hasCustomPrompt="1"/>
          </p:nvPr>
        </p:nvSpPr>
        <p:spPr>
          <a:xfrm>
            <a:off x="1600200" y="365760"/>
            <a:ext cx="10040112" cy="777240"/>
          </a:xfrm>
          <a:prstGeom prst="rect">
            <a:avLst/>
          </a:prstGeom>
          <a:noFill/>
        </p:spPr>
        <p:txBody>
          <a:bodyPr wrap="square" lIns="0" tIns="0" rIns="0" bIns="0" rtlCol="0" anchor="ctr"/>
          <a:lstStyle/>
          <a:p>
            <a:pPr marL="0" indent="0" algn="l">
              <a:buNone/>
            </a:pPr>
            <a:r>
              <a:rPr lang="en-US" sz="3400" b="1" dirty="0">
                <a:solidFill>
                  <a:schemeClr val="tx1"/>
                </a:solidFill>
                <a:latin typeface="Times New Roman" panose="02020603050405020304" charset="0"/>
                <a:cs typeface="Times New Roman" panose="02020603050405020304" charset="0"/>
              </a:rPr>
              <a:t>Load config and validate inputs</a:t>
            </a:r>
            <a:endParaRPr lang="en-US" sz="3400" b="1" dirty="0">
              <a:solidFill>
                <a:schemeClr val="tx1"/>
              </a:solidFill>
              <a:latin typeface="Times New Roman" panose="02020603050405020304" charset="0"/>
              <a:cs typeface="Times New Roman" panose="02020603050405020304" charset="0"/>
            </a:endParaRPr>
          </a:p>
        </p:txBody>
      </p:sp>
      <p:sp>
        <p:nvSpPr>
          <p:cNvPr id="21" name="Explain card 48"/>
          <p:cNvSpPr/>
          <p:nvPr/>
        </p:nvSpPr>
        <p:spPr>
          <a:xfrm>
            <a:off x="6812280" y="1371600"/>
            <a:ext cx="4828032" cy="2926080"/>
          </a:xfrm>
          <a:prstGeom prst="roundRect">
            <a:avLst>
              <a:gd name="adj" fmla="val 4688"/>
            </a:avLst>
          </a:prstGeom>
          <a:solidFill>
            <a:schemeClr val="accent5">
              <a:alpha val="10000"/>
            </a:schemeClr>
          </a:solidFill>
        </p:spPr>
      </p:sp>
      <p:sp>
        <p:nvSpPr>
          <p:cNvPr id="22" name="Text 49"/>
          <p:cNvSpPr txBox="1"/>
          <p:nvPr/>
        </p:nvSpPr>
        <p:spPr>
          <a:xfrm>
            <a:off x="7086600" y="1536192"/>
            <a:ext cx="4297680" cy="365760"/>
          </a:xfrm>
          <a:prstGeom prst="rect">
            <a:avLst/>
          </a:prstGeom>
          <a:noFill/>
        </p:spPr>
        <p:txBody>
          <a:bodyPr wrap="square" lIns="0" tIns="0" rIns="0" bIns="0" rtlCol="0" anchor="t"/>
          <a:lstStyle/>
          <a:p>
            <a:pPr marL="0" indent="0">
              <a:buNone/>
            </a:pPr>
            <a:r>
              <a:rPr lang="en-US" sz="2000" b="1" dirty="0">
                <a:solidFill>
                  <a:schemeClr val="tx1"/>
                </a:solidFill>
                <a:latin typeface="Times New Roman" panose="02020603050405020304" charset="0"/>
                <a:cs typeface="Times New Roman" panose="02020603050405020304" charset="0"/>
              </a:rPr>
              <a:t>What happens</a:t>
            </a:r>
            <a:endParaRPr lang="en-US" sz="2000" b="1" dirty="0">
              <a:solidFill>
                <a:schemeClr val="tx1"/>
              </a:solidFill>
              <a:latin typeface="Times New Roman" panose="02020603050405020304" charset="0"/>
              <a:cs typeface="Times New Roman" panose="02020603050405020304" charset="0"/>
            </a:endParaRPr>
          </a:p>
        </p:txBody>
      </p:sp>
      <p:sp>
        <p:nvSpPr>
          <p:cNvPr id="23" name="Text 50"/>
          <p:cNvSpPr txBox="1"/>
          <p:nvPr/>
        </p:nvSpPr>
        <p:spPr>
          <a:xfrm>
            <a:off x="7086600" y="2011680"/>
            <a:ext cx="4343400" cy="2194560"/>
          </a:xfrm>
          <a:prstGeom prst="rect">
            <a:avLst/>
          </a:prstGeom>
          <a:noFill/>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load_config() reads .env: the API key, model and file paths</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validate_inputs() checks the resume folder and job PDF exist</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If a path is missing, the program stops with an error</a:t>
            </a:r>
            <a:endParaRPr lang="en-US" sz="1500" dirty="0">
              <a:latin typeface="Times New Roman" panose="02020603050405020304" charset="0"/>
              <a:cs typeface="Times New Roman" panose="02020603050405020304" charset="0"/>
            </a:endParaRPr>
          </a:p>
        </p:txBody>
      </p:sp>
      <p:sp>
        <p:nvSpPr>
          <p:cNvPr id="24" name="Code card 51"/>
          <p:cNvSpPr/>
          <p:nvPr/>
        </p:nvSpPr>
        <p:spPr>
          <a:xfrm>
            <a:off x="6812280" y="4480560"/>
            <a:ext cx="4828032" cy="1691640"/>
          </a:xfrm>
          <a:prstGeom prst="roundRect">
            <a:avLst>
              <a:gd name="adj" fmla="val 8108"/>
            </a:avLst>
          </a:prstGeom>
          <a:solidFill>
            <a:schemeClr val="tx1">
              <a:alpha val="6000"/>
            </a:schemeClr>
          </a:solidFill>
        </p:spPr>
      </p:sp>
      <p:sp>
        <p:nvSpPr>
          <p:cNvPr id="25" name="Text 52"/>
          <p:cNvSpPr txBox="1"/>
          <p:nvPr/>
        </p:nvSpPr>
        <p:spPr>
          <a:xfrm>
            <a:off x="7086600" y="4617720"/>
            <a:ext cx="4389120" cy="1463040"/>
          </a:xfrm>
          <a:prstGeom prst="rect">
            <a:avLst/>
          </a:prstGeom>
          <a:noFill/>
        </p:spPr>
        <p:txBody>
          <a:bodyPr wrap="square" lIns="0" tIns="0" rIns="0" bIns="0" rtlCol="0" anchor="t"/>
          <a:lstStyle/>
          <a:p>
            <a:pPr marL="0" indent="0">
              <a:spcAft>
                <a:spcPts val="400"/>
              </a:spcAft>
              <a:buNone/>
            </a:pPr>
            <a:r>
              <a:rPr lang="en-US" sz="1600" b="1" dirty="0">
                <a:solidFill>
                  <a:schemeClr val="tx1"/>
                </a:solidFill>
                <a:latin typeface="Times New Roman" panose="02020603050405020304" charset="0"/>
                <a:cs typeface="Times New Roman" panose="02020603050405020304" charset="0"/>
              </a:rPr>
              <a:t>In the code</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5"/>
                </a:solidFill>
                <a:latin typeface="Times New Roman" panose="02020603050405020304" charset="0"/>
                <a:ea typeface="Courier New" panose="02070309020205020404" pitchFamily="34" charset="-122"/>
                <a:cs typeface="Times New Roman" panose="02020603050405020304" charset="0"/>
              </a:rPr>
              <a:t>config.py  load_config()</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5"/>
                </a:solidFill>
                <a:latin typeface="Times New Roman" panose="02020603050405020304" charset="0"/>
                <a:ea typeface="Courier New" panose="02070309020205020404" pitchFamily="34" charset="-122"/>
                <a:cs typeface="Times New Roman" panose="02020603050405020304" charset="0"/>
              </a:rPr>
              <a:t>utils.py   validate_inputs()</a:t>
            </a:r>
            <a:endParaRPr lang="en-US" sz="1600" dirty="0">
              <a:latin typeface="Times New Roman" panose="02020603050405020304" charset="0"/>
              <a:cs typeface="Times New Roman" panose="02020603050405020304" charset="0"/>
            </a:endParaRPr>
          </a:p>
          <a:p>
            <a:pPr marL="0" indent="0">
              <a:buNone/>
            </a:pPr>
            <a:r>
              <a:rPr lang="en-US" sz="1400" dirty="0">
                <a:solidFill>
                  <a:schemeClr val="tx2"/>
                </a:solidFill>
                <a:latin typeface="Times New Roman" panose="02020603050405020304" charset="0"/>
                <a:cs typeface="Times New Roman" panose="02020603050405020304" charset="0"/>
              </a:rPr>
              <a:t>Output: valid settings, or a clear error</a:t>
            </a:r>
            <a:endParaRPr lang="en-US" sz="1600" dirty="0">
              <a:latin typeface="Times New Roman" panose="02020603050405020304" charset="0"/>
              <a:cs typeface="Times New Roman" panose="02020603050405020304" charset="0"/>
            </a:endParaRPr>
          </a:p>
        </p:txBody>
      </p:sp>
      <p:sp>
        <p:nvSpPr>
          <p:cNvPr id="26"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latin typeface="Times New Roman" panose="02020603050405020304" charset="0"/>
                <a:cs typeface="Times New Roman" panose="02020603050405020304" charset="0"/>
              </a:rPr>
            </a:fld>
            <a:endParaRPr lang="en-US" b="0">
              <a:latin typeface="Times New Roman" panose="02020603050405020304" charset="0"/>
              <a:cs typeface="Times New Roman" panose="02020603050405020304" charset="0"/>
            </a:endParaRPr>
          </a:p>
        </p:txBody>
      </p:sp>
      <p:pic>
        <p:nvPicPr>
          <p:cNvPr id="27" name="Picture 26" descr="Load Configuration and Validate Inputs"/>
          <p:cNvPicPr>
            <a:picLocks noChangeAspect="1"/>
          </p:cNvPicPr>
          <p:nvPr/>
        </p:nvPicPr>
        <p:blipFill>
          <a:blip r:embed="rId1"/>
          <a:stretch>
            <a:fillRect/>
          </a:stretch>
        </p:blipFill>
        <p:spPr>
          <a:xfrm>
            <a:off x="1140460" y="1247775"/>
            <a:ext cx="4924425" cy="49244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badge 53"/>
          <p:cNvSpPr txBox="1"/>
          <p:nvPr/>
        </p:nvSpPr>
        <p:spPr>
          <a:xfrm>
            <a:off x="548640" y="393192"/>
            <a:ext cx="731520" cy="731520"/>
          </a:xfrm>
          <a:prstGeom prst="ellipse">
            <a:avLst/>
          </a:prstGeom>
          <a:solidFill>
            <a:schemeClr val="accent3"/>
          </a:solidFill>
        </p:spPr>
        <p:txBody>
          <a:bodyPr wrap="square" lIns="0" tIns="0" rIns="0" bIns="0" rtlCol="0" anchor="ctr"/>
          <a:lstStyle/>
          <a:p>
            <a:pPr marL="0" indent="0" algn="ctr">
              <a:buNone/>
            </a:pPr>
            <a:r>
              <a:rPr lang="en-US" sz="2800" b="1" dirty="0">
                <a:solidFill>
                  <a:schemeClr val="bg1"/>
                </a:solidFill>
                <a:latin typeface="Times New Roman" panose="02020603050405020304" charset="0"/>
                <a:cs typeface="Times New Roman" panose="02020603050405020304" charset="0"/>
              </a:rPr>
              <a:t>3</a:t>
            </a:r>
            <a:endParaRPr lang="en-US" sz="2800" b="1" dirty="0">
              <a:solidFill>
                <a:schemeClr val="bg1"/>
              </a:solidFill>
              <a:latin typeface="Times New Roman" panose="02020603050405020304" charset="0"/>
              <a:cs typeface="Times New Roman" panose="02020603050405020304" charset="0"/>
            </a:endParaRPr>
          </a:p>
        </p:txBody>
      </p:sp>
      <p:sp>
        <p:nvSpPr>
          <p:cNvPr id="3" name="Progress 1 54"/>
          <p:cNvSpPr txBox="1"/>
          <p:nvPr/>
        </p:nvSpPr>
        <p:spPr>
          <a:xfrm>
            <a:off x="800100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1</a:t>
            </a:r>
            <a:endParaRPr lang="en-US" sz="1000" b="1" dirty="0">
              <a:solidFill>
                <a:schemeClr val="tx2"/>
              </a:solidFill>
              <a:latin typeface="Times New Roman" panose="02020603050405020304" charset="0"/>
              <a:cs typeface="Times New Roman" panose="02020603050405020304" charset="0"/>
            </a:endParaRPr>
          </a:p>
        </p:txBody>
      </p:sp>
      <p:sp>
        <p:nvSpPr>
          <p:cNvPr id="4" name="Progress 2 55"/>
          <p:cNvSpPr txBox="1"/>
          <p:nvPr/>
        </p:nvSpPr>
        <p:spPr>
          <a:xfrm>
            <a:off x="834847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2</a:t>
            </a:r>
            <a:endParaRPr lang="en-US" sz="1000" b="1" dirty="0">
              <a:solidFill>
                <a:schemeClr val="tx2"/>
              </a:solidFill>
              <a:latin typeface="Times New Roman" panose="02020603050405020304" charset="0"/>
              <a:cs typeface="Times New Roman" panose="02020603050405020304" charset="0"/>
            </a:endParaRPr>
          </a:p>
        </p:txBody>
      </p:sp>
      <p:sp>
        <p:nvSpPr>
          <p:cNvPr id="5" name="Progress 3 56"/>
          <p:cNvSpPr txBox="1"/>
          <p:nvPr/>
        </p:nvSpPr>
        <p:spPr>
          <a:xfrm>
            <a:off x="8695944" y="6400800"/>
            <a:ext cx="274320" cy="274320"/>
          </a:xfrm>
          <a:prstGeom prst="ellipse">
            <a:avLst/>
          </a:prstGeom>
          <a:solidFill>
            <a:schemeClr val="accent3"/>
          </a:solidFill>
        </p:spPr>
        <p:txBody>
          <a:bodyPr wrap="square" lIns="0" tIns="0" rIns="0" bIns="0" rtlCol="0" anchor="ctr"/>
          <a:lstStyle/>
          <a:p>
            <a:pPr marL="0" indent="0" algn="ctr">
              <a:buNone/>
            </a:pPr>
            <a:r>
              <a:rPr lang="en-US" sz="1000" b="1" dirty="0">
                <a:solidFill>
                  <a:schemeClr val="bg1"/>
                </a:solidFill>
                <a:latin typeface="Times New Roman" panose="02020603050405020304" charset="0"/>
                <a:cs typeface="Times New Roman" panose="02020603050405020304" charset="0"/>
              </a:rPr>
              <a:t>3</a:t>
            </a:r>
            <a:endParaRPr lang="en-US" sz="1000" b="1" dirty="0">
              <a:solidFill>
                <a:schemeClr val="bg1"/>
              </a:solidFill>
              <a:latin typeface="Times New Roman" panose="02020603050405020304" charset="0"/>
              <a:cs typeface="Times New Roman" panose="02020603050405020304" charset="0"/>
            </a:endParaRPr>
          </a:p>
        </p:txBody>
      </p:sp>
      <p:sp>
        <p:nvSpPr>
          <p:cNvPr id="6" name="Progress 4 57"/>
          <p:cNvSpPr txBox="1"/>
          <p:nvPr/>
        </p:nvSpPr>
        <p:spPr>
          <a:xfrm>
            <a:off x="9043416"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4</a:t>
            </a:r>
            <a:endParaRPr lang="en-US" sz="1000" b="1" dirty="0">
              <a:solidFill>
                <a:schemeClr val="tx2"/>
              </a:solidFill>
              <a:latin typeface="Times New Roman" panose="02020603050405020304" charset="0"/>
              <a:cs typeface="Times New Roman" panose="02020603050405020304" charset="0"/>
            </a:endParaRPr>
          </a:p>
        </p:txBody>
      </p:sp>
      <p:sp>
        <p:nvSpPr>
          <p:cNvPr id="7" name="Progress 5 58"/>
          <p:cNvSpPr txBox="1"/>
          <p:nvPr/>
        </p:nvSpPr>
        <p:spPr>
          <a:xfrm>
            <a:off x="9390888"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5</a:t>
            </a:r>
            <a:endParaRPr lang="en-US" sz="1000" b="1" dirty="0">
              <a:solidFill>
                <a:schemeClr val="tx2"/>
              </a:solidFill>
              <a:latin typeface="Times New Roman" panose="02020603050405020304" charset="0"/>
              <a:cs typeface="Times New Roman" panose="02020603050405020304" charset="0"/>
            </a:endParaRPr>
          </a:p>
        </p:txBody>
      </p:sp>
      <p:sp>
        <p:nvSpPr>
          <p:cNvPr id="8" name="Progress 6 59"/>
          <p:cNvSpPr txBox="1"/>
          <p:nvPr/>
        </p:nvSpPr>
        <p:spPr>
          <a:xfrm>
            <a:off x="973836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6</a:t>
            </a:r>
            <a:endParaRPr lang="en-US" sz="1000" b="1" dirty="0">
              <a:solidFill>
                <a:schemeClr val="tx2"/>
              </a:solidFill>
              <a:latin typeface="Times New Roman" panose="02020603050405020304" charset="0"/>
              <a:cs typeface="Times New Roman" panose="02020603050405020304" charset="0"/>
            </a:endParaRPr>
          </a:p>
        </p:txBody>
      </p:sp>
      <p:sp>
        <p:nvSpPr>
          <p:cNvPr id="9" name="Progress 7 60"/>
          <p:cNvSpPr txBox="1"/>
          <p:nvPr/>
        </p:nvSpPr>
        <p:spPr>
          <a:xfrm>
            <a:off x="1008583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7</a:t>
            </a:r>
            <a:endParaRPr lang="en-US" sz="1000" b="1" dirty="0">
              <a:solidFill>
                <a:schemeClr val="tx2"/>
              </a:solidFill>
              <a:latin typeface="Times New Roman" panose="02020603050405020304" charset="0"/>
              <a:cs typeface="Times New Roman" panose="02020603050405020304" charset="0"/>
            </a:endParaRPr>
          </a:p>
        </p:txBody>
      </p:sp>
      <p:sp>
        <p:nvSpPr>
          <p:cNvPr id="10" name="Progress 8 61"/>
          <p:cNvSpPr txBox="1"/>
          <p:nvPr/>
        </p:nvSpPr>
        <p:spPr>
          <a:xfrm>
            <a:off x="1043330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8</a:t>
            </a:r>
            <a:endParaRPr lang="en-US" sz="1000" b="1" dirty="0">
              <a:solidFill>
                <a:schemeClr val="tx2"/>
              </a:solidFill>
              <a:latin typeface="Times New Roman" panose="02020603050405020304" charset="0"/>
              <a:cs typeface="Times New Roman" panose="02020603050405020304" charset="0"/>
            </a:endParaRPr>
          </a:p>
        </p:txBody>
      </p:sp>
      <p:sp>
        <p:nvSpPr>
          <p:cNvPr id="11" name="Text 0"/>
          <p:cNvSpPr/>
          <p:nvPr>
            <p:ph type="title" idx="100" hasCustomPrompt="1"/>
          </p:nvPr>
        </p:nvSpPr>
        <p:spPr>
          <a:xfrm>
            <a:off x="1600200" y="365760"/>
            <a:ext cx="10040112" cy="777240"/>
          </a:xfrm>
          <a:prstGeom prst="rect">
            <a:avLst/>
          </a:prstGeom>
          <a:noFill/>
        </p:spPr>
        <p:txBody>
          <a:bodyPr wrap="square" lIns="0" tIns="0" rIns="0" bIns="0" rtlCol="0" anchor="ctr"/>
          <a:lstStyle/>
          <a:p>
            <a:pPr marL="0" indent="0" algn="l">
              <a:buNone/>
            </a:pPr>
            <a:r>
              <a:rPr lang="en-US" sz="3400" b="1" dirty="0">
                <a:solidFill>
                  <a:schemeClr val="tx1"/>
                </a:solidFill>
                <a:latin typeface="Times New Roman" panose="02020603050405020304" charset="0"/>
                <a:cs typeface="Times New Roman" panose="02020603050405020304" charset="0"/>
              </a:rPr>
              <a:t>Extract text from the job description</a:t>
            </a:r>
            <a:endParaRPr lang="en-US" sz="3400" b="1" dirty="0">
              <a:solidFill>
                <a:schemeClr val="tx1"/>
              </a:solidFill>
              <a:latin typeface="Times New Roman" panose="02020603050405020304" charset="0"/>
              <a:cs typeface="Times New Roman" panose="02020603050405020304" charset="0"/>
            </a:endParaRPr>
          </a:p>
        </p:txBody>
      </p:sp>
      <p:sp>
        <p:nvSpPr>
          <p:cNvPr id="20" name="Explain card 70"/>
          <p:cNvSpPr/>
          <p:nvPr/>
        </p:nvSpPr>
        <p:spPr>
          <a:xfrm>
            <a:off x="6812280" y="1371600"/>
            <a:ext cx="4828032" cy="2926080"/>
          </a:xfrm>
          <a:prstGeom prst="roundRect">
            <a:avLst>
              <a:gd name="adj" fmla="val 4688"/>
            </a:avLst>
          </a:prstGeom>
          <a:solidFill>
            <a:schemeClr val="accent3">
              <a:alpha val="10000"/>
            </a:schemeClr>
          </a:solidFill>
        </p:spPr>
      </p:sp>
      <p:sp>
        <p:nvSpPr>
          <p:cNvPr id="21" name="Text 71"/>
          <p:cNvSpPr txBox="1"/>
          <p:nvPr/>
        </p:nvSpPr>
        <p:spPr>
          <a:xfrm>
            <a:off x="7086600" y="1536192"/>
            <a:ext cx="4297680" cy="365760"/>
          </a:xfrm>
          <a:prstGeom prst="rect">
            <a:avLst/>
          </a:prstGeom>
          <a:noFill/>
        </p:spPr>
        <p:txBody>
          <a:bodyPr wrap="square" lIns="0" tIns="0" rIns="0" bIns="0" rtlCol="0" anchor="t"/>
          <a:lstStyle/>
          <a:p>
            <a:pPr marL="0" indent="0">
              <a:buNone/>
            </a:pPr>
            <a:r>
              <a:rPr lang="en-US" sz="2000" b="1" dirty="0">
                <a:solidFill>
                  <a:schemeClr val="tx1"/>
                </a:solidFill>
                <a:latin typeface="Times New Roman" panose="02020603050405020304" charset="0"/>
                <a:cs typeface="Times New Roman" panose="02020603050405020304" charset="0"/>
              </a:rPr>
              <a:t>What happens</a:t>
            </a:r>
            <a:endParaRPr lang="en-US" sz="2000" b="1" dirty="0">
              <a:solidFill>
                <a:schemeClr val="tx1"/>
              </a:solidFill>
              <a:latin typeface="Times New Roman" panose="02020603050405020304" charset="0"/>
              <a:cs typeface="Times New Roman" panose="02020603050405020304" charset="0"/>
            </a:endParaRPr>
          </a:p>
        </p:txBody>
      </p:sp>
      <p:sp>
        <p:nvSpPr>
          <p:cNvPr id="22" name="Text 72"/>
          <p:cNvSpPr txBox="1"/>
          <p:nvPr/>
        </p:nvSpPr>
        <p:spPr>
          <a:xfrm>
            <a:off x="7086600" y="2011680"/>
            <a:ext cx="4343400" cy="2194560"/>
          </a:xfrm>
          <a:prstGeom prst="rect">
            <a:avLst/>
          </a:prstGeom>
          <a:noFill/>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extract_pdf_text() reads every page with pypdf's PdfReader</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The page text is joined into one string</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Empty text (for example a scanned PDF) stops the program</a:t>
            </a:r>
            <a:endParaRPr lang="en-US" sz="1500" dirty="0">
              <a:latin typeface="Times New Roman" panose="02020603050405020304" charset="0"/>
              <a:cs typeface="Times New Roman" panose="02020603050405020304" charset="0"/>
            </a:endParaRPr>
          </a:p>
        </p:txBody>
      </p:sp>
      <p:sp>
        <p:nvSpPr>
          <p:cNvPr id="23" name="Code card 73"/>
          <p:cNvSpPr/>
          <p:nvPr/>
        </p:nvSpPr>
        <p:spPr>
          <a:xfrm>
            <a:off x="6812280" y="4480560"/>
            <a:ext cx="4828032" cy="1691640"/>
          </a:xfrm>
          <a:prstGeom prst="roundRect">
            <a:avLst>
              <a:gd name="adj" fmla="val 8108"/>
            </a:avLst>
          </a:prstGeom>
          <a:solidFill>
            <a:schemeClr val="tx1">
              <a:alpha val="6000"/>
            </a:schemeClr>
          </a:solidFill>
        </p:spPr>
      </p:sp>
      <p:sp>
        <p:nvSpPr>
          <p:cNvPr id="24" name="Text 74"/>
          <p:cNvSpPr txBox="1"/>
          <p:nvPr/>
        </p:nvSpPr>
        <p:spPr>
          <a:xfrm>
            <a:off x="7086600" y="4617720"/>
            <a:ext cx="4389120" cy="1463040"/>
          </a:xfrm>
          <a:prstGeom prst="rect">
            <a:avLst/>
          </a:prstGeom>
          <a:noFill/>
        </p:spPr>
        <p:txBody>
          <a:bodyPr wrap="square" lIns="0" tIns="0" rIns="0" bIns="0" rtlCol="0" anchor="t"/>
          <a:lstStyle/>
          <a:p>
            <a:pPr marL="0" indent="0">
              <a:spcAft>
                <a:spcPts val="400"/>
              </a:spcAft>
              <a:buNone/>
            </a:pPr>
            <a:r>
              <a:rPr lang="en-US" sz="1600" b="1" dirty="0">
                <a:solidFill>
                  <a:schemeClr val="tx1"/>
                </a:solidFill>
                <a:latin typeface="Times New Roman" panose="02020603050405020304" charset="0"/>
                <a:cs typeface="Times New Roman" panose="02020603050405020304" charset="0"/>
              </a:rPr>
              <a:t>In the code</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tx1"/>
                </a:solidFill>
                <a:latin typeface="Times New Roman" panose="02020603050405020304" charset="0"/>
                <a:ea typeface="Courier New" panose="02070309020205020404" pitchFamily="34" charset="-122"/>
                <a:cs typeface="Times New Roman" panose="02020603050405020304" charset="0"/>
              </a:rPr>
              <a:t>resume_parser.py  extract_pdf_text()</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tx1"/>
                </a:solidFill>
                <a:latin typeface="Times New Roman" panose="02020603050405020304" charset="0"/>
                <a:ea typeface="Courier New" panose="02070309020205020404" pitchFamily="34" charset="-122"/>
                <a:cs typeface="Times New Roman" panose="02020603050405020304" charset="0"/>
              </a:rPr>
              <a:t>app.py  checks job_text.strip()</a:t>
            </a:r>
            <a:endParaRPr lang="en-US" sz="1600" dirty="0">
              <a:latin typeface="Times New Roman" panose="02020603050405020304" charset="0"/>
              <a:cs typeface="Times New Roman" panose="02020603050405020304" charset="0"/>
            </a:endParaRPr>
          </a:p>
          <a:p>
            <a:pPr marL="0" indent="0">
              <a:buNone/>
            </a:pPr>
            <a:r>
              <a:rPr lang="en-US" sz="1400" dirty="0">
                <a:solidFill>
                  <a:schemeClr val="tx2"/>
                </a:solidFill>
                <a:latin typeface="Times New Roman" panose="02020603050405020304" charset="0"/>
                <a:cs typeface="Times New Roman" panose="02020603050405020304" charset="0"/>
              </a:rPr>
              <a:t>Output: the job description as text</a:t>
            </a:r>
            <a:endParaRPr lang="en-US" sz="1600" dirty="0">
              <a:latin typeface="Times New Roman" panose="02020603050405020304" charset="0"/>
              <a:cs typeface="Times New Roman" panose="02020603050405020304" charset="0"/>
            </a:endParaRPr>
          </a:p>
        </p:txBody>
      </p:sp>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latin typeface="Times New Roman" panose="02020603050405020304" charset="0"/>
                <a:cs typeface="Times New Roman" panose="02020603050405020304" charset="0"/>
              </a:rPr>
            </a:fld>
            <a:endParaRPr lang="en-US" b="0">
              <a:latin typeface="Times New Roman" panose="02020603050405020304" charset="0"/>
              <a:cs typeface="Times New Roman" panose="02020603050405020304" charset="0"/>
            </a:endParaRPr>
          </a:p>
        </p:txBody>
      </p:sp>
      <p:pic>
        <p:nvPicPr>
          <p:cNvPr id="26" name="Picture 25" descr="Extract text from job description"/>
          <p:cNvPicPr>
            <a:picLocks noChangeAspect="1"/>
          </p:cNvPicPr>
          <p:nvPr/>
        </p:nvPicPr>
        <p:blipFill>
          <a:blip r:embed="rId1"/>
          <a:stretch>
            <a:fillRect/>
          </a:stretch>
        </p:blipFill>
        <p:spPr>
          <a:xfrm>
            <a:off x="1398270" y="1283970"/>
            <a:ext cx="4888230" cy="48882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badge 75"/>
          <p:cNvSpPr txBox="1"/>
          <p:nvPr/>
        </p:nvSpPr>
        <p:spPr>
          <a:xfrm>
            <a:off x="548640" y="393192"/>
            <a:ext cx="731520" cy="731520"/>
          </a:xfrm>
          <a:prstGeom prst="ellipse">
            <a:avLst/>
          </a:prstGeom>
          <a:solidFill>
            <a:schemeClr val="accent2"/>
          </a:solidFill>
        </p:spPr>
        <p:txBody>
          <a:bodyPr wrap="square" lIns="0" tIns="0" rIns="0" bIns="0" rtlCol="0" anchor="ctr"/>
          <a:lstStyle/>
          <a:p>
            <a:pPr marL="0" indent="0" algn="ctr">
              <a:buNone/>
            </a:pPr>
            <a:r>
              <a:rPr lang="en-US" sz="2800" b="1" dirty="0">
                <a:solidFill>
                  <a:schemeClr val="bg1"/>
                </a:solidFill>
                <a:latin typeface="Times New Roman" panose="02020603050405020304" charset="0"/>
                <a:cs typeface="Times New Roman" panose="02020603050405020304" charset="0"/>
              </a:rPr>
              <a:t>4</a:t>
            </a:r>
            <a:endParaRPr lang="en-US" sz="2800" b="1" dirty="0">
              <a:solidFill>
                <a:schemeClr val="bg1"/>
              </a:solidFill>
              <a:latin typeface="Times New Roman" panose="02020603050405020304" charset="0"/>
              <a:cs typeface="Times New Roman" panose="02020603050405020304" charset="0"/>
            </a:endParaRPr>
          </a:p>
        </p:txBody>
      </p:sp>
      <p:sp>
        <p:nvSpPr>
          <p:cNvPr id="3" name="Progress 1 76"/>
          <p:cNvSpPr txBox="1"/>
          <p:nvPr/>
        </p:nvSpPr>
        <p:spPr>
          <a:xfrm>
            <a:off x="800100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1</a:t>
            </a:r>
            <a:endParaRPr lang="en-US" sz="1000" b="1" dirty="0">
              <a:solidFill>
                <a:schemeClr val="tx2"/>
              </a:solidFill>
              <a:latin typeface="Times New Roman" panose="02020603050405020304" charset="0"/>
              <a:cs typeface="Times New Roman" panose="02020603050405020304" charset="0"/>
            </a:endParaRPr>
          </a:p>
        </p:txBody>
      </p:sp>
      <p:sp>
        <p:nvSpPr>
          <p:cNvPr id="4" name="Progress 2 77"/>
          <p:cNvSpPr txBox="1"/>
          <p:nvPr/>
        </p:nvSpPr>
        <p:spPr>
          <a:xfrm>
            <a:off x="834847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2</a:t>
            </a:r>
            <a:endParaRPr lang="en-US" sz="1000" b="1" dirty="0">
              <a:solidFill>
                <a:schemeClr val="tx2"/>
              </a:solidFill>
              <a:latin typeface="Times New Roman" panose="02020603050405020304" charset="0"/>
              <a:cs typeface="Times New Roman" panose="02020603050405020304" charset="0"/>
            </a:endParaRPr>
          </a:p>
        </p:txBody>
      </p:sp>
      <p:sp>
        <p:nvSpPr>
          <p:cNvPr id="5" name="Progress 3 78"/>
          <p:cNvSpPr txBox="1"/>
          <p:nvPr/>
        </p:nvSpPr>
        <p:spPr>
          <a:xfrm>
            <a:off x="869594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3</a:t>
            </a:r>
            <a:endParaRPr lang="en-US" sz="1000" b="1" dirty="0">
              <a:solidFill>
                <a:schemeClr val="tx2"/>
              </a:solidFill>
              <a:latin typeface="Times New Roman" panose="02020603050405020304" charset="0"/>
              <a:cs typeface="Times New Roman" panose="02020603050405020304" charset="0"/>
            </a:endParaRPr>
          </a:p>
        </p:txBody>
      </p:sp>
      <p:sp>
        <p:nvSpPr>
          <p:cNvPr id="6" name="Progress 4 79"/>
          <p:cNvSpPr txBox="1"/>
          <p:nvPr/>
        </p:nvSpPr>
        <p:spPr>
          <a:xfrm>
            <a:off x="9043416" y="6400800"/>
            <a:ext cx="274320" cy="274320"/>
          </a:xfrm>
          <a:prstGeom prst="ellipse">
            <a:avLst/>
          </a:prstGeom>
          <a:solidFill>
            <a:schemeClr val="accent2"/>
          </a:solidFill>
        </p:spPr>
        <p:txBody>
          <a:bodyPr wrap="square" lIns="0" tIns="0" rIns="0" bIns="0" rtlCol="0" anchor="ctr"/>
          <a:lstStyle/>
          <a:p>
            <a:pPr marL="0" indent="0" algn="ctr">
              <a:buNone/>
            </a:pPr>
            <a:r>
              <a:rPr lang="en-US" sz="1000" b="1" dirty="0">
                <a:solidFill>
                  <a:schemeClr val="bg1"/>
                </a:solidFill>
                <a:latin typeface="Times New Roman" panose="02020603050405020304" charset="0"/>
                <a:cs typeface="Times New Roman" panose="02020603050405020304" charset="0"/>
              </a:rPr>
              <a:t>4</a:t>
            </a:r>
            <a:endParaRPr lang="en-US" sz="1000" b="1" dirty="0">
              <a:solidFill>
                <a:schemeClr val="bg1"/>
              </a:solidFill>
              <a:latin typeface="Times New Roman" panose="02020603050405020304" charset="0"/>
              <a:cs typeface="Times New Roman" panose="02020603050405020304" charset="0"/>
            </a:endParaRPr>
          </a:p>
        </p:txBody>
      </p:sp>
      <p:sp>
        <p:nvSpPr>
          <p:cNvPr id="7" name="Progress 5 80"/>
          <p:cNvSpPr txBox="1"/>
          <p:nvPr/>
        </p:nvSpPr>
        <p:spPr>
          <a:xfrm>
            <a:off x="9390888"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5</a:t>
            </a:r>
            <a:endParaRPr lang="en-US" sz="1000" b="1" dirty="0">
              <a:solidFill>
                <a:schemeClr val="tx2"/>
              </a:solidFill>
              <a:latin typeface="Times New Roman" panose="02020603050405020304" charset="0"/>
              <a:cs typeface="Times New Roman" panose="02020603050405020304" charset="0"/>
            </a:endParaRPr>
          </a:p>
        </p:txBody>
      </p:sp>
      <p:sp>
        <p:nvSpPr>
          <p:cNvPr id="8" name="Progress 6 81"/>
          <p:cNvSpPr txBox="1"/>
          <p:nvPr/>
        </p:nvSpPr>
        <p:spPr>
          <a:xfrm>
            <a:off x="973836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6</a:t>
            </a:r>
            <a:endParaRPr lang="en-US" sz="1000" b="1" dirty="0">
              <a:solidFill>
                <a:schemeClr val="tx2"/>
              </a:solidFill>
              <a:latin typeface="Times New Roman" panose="02020603050405020304" charset="0"/>
              <a:cs typeface="Times New Roman" panose="02020603050405020304" charset="0"/>
            </a:endParaRPr>
          </a:p>
        </p:txBody>
      </p:sp>
      <p:sp>
        <p:nvSpPr>
          <p:cNvPr id="9" name="Progress 7 82"/>
          <p:cNvSpPr txBox="1"/>
          <p:nvPr/>
        </p:nvSpPr>
        <p:spPr>
          <a:xfrm>
            <a:off x="1008583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7</a:t>
            </a:r>
            <a:endParaRPr lang="en-US" sz="1000" b="1" dirty="0">
              <a:solidFill>
                <a:schemeClr val="tx2"/>
              </a:solidFill>
              <a:latin typeface="Times New Roman" panose="02020603050405020304" charset="0"/>
              <a:cs typeface="Times New Roman" panose="02020603050405020304" charset="0"/>
            </a:endParaRPr>
          </a:p>
        </p:txBody>
      </p:sp>
      <p:sp>
        <p:nvSpPr>
          <p:cNvPr id="10" name="Progress 8 83"/>
          <p:cNvSpPr txBox="1"/>
          <p:nvPr/>
        </p:nvSpPr>
        <p:spPr>
          <a:xfrm>
            <a:off x="1043330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8</a:t>
            </a:r>
            <a:endParaRPr lang="en-US" sz="1000" b="1" dirty="0">
              <a:solidFill>
                <a:schemeClr val="tx2"/>
              </a:solidFill>
              <a:latin typeface="Times New Roman" panose="02020603050405020304" charset="0"/>
              <a:cs typeface="Times New Roman" panose="02020603050405020304" charset="0"/>
            </a:endParaRPr>
          </a:p>
        </p:txBody>
      </p:sp>
      <p:sp>
        <p:nvSpPr>
          <p:cNvPr id="11" name="Text 0"/>
          <p:cNvSpPr/>
          <p:nvPr>
            <p:ph type="title" idx="100" hasCustomPrompt="1"/>
          </p:nvPr>
        </p:nvSpPr>
        <p:spPr>
          <a:xfrm>
            <a:off x="1600200" y="365760"/>
            <a:ext cx="10040112" cy="777240"/>
          </a:xfrm>
          <a:prstGeom prst="rect">
            <a:avLst/>
          </a:prstGeom>
          <a:noFill/>
        </p:spPr>
        <p:txBody>
          <a:bodyPr wrap="square" lIns="0" tIns="0" rIns="0" bIns="0" rtlCol="0" anchor="ctr"/>
          <a:lstStyle/>
          <a:p>
            <a:pPr marL="0" indent="0" algn="l">
              <a:buNone/>
            </a:pPr>
            <a:r>
              <a:rPr lang="en-US" sz="3400" b="1" dirty="0">
                <a:solidFill>
                  <a:schemeClr val="tx1"/>
                </a:solidFill>
                <a:latin typeface="Times New Roman" panose="02020603050405020304" charset="0"/>
                <a:cs typeface="Times New Roman" panose="02020603050405020304" charset="0"/>
              </a:rPr>
              <a:t>Find and </a:t>
            </a:r>
            <a:r>
              <a:rPr lang="en-IN" altLang="en-US" sz="3400" b="1" dirty="0">
                <a:solidFill>
                  <a:schemeClr val="tx1"/>
                </a:solidFill>
                <a:latin typeface="Times New Roman" panose="02020603050405020304" charset="0"/>
                <a:cs typeface="Times New Roman" panose="02020603050405020304" charset="0"/>
              </a:rPr>
              <a:t>E</a:t>
            </a:r>
            <a:r>
              <a:rPr lang="en-US" sz="3400" b="1" dirty="0">
                <a:solidFill>
                  <a:schemeClr val="tx1"/>
                </a:solidFill>
                <a:latin typeface="Times New Roman" panose="02020603050405020304" charset="0"/>
                <a:cs typeface="Times New Roman" panose="02020603050405020304" charset="0"/>
              </a:rPr>
              <a:t>xtract </a:t>
            </a:r>
            <a:r>
              <a:rPr lang="en-IN" altLang="en-US" sz="3400" b="1" dirty="0">
                <a:solidFill>
                  <a:schemeClr val="tx1"/>
                </a:solidFill>
                <a:latin typeface="Times New Roman" panose="02020603050405020304" charset="0"/>
                <a:cs typeface="Times New Roman" panose="02020603050405020304" charset="0"/>
              </a:rPr>
              <a:t>E</a:t>
            </a:r>
            <a:r>
              <a:rPr lang="en-US" sz="3400" b="1" dirty="0">
                <a:solidFill>
                  <a:schemeClr val="tx1"/>
                </a:solidFill>
                <a:latin typeface="Times New Roman" panose="02020603050405020304" charset="0"/>
                <a:cs typeface="Times New Roman" panose="02020603050405020304" charset="0"/>
              </a:rPr>
              <a:t>ach </a:t>
            </a:r>
            <a:r>
              <a:rPr lang="en-IN" altLang="en-US" sz="3400" b="1" dirty="0">
                <a:solidFill>
                  <a:schemeClr val="tx1"/>
                </a:solidFill>
                <a:latin typeface="Times New Roman" panose="02020603050405020304" charset="0"/>
                <a:cs typeface="Times New Roman" panose="02020603050405020304" charset="0"/>
              </a:rPr>
              <a:t>R</a:t>
            </a:r>
            <a:r>
              <a:rPr lang="en-US" sz="3400" b="1" dirty="0">
                <a:solidFill>
                  <a:schemeClr val="tx1"/>
                </a:solidFill>
                <a:latin typeface="Times New Roman" panose="02020603050405020304" charset="0"/>
                <a:cs typeface="Times New Roman" panose="02020603050405020304" charset="0"/>
              </a:rPr>
              <a:t>esume</a:t>
            </a:r>
            <a:endParaRPr lang="en-US" sz="3400" b="1" dirty="0">
              <a:solidFill>
                <a:schemeClr val="tx1"/>
              </a:solidFill>
              <a:latin typeface="Times New Roman" panose="02020603050405020304" charset="0"/>
              <a:cs typeface="Times New Roman" panose="02020603050405020304" charset="0"/>
            </a:endParaRPr>
          </a:p>
        </p:txBody>
      </p:sp>
      <p:sp>
        <p:nvSpPr>
          <p:cNvPr id="22" name="Explain card 94"/>
          <p:cNvSpPr/>
          <p:nvPr/>
        </p:nvSpPr>
        <p:spPr>
          <a:xfrm>
            <a:off x="6812280" y="1371600"/>
            <a:ext cx="4828032" cy="2926080"/>
          </a:xfrm>
          <a:prstGeom prst="roundRect">
            <a:avLst>
              <a:gd name="adj" fmla="val 4688"/>
            </a:avLst>
          </a:prstGeom>
          <a:solidFill>
            <a:schemeClr val="accent2">
              <a:alpha val="10000"/>
            </a:schemeClr>
          </a:solidFill>
        </p:spPr>
      </p:sp>
      <p:sp>
        <p:nvSpPr>
          <p:cNvPr id="23" name="Text 95"/>
          <p:cNvSpPr txBox="1"/>
          <p:nvPr/>
        </p:nvSpPr>
        <p:spPr>
          <a:xfrm>
            <a:off x="7086600" y="1536192"/>
            <a:ext cx="4297680" cy="365760"/>
          </a:xfrm>
          <a:prstGeom prst="rect">
            <a:avLst/>
          </a:prstGeom>
          <a:noFill/>
        </p:spPr>
        <p:txBody>
          <a:bodyPr wrap="square" lIns="0" tIns="0" rIns="0" bIns="0" rtlCol="0" anchor="t"/>
          <a:lstStyle/>
          <a:p>
            <a:pPr marL="0" indent="0">
              <a:buNone/>
            </a:pPr>
            <a:r>
              <a:rPr lang="en-US" sz="2000" b="1" dirty="0">
                <a:solidFill>
                  <a:schemeClr val="tx1"/>
                </a:solidFill>
                <a:latin typeface="Times New Roman" panose="02020603050405020304" charset="0"/>
                <a:cs typeface="Times New Roman" panose="02020603050405020304" charset="0"/>
              </a:rPr>
              <a:t>What happens</a:t>
            </a:r>
            <a:endParaRPr lang="en-US" sz="2000" b="1" dirty="0">
              <a:solidFill>
                <a:schemeClr val="tx1"/>
              </a:solidFill>
              <a:latin typeface="Times New Roman" panose="02020603050405020304" charset="0"/>
              <a:cs typeface="Times New Roman" panose="02020603050405020304" charset="0"/>
            </a:endParaRPr>
          </a:p>
        </p:txBody>
      </p:sp>
      <p:sp>
        <p:nvSpPr>
          <p:cNvPr id="24" name="Text 96"/>
          <p:cNvSpPr txBox="1"/>
          <p:nvPr/>
        </p:nvSpPr>
        <p:spPr>
          <a:xfrm>
            <a:off x="7086600" y="2011680"/>
            <a:ext cx="4343400" cy="2194560"/>
          </a:xfrm>
          <a:prstGeom prst="rect">
            <a:avLst/>
          </a:prstGeom>
          <a:noFill/>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find_resumes() keeps only .pdf files and sorts them by name</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Each resume is read one at a time with extract_pdf_text()</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A resume that fails is logged and the next one continues</a:t>
            </a:r>
            <a:endParaRPr lang="en-US" sz="1500" dirty="0">
              <a:latin typeface="Times New Roman" panose="02020603050405020304" charset="0"/>
              <a:cs typeface="Times New Roman" panose="02020603050405020304" charset="0"/>
            </a:endParaRPr>
          </a:p>
        </p:txBody>
      </p:sp>
      <p:sp>
        <p:nvSpPr>
          <p:cNvPr id="25" name="Code card 97"/>
          <p:cNvSpPr/>
          <p:nvPr/>
        </p:nvSpPr>
        <p:spPr>
          <a:xfrm>
            <a:off x="6812280" y="4480560"/>
            <a:ext cx="4828032" cy="1691640"/>
          </a:xfrm>
          <a:prstGeom prst="roundRect">
            <a:avLst>
              <a:gd name="adj" fmla="val 8108"/>
            </a:avLst>
          </a:prstGeom>
          <a:solidFill>
            <a:schemeClr val="tx1">
              <a:alpha val="6000"/>
            </a:schemeClr>
          </a:solidFill>
        </p:spPr>
      </p:sp>
      <p:sp>
        <p:nvSpPr>
          <p:cNvPr id="26" name="Text 98"/>
          <p:cNvSpPr txBox="1"/>
          <p:nvPr/>
        </p:nvSpPr>
        <p:spPr>
          <a:xfrm>
            <a:off x="7086600" y="4617720"/>
            <a:ext cx="4389120" cy="1463040"/>
          </a:xfrm>
          <a:prstGeom prst="rect">
            <a:avLst/>
          </a:prstGeom>
          <a:noFill/>
        </p:spPr>
        <p:txBody>
          <a:bodyPr wrap="square" lIns="0" tIns="0" rIns="0" bIns="0" rtlCol="0" anchor="t"/>
          <a:lstStyle/>
          <a:p>
            <a:pPr marL="0" indent="0">
              <a:spcAft>
                <a:spcPts val="400"/>
              </a:spcAft>
              <a:buNone/>
            </a:pPr>
            <a:r>
              <a:rPr lang="en-US" sz="1600" b="1" dirty="0">
                <a:solidFill>
                  <a:schemeClr val="tx1"/>
                </a:solidFill>
                <a:latin typeface="Times New Roman" panose="02020603050405020304" charset="0"/>
                <a:cs typeface="Times New Roman" panose="02020603050405020304" charset="0"/>
              </a:rPr>
              <a:t>In the code</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2"/>
                </a:solidFill>
                <a:latin typeface="Times New Roman" panose="02020603050405020304" charset="0"/>
                <a:ea typeface="Courier New" panose="02070309020205020404" pitchFamily="34" charset="-122"/>
                <a:cs typeface="Times New Roman" panose="02020603050405020304" charset="0"/>
              </a:rPr>
              <a:t>utils.py          find_resumes()</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2"/>
                </a:solidFill>
                <a:latin typeface="Times New Roman" panose="02020603050405020304" charset="0"/>
                <a:ea typeface="Courier New" panose="02070309020205020404" pitchFamily="34" charset="-122"/>
                <a:cs typeface="Times New Roman" panose="02020603050405020304" charset="0"/>
              </a:rPr>
              <a:t>resume_parser.py  extract_pdf_text()</a:t>
            </a:r>
            <a:endParaRPr lang="en-US" sz="1600" dirty="0">
              <a:latin typeface="Times New Roman" panose="02020603050405020304" charset="0"/>
              <a:cs typeface="Times New Roman" panose="02020603050405020304" charset="0"/>
            </a:endParaRPr>
          </a:p>
          <a:p>
            <a:pPr marL="0" indent="0">
              <a:buNone/>
            </a:pPr>
            <a:r>
              <a:rPr lang="en-US" sz="1400" dirty="0">
                <a:solidFill>
                  <a:schemeClr val="tx2"/>
                </a:solidFill>
                <a:latin typeface="Times New Roman" panose="02020603050405020304" charset="0"/>
                <a:cs typeface="Times New Roman" panose="02020603050405020304" charset="0"/>
              </a:rPr>
              <a:t>Output: the text of one resume</a:t>
            </a:r>
            <a:endParaRPr lang="en-US" sz="1600" dirty="0">
              <a:latin typeface="Times New Roman" panose="02020603050405020304" charset="0"/>
              <a:cs typeface="Times New Roman" panose="02020603050405020304" charset="0"/>
            </a:endParaRPr>
          </a:p>
        </p:txBody>
      </p:sp>
      <p:sp>
        <p:nvSpPr>
          <p:cNvPr id="27"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latin typeface="Times New Roman" panose="02020603050405020304" charset="0"/>
                <a:cs typeface="Times New Roman" panose="02020603050405020304" charset="0"/>
              </a:rPr>
            </a:fld>
            <a:endParaRPr lang="en-US" b="0">
              <a:latin typeface="Times New Roman" panose="02020603050405020304" charset="0"/>
              <a:cs typeface="Times New Roman" panose="02020603050405020304" charset="0"/>
            </a:endParaRPr>
          </a:p>
        </p:txBody>
      </p:sp>
      <p:pic>
        <p:nvPicPr>
          <p:cNvPr id="28" name="Picture 27" descr="Section 4_ Find and Extract Each Resume"/>
          <p:cNvPicPr>
            <a:picLocks noChangeAspect="1"/>
          </p:cNvPicPr>
          <p:nvPr/>
        </p:nvPicPr>
        <p:blipFill>
          <a:blip r:embed="rId1"/>
          <a:stretch>
            <a:fillRect/>
          </a:stretch>
        </p:blipFill>
        <p:spPr>
          <a:xfrm>
            <a:off x="1202690" y="1143000"/>
            <a:ext cx="5040630" cy="50406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badge 99"/>
          <p:cNvSpPr txBox="1"/>
          <p:nvPr/>
        </p:nvSpPr>
        <p:spPr>
          <a:xfrm>
            <a:off x="548640" y="393192"/>
            <a:ext cx="731520" cy="731520"/>
          </a:xfrm>
          <a:prstGeom prst="ellipse">
            <a:avLst/>
          </a:prstGeom>
          <a:solidFill>
            <a:schemeClr val="accent6"/>
          </a:solidFill>
        </p:spPr>
        <p:txBody>
          <a:bodyPr wrap="square" lIns="0" tIns="0" rIns="0" bIns="0" rtlCol="0" anchor="ctr"/>
          <a:lstStyle/>
          <a:p>
            <a:pPr marL="0" indent="0" algn="ctr">
              <a:buNone/>
            </a:pPr>
            <a:r>
              <a:rPr lang="en-US" sz="2800" b="1" dirty="0">
                <a:solidFill>
                  <a:schemeClr val="bg1"/>
                </a:solidFill>
                <a:latin typeface="Times New Roman" panose="02020603050405020304" charset="0"/>
                <a:cs typeface="Times New Roman" panose="02020603050405020304" charset="0"/>
              </a:rPr>
              <a:t>5</a:t>
            </a:r>
            <a:endParaRPr lang="en-US" sz="2800" b="1" dirty="0">
              <a:solidFill>
                <a:schemeClr val="bg1"/>
              </a:solidFill>
              <a:latin typeface="Times New Roman" panose="02020603050405020304" charset="0"/>
              <a:cs typeface="Times New Roman" panose="02020603050405020304" charset="0"/>
            </a:endParaRPr>
          </a:p>
        </p:txBody>
      </p:sp>
      <p:sp>
        <p:nvSpPr>
          <p:cNvPr id="3" name="Progress 1 100"/>
          <p:cNvSpPr txBox="1"/>
          <p:nvPr/>
        </p:nvSpPr>
        <p:spPr>
          <a:xfrm>
            <a:off x="800100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1</a:t>
            </a:r>
            <a:endParaRPr lang="en-US" sz="1000" b="1" dirty="0">
              <a:solidFill>
                <a:schemeClr val="tx2"/>
              </a:solidFill>
              <a:latin typeface="Times New Roman" panose="02020603050405020304" charset="0"/>
              <a:cs typeface="Times New Roman" panose="02020603050405020304" charset="0"/>
            </a:endParaRPr>
          </a:p>
        </p:txBody>
      </p:sp>
      <p:sp>
        <p:nvSpPr>
          <p:cNvPr id="4" name="Progress 2 101"/>
          <p:cNvSpPr txBox="1"/>
          <p:nvPr/>
        </p:nvSpPr>
        <p:spPr>
          <a:xfrm>
            <a:off x="834847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2</a:t>
            </a:r>
            <a:endParaRPr lang="en-US" sz="1000" b="1" dirty="0">
              <a:solidFill>
                <a:schemeClr val="tx2"/>
              </a:solidFill>
              <a:latin typeface="Times New Roman" panose="02020603050405020304" charset="0"/>
              <a:cs typeface="Times New Roman" panose="02020603050405020304" charset="0"/>
            </a:endParaRPr>
          </a:p>
        </p:txBody>
      </p:sp>
      <p:sp>
        <p:nvSpPr>
          <p:cNvPr id="5" name="Progress 3 102"/>
          <p:cNvSpPr txBox="1"/>
          <p:nvPr/>
        </p:nvSpPr>
        <p:spPr>
          <a:xfrm>
            <a:off x="869594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3</a:t>
            </a:r>
            <a:endParaRPr lang="en-US" sz="1000" b="1" dirty="0">
              <a:solidFill>
                <a:schemeClr val="tx2"/>
              </a:solidFill>
              <a:latin typeface="Times New Roman" panose="02020603050405020304" charset="0"/>
              <a:cs typeface="Times New Roman" panose="02020603050405020304" charset="0"/>
            </a:endParaRPr>
          </a:p>
        </p:txBody>
      </p:sp>
      <p:sp>
        <p:nvSpPr>
          <p:cNvPr id="6" name="Progress 4 103"/>
          <p:cNvSpPr txBox="1"/>
          <p:nvPr/>
        </p:nvSpPr>
        <p:spPr>
          <a:xfrm>
            <a:off x="9043416"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4</a:t>
            </a:r>
            <a:endParaRPr lang="en-US" sz="1000" b="1" dirty="0">
              <a:solidFill>
                <a:schemeClr val="tx2"/>
              </a:solidFill>
              <a:latin typeface="Times New Roman" panose="02020603050405020304" charset="0"/>
              <a:cs typeface="Times New Roman" panose="02020603050405020304" charset="0"/>
            </a:endParaRPr>
          </a:p>
        </p:txBody>
      </p:sp>
      <p:sp>
        <p:nvSpPr>
          <p:cNvPr id="7" name="Progress 5 104"/>
          <p:cNvSpPr txBox="1"/>
          <p:nvPr/>
        </p:nvSpPr>
        <p:spPr>
          <a:xfrm>
            <a:off x="9390888" y="6400800"/>
            <a:ext cx="274320" cy="274320"/>
          </a:xfrm>
          <a:prstGeom prst="ellipse">
            <a:avLst/>
          </a:prstGeom>
          <a:solidFill>
            <a:schemeClr val="accent6"/>
          </a:solidFill>
        </p:spPr>
        <p:txBody>
          <a:bodyPr wrap="square" lIns="0" tIns="0" rIns="0" bIns="0" rtlCol="0" anchor="ctr"/>
          <a:lstStyle/>
          <a:p>
            <a:pPr marL="0" indent="0" algn="ctr">
              <a:buNone/>
            </a:pPr>
            <a:r>
              <a:rPr lang="en-US" sz="1000" b="1" dirty="0">
                <a:solidFill>
                  <a:schemeClr val="bg1"/>
                </a:solidFill>
                <a:latin typeface="Times New Roman" panose="02020603050405020304" charset="0"/>
                <a:cs typeface="Times New Roman" panose="02020603050405020304" charset="0"/>
              </a:rPr>
              <a:t>5</a:t>
            </a:r>
            <a:endParaRPr lang="en-US" sz="1000" b="1" dirty="0">
              <a:solidFill>
                <a:schemeClr val="bg1"/>
              </a:solidFill>
              <a:latin typeface="Times New Roman" panose="02020603050405020304" charset="0"/>
              <a:cs typeface="Times New Roman" panose="02020603050405020304" charset="0"/>
            </a:endParaRPr>
          </a:p>
        </p:txBody>
      </p:sp>
      <p:sp>
        <p:nvSpPr>
          <p:cNvPr id="8" name="Progress 6 105"/>
          <p:cNvSpPr txBox="1"/>
          <p:nvPr/>
        </p:nvSpPr>
        <p:spPr>
          <a:xfrm>
            <a:off x="973836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6</a:t>
            </a:r>
            <a:endParaRPr lang="en-US" sz="1000" b="1" dirty="0">
              <a:solidFill>
                <a:schemeClr val="tx2"/>
              </a:solidFill>
              <a:latin typeface="Times New Roman" panose="02020603050405020304" charset="0"/>
              <a:cs typeface="Times New Roman" panose="02020603050405020304" charset="0"/>
            </a:endParaRPr>
          </a:p>
        </p:txBody>
      </p:sp>
      <p:sp>
        <p:nvSpPr>
          <p:cNvPr id="9" name="Progress 7 106"/>
          <p:cNvSpPr txBox="1"/>
          <p:nvPr/>
        </p:nvSpPr>
        <p:spPr>
          <a:xfrm>
            <a:off x="1008583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7</a:t>
            </a:r>
            <a:endParaRPr lang="en-US" sz="1000" b="1" dirty="0">
              <a:solidFill>
                <a:schemeClr val="tx2"/>
              </a:solidFill>
              <a:latin typeface="Times New Roman" panose="02020603050405020304" charset="0"/>
              <a:cs typeface="Times New Roman" panose="02020603050405020304" charset="0"/>
            </a:endParaRPr>
          </a:p>
        </p:txBody>
      </p:sp>
      <p:sp>
        <p:nvSpPr>
          <p:cNvPr id="10" name="Progress 8 107"/>
          <p:cNvSpPr txBox="1"/>
          <p:nvPr/>
        </p:nvSpPr>
        <p:spPr>
          <a:xfrm>
            <a:off x="1043330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8</a:t>
            </a:r>
            <a:endParaRPr lang="en-US" sz="1000" b="1" dirty="0">
              <a:solidFill>
                <a:schemeClr val="tx2"/>
              </a:solidFill>
              <a:latin typeface="Times New Roman" panose="02020603050405020304" charset="0"/>
              <a:cs typeface="Times New Roman" panose="02020603050405020304" charset="0"/>
            </a:endParaRPr>
          </a:p>
        </p:txBody>
      </p:sp>
      <p:sp>
        <p:nvSpPr>
          <p:cNvPr id="11" name="Text 0"/>
          <p:cNvSpPr/>
          <p:nvPr>
            <p:ph type="title" idx="100" hasCustomPrompt="1"/>
          </p:nvPr>
        </p:nvSpPr>
        <p:spPr>
          <a:xfrm>
            <a:off x="1600200" y="365760"/>
            <a:ext cx="10040112" cy="777240"/>
          </a:xfrm>
          <a:prstGeom prst="rect">
            <a:avLst/>
          </a:prstGeom>
          <a:noFill/>
        </p:spPr>
        <p:txBody>
          <a:bodyPr wrap="square" lIns="0" tIns="0" rIns="0" bIns="0" rtlCol="0" anchor="ctr"/>
          <a:lstStyle/>
          <a:p>
            <a:pPr marL="0" indent="0" algn="l">
              <a:buNone/>
            </a:pPr>
            <a:r>
              <a:rPr lang="en-US" sz="3400" b="1" dirty="0">
                <a:solidFill>
                  <a:schemeClr val="tx1"/>
                </a:solidFill>
                <a:latin typeface="Times New Roman" panose="02020603050405020304" charset="0"/>
                <a:cs typeface="Times New Roman" panose="02020603050405020304" charset="0"/>
              </a:rPr>
              <a:t>Extract candidate details using the LLM</a:t>
            </a:r>
            <a:endParaRPr lang="en-US" sz="3400" b="1" dirty="0">
              <a:solidFill>
                <a:schemeClr val="tx1"/>
              </a:solidFill>
              <a:latin typeface="Times New Roman" panose="02020603050405020304" charset="0"/>
              <a:cs typeface="Times New Roman" panose="02020603050405020304" charset="0"/>
            </a:endParaRPr>
          </a:p>
        </p:txBody>
      </p:sp>
      <p:sp>
        <p:nvSpPr>
          <p:cNvPr id="18" name="Explain card 114"/>
          <p:cNvSpPr/>
          <p:nvPr/>
        </p:nvSpPr>
        <p:spPr>
          <a:xfrm>
            <a:off x="6812280" y="1371600"/>
            <a:ext cx="4827905" cy="2097405"/>
          </a:xfrm>
          <a:prstGeom prst="roundRect">
            <a:avLst>
              <a:gd name="adj" fmla="val 4688"/>
            </a:avLst>
          </a:prstGeom>
          <a:solidFill>
            <a:schemeClr val="accent6">
              <a:alpha val="10000"/>
            </a:schemeClr>
          </a:solidFill>
        </p:spPr>
      </p:sp>
      <p:sp>
        <p:nvSpPr>
          <p:cNvPr id="19" name="Text 115"/>
          <p:cNvSpPr txBox="1"/>
          <p:nvPr/>
        </p:nvSpPr>
        <p:spPr>
          <a:xfrm>
            <a:off x="7086600" y="1536192"/>
            <a:ext cx="4297680" cy="365760"/>
          </a:xfrm>
          <a:prstGeom prst="rect">
            <a:avLst/>
          </a:prstGeom>
          <a:noFill/>
        </p:spPr>
        <p:txBody>
          <a:bodyPr wrap="square" lIns="0" tIns="0" rIns="0" bIns="0" rtlCol="0" anchor="t"/>
          <a:lstStyle/>
          <a:p>
            <a:pPr marL="0" indent="0">
              <a:buNone/>
            </a:pPr>
            <a:r>
              <a:rPr lang="en-US" sz="2000" b="1" dirty="0">
                <a:solidFill>
                  <a:schemeClr val="tx1"/>
                </a:solidFill>
                <a:latin typeface="Times New Roman" panose="02020603050405020304" charset="0"/>
                <a:cs typeface="Times New Roman" panose="02020603050405020304" charset="0"/>
              </a:rPr>
              <a:t>What happens</a:t>
            </a:r>
            <a:endParaRPr lang="en-US" sz="2000" b="1" dirty="0">
              <a:solidFill>
                <a:schemeClr val="tx1"/>
              </a:solidFill>
              <a:latin typeface="Times New Roman" panose="02020603050405020304" charset="0"/>
              <a:cs typeface="Times New Roman" panose="02020603050405020304" charset="0"/>
            </a:endParaRPr>
          </a:p>
        </p:txBody>
      </p:sp>
      <p:sp>
        <p:nvSpPr>
          <p:cNvPr id="20" name="Text 116"/>
          <p:cNvSpPr txBox="1"/>
          <p:nvPr/>
        </p:nvSpPr>
        <p:spPr>
          <a:xfrm>
            <a:off x="7086600" y="2011680"/>
            <a:ext cx="4343400" cy="1417955"/>
          </a:xfrm>
          <a:prstGeom prst="rect">
            <a:avLst/>
          </a:prstGeom>
          <a:noFill/>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A prompt is built from the resume text</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ask_llm() calls the model with temperature 0 and a strict JSON schema</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Only stated facts are extracted; missing values stay blank</a:t>
            </a:r>
            <a:endParaRPr lang="en-US" sz="1500" dirty="0">
              <a:latin typeface="Times New Roman" panose="02020603050405020304" charset="0"/>
              <a:cs typeface="Times New Roman" panose="02020603050405020304" charset="0"/>
            </a:endParaRPr>
          </a:p>
        </p:txBody>
      </p:sp>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latin typeface="Times New Roman" panose="02020603050405020304" charset="0"/>
                <a:cs typeface="Times New Roman" panose="02020603050405020304" charset="0"/>
              </a:rPr>
            </a:fld>
            <a:endParaRPr lang="en-US" b="0">
              <a:latin typeface="Times New Roman" panose="02020603050405020304" charset="0"/>
              <a:cs typeface="Times New Roman" panose="02020603050405020304" charset="0"/>
            </a:endParaRPr>
          </a:p>
        </p:txBody>
      </p:sp>
      <p:pic>
        <p:nvPicPr>
          <p:cNvPr id="23" name="Picture 22" descr="Extract candidate details using LLM"/>
          <p:cNvPicPr>
            <a:picLocks noChangeAspect="1"/>
          </p:cNvPicPr>
          <p:nvPr/>
        </p:nvPicPr>
        <p:blipFill>
          <a:blip r:embed="rId1"/>
          <a:stretch>
            <a:fillRect/>
          </a:stretch>
        </p:blipFill>
        <p:spPr>
          <a:xfrm>
            <a:off x="1280160" y="1242695"/>
            <a:ext cx="4929505" cy="4929505"/>
          </a:xfrm>
          <a:prstGeom prst="rect">
            <a:avLst/>
          </a:prstGeom>
        </p:spPr>
      </p:pic>
      <p:sp>
        <p:nvSpPr>
          <p:cNvPr id="24" name="Fields card 200"/>
          <p:cNvSpPr/>
          <p:nvPr/>
        </p:nvSpPr>
        <p:spPr>
          <a:xfrm>
            <a:off x="6751320" y="3634740"/>
            <a:ext cx="4888865" cy="2324100"/>
          </a:xfrm>
          <a:prstGeom prst="roundRect">
            <a:avLst>
              <a:gd name="adj" fmla="val 3947"/>
            </a:avLst>
          </a:prstGeom>
          <a:solidFill>
            <a:schemeClr val="accent6">
              <a:alpha val="10000"/>
            </a:schemeClr>
          </a:solidFill>
        </p:spPr>
        <p:txBody>
          <a:bodyPr/>
          <a:p>
            <a:endParaRPr lang="en-US"/>
          </a:p>
        </p:txBody>
      </p:sp>
      <p:sp>
        <p:nvSpPr>
          <p:cNvPr id="26" name="Text 201"/>
          <p:cNvSpPr txBox="1"/>
          <p:nvPr/>
        </p:nvSpPr>
        <p:spPr>
          <a:xfrm>
            <a:off x="7025640" y="3817620"/>
            <a:ext cx="4547870" cy="214630"/>
          </a:xfrm>
          <a:prstGeom prst="rect">
            <a:avLst/>
          </a:prstGeom>
          <a:noFill/>
        </p:spPr>
        <p:txBody>
          <a:bodyPr wrap="square" lIns="0" tIns="0" rIns="0" bIns="0" rtlCol="0" anchor="t"/>
          <a:lstStyle/>
          <a:p>
            <a:pPr marL="0" indent="0">
              <a:buNone/>
            </a:pPr>
            <a:r>
              <a:rPr lang="en-US" sz="1800" b="1" dirty="0">
                <a:solidFill>
                  <a:schemeClr val="tx1"/>
                </a:solidFill>
              </a:rPr>
              <a:t>Fields extracted from each resume</a:t>
            </a:r>
            <a:endParaRPr lang="en-US" sz="1800" dirty="0"/>
          </a:p>
        </p:txBody>
      </p:sp>
      <p:sp>
        <p:nvSpPr>
          <p:cNvPr id="27" name="Chip 202"/>
          <p:cNvSpPr txBox="1"/>
          <p:nvPr/>
        </p:nvSpPr>
        <p:spPr>
          <a:xfrm>
            <a:off x="7025640" y="4274820"/>
            <a:ext cx="1013460" cy="379730"/>
          </a:xfrm>
          <a:prstGeom prst="roundRect">
            <a:avLst>
              <a:gd name="adj" fmla="val 32258"/>
            </a:avLst>
          </a:prstGeom>
          <a:solidFill>
            <a:schemeClr val="accent6">
              <a:alpha val="20000"/>
            </a:schemeClr>
          </a:solidFill>
        </p:spPr>
        <p:txBody>
          <a:bodyPr wrap="square" lIns="50800" tIns="50800" rIns="50800" bIns="50800" rtlCol="0" anchor="ctr"/>
          <a:lstStyle/>
          <a:p>
            <a:pPr marL="0" indent="0" algn="ctr">
              <a:buNone/>
            </a:pPr>
            <a:r>
              <a:rPr lang="en-US" sz="1600" b="1" dirty="0">
                <a:solidFill>
                  <a:schemeClr val="tx1"/>
                </a:solidFill>
              </a:rPr>
              <a:t>Name</a:t>
            </a:r>
            <a:endParaRPr lang="en-US" sz="1400" dirty="0"/>
          </a:p>
        </p:txBody>
      </p:sp>
      <p:sp>
        <p:nvSpPr>
          <p:cNvPr id="28" name="Chip 203"/>
          <p:cNvSpPr txBox="1"/>
          <p:nvPr/>
        </p:nvSpPr>
        <p:spPr>
          <a:xfrm>
            <a:off x="8695690" y="4284980"/>
            <a:ext cx="1097280" cy="370205"/>
          </a:xfrm>
          <a:prstGeom prst="roundRect">
            <a:avLst>
              <a:gd name="adj" fmla="val 32258"/>
            </a:avLst>
          </a:prstGeom>
          <a:solidFill>
            <a:schemeClr val="accent6">
              <a:alpha val="20000"/>
            </a:schemeClr>
          </a:solidFill>
        </p:spPr>
        <p:txBody>
          <a:bodyPr wrap="square" lIns="50800" tIns="50800" rIns="50800" bIns="50800" rtlCol="0" anchor="ctr"/>
          <a:lstStyle/>
          <a:p>
            <a:pPr marL="0" indent="0" algn="ctr">
              <a:buNone/>
            </a:pPr>
            <a:r>
              <a:rPr lang="en-US" sz="1600" b="1" dirty="0">
                <a:solidFill>
                  <a:schemeClr val="tx1"/>
                </a:solidFill>
              </a:rPr>
              <a:t>Email</a:t>
            </a:r>
            <a:endParaRPr lang="en-US" sz="1400" dirty="0"/>
          </a:p>
        </p:txBody>
      </p:sp>
      <p:sp>
        <p:nvSpPr>
          <p:cNvPr id="29" name="Chip 204"/>
          <p:cNvSpPr txBox="1"/>
          <p:nvPr/>
        </p:nvSpPr>
        <p:spPr>
          <a:xfrm>
            <a:off x="10416540" y="4298315"/>
            <a:ext cx="1013460" cy="334010"/>
          </a:xfrm>
          <a:prstGeom prst="roundRect">
            <a:avLst>
              <a:gd name="adj" fmla="val 32258"/>
            </a:avLst>
          </a:prstGeom>
          <a:solidFill>
            <a:schemeClr val="accent6">
              <a:alpha val="20000"/>
            </a:schemeClr>
          </a:solidFill>
        </p:spPr>
        <p:txBody>
          <a:bodyPr wrap="square" lIns="50800" tIns="50800" rIns="50800" bIns="50800" rtlCol="0" anchor="ctr"/>
          <a:lstStyle/>
          <a:p>
            <a:pPr marL="0" indent="0" algn="ctr">
              <a:buNone/>
            </a:pPr>
            <a:r>
              <a:rPr lang="en-US" sz="1600" b="1" dirty="0">
                <a:solidFill>
                  <a:schemeClr val="tx1"/>
                </a:solidFill>
              </a:rPr>
              <a:t>Phone</a:t>
            </a:r>
            <a:endParaRPr lang="en-US" sz="1400" dirty="0"/>
          </a:p>
        </p:txBody>
      </p:sp>
      <p:sp>
        <p:nvSpPr>
          <p:cNvPr id="30" name="Chip 205"/>
          <p:cNvSpPr txBox="1"/>
          <p:nvPr/>
        </p:nvSpPr>
        <p:spPr>
          <a:xfrm>
            <a:off x="7025640" y="4914900"/>
            <a:ext cx="1096645" cy="368935"/>
          </a:xfrm>
          <a:prstGeom prst="roundRect">
            <a:avLst>
              <a:gd name="adj" fmla="val 32258"/>
            </a:avLst>
          </a:prstGeom>
          <a:solidFill>
            <a:schemeClr val="accent6">
              <a:alpha val="20000"/>
            </a:schemeClr>
          </a:solidFill>
        </p:spPr>
        <p:txBody>
          <a:bodyPr wrap="square" lIns="50800" tIns="50800" rIns="50800" bIns="50800" rtlCol="0" anchor="ctr"/>
          <a:lstStyle/>
          <a:p>
            <a:pPr marL="0" indent="0" algn="ctr">
              <a:buNone/>
            </a:pPr>
            <a:r>
              <a:rPr lang="en-US" sz="1600" b="1" dirty="0">
                <a:solidFill>
                  <a:schemeClr val="tx1"/>
                </a:solidFill>
              </a:rPr>
              <a:t>Skills</a:t>
            </a:r>
            <a:endParaRPr lang="en-US" sz="1400" dirty="0"/>
          </a:p>
        </p:txBody>
      </p:sp>
      <p:sp>
        <p:nvSpPr>
          <p:cNvPr id="31" name="Chip 206"/>
          <p:cNvSpPr txBox="1"/>
          <p:nvPr/>
        </p:nvSpPr>
        <p:spPr>
          <a:xfrm>
            <a:off x="8725535" y="4914900"/>
            <a:ext cx="1012825" cy="368935"/>
          </a:xfrm>
          <a:prstGeom prst="roundRect">
            <a:avLst>
              <a:gd name="adj" fmla="val 32258"/>
            </a:avLst>
          </a:prstGeom>
          <a:solidFill>
            <a:schemeClr val="accent6">
              <a:alpha val="20000"/>
            </a:schemeClr>
          </a:solidFill>
        </p:spPr>
        <p:txBody>
          <a:bodyPr wrap="square" lIns="50800" tIns="50800" rIns="50800" bIns="50800" rtlCol="0" anchor="ctr"/>
          <a:lstStyle/>
          <a:p>
            <a:pPr marL="0" indent="0" algn="ctr">
              <a:buNone/>
            </a:pPr>
            <a:r>
              <a:rPr lang="en-US" sz="1600" b="1" dirty="0">
                <a:solidFill>
                  <a:schemeClr val="tx1"/>
                </a:solidFill>
              </a:rPr>
              <a:t>Education</a:t>
            </a:r>
            <a:endParaRPr lang="en-US" sz="1400" dirty="0"/>
          </a:p>
        </p:txBody>
      </p:sp>
      <p:sp>
        <p:nvSpPr>
          <p:cNvPr id="32" name="Chip 207"/>
          <p:cNvSpPr txBox="1"/>
          <p:nvPr/>
        </p:nvSpPr>
        <p:spPr>
          <a:xfrm>
            <a:off x="10433050" y="4935220"/>
            <a:ext cx="1096645" cy="348615"/>
          </a:xfrm>
          <a:prstGeom prst="roundRect">
            <a:avLst>
              <a:gd name="adj" fmla="val 32258"/>
            </a:avLst>
          </a:prstGeom>
          <a:solidFill>
            <a:schemeClr val="accent6">
              <a:alpha val="20000"/>
            </a:schemeClr>
          </a:solidFill>
        </p:spPr>
        <p:txBody>
          <a:bodyPr wrap="square" lIns="50800" tIns="50800" rIns="50800" bIns="50800" rtlCol="0" anchor="ctr"/>
          <a:lstStyle/>
          <a:p>
            <a:pPr marL="0" indent="0" algn="ctr">
              <a:buNone/>
            </a:pPr>
            <a:r>
              <a:rPr lang="en-US" sz="1600" b="1" dirty="0">
                <a:solidFill>
                  <a:schemeClr val="tx1"/>
                </a:solidFill>
              </a:rPr>
              <a:t>Location</a:t>
            </a:r>
            <a:endParaRPr lang="en-US" sz="1400" dirty="0"/>
          </a:p>
        </p:txBody>
      </p:sp>
      <p:sp>
        <p:nvSpPr>
          <p:cNvPr id="33" name="Chip 208"/>
          <p:cNvSpPr txBox="1"/>
          <p:nvPr/>
        </p:nvSpPr>
        <p:spPr>
          <a:xfrm>
            <a:off x="7025640" y="5461000"/>
            <a:ext cx="1266825" cy="372110"/>
          </a:xfrm>
          <a:prstGeom prst="roundRect">
            <a:avLst>
              <a:gd name="adj" fmla="val 32258"/>
            </a:avLst>
          </a:prstGeom>
          <a:solidFill>
            <a:schemeClr val="accent6">
              <a:alpha val="20000"/>
            </a:schemeClr>
          </a:solidFill>
        </p:spPr>
        <p:txBody>
          <a:bodyPr wrap="square" lIns="50800" tIns="50800" rIns="50800" bIns="50800" rtlCol="0" anchor="ctr"/>
          <a:lstStyle/>
          <a:p>
            <a:pPr marL="0" indent="0" algn="ctr">
              <a:buNone/>
            </a:pPr>
            <a:r>
              <a:rPr lang="en-US" sz="1600" b="1" dirty="0">
                <a:solidFill>
                  <a:schemeClr val="tx1"/>
                </a:solidFill>
              </a:rPr>
              <a:t>Experience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badge 119"/>
          <p:cNvSpPr txBox="1"/>
          <p:nvPr/>
        </p:nvSpPr>
        <p:spPr>
          <a:xfrm>
            <a:off x="548640" y="393192"/>
            <a:ext cx="731520" cy="731520"/>
          </a:xfrm>
          <a:prstGeom prst="ellipse">
            <a:avLst/>
          </a:prstGeom>
          <a:solidFill>
            <a:schemeClr val="accent5"/>
          </a:solidFill>
        </p:spPr>
        <p:txBody>
          <a:bodyPr wrap="square" lIns="0" tIns="0" rIns="0" bIns="0" rtlCol="0" anchor="ctr"/>
          <a:lstStyle/>
          <a:p>
            <a:pPr marL="0" indent="0" algn="ctr">
              <a:buNone/>
            </a:pPr>
            <a:r>
              <a:rPr lang="en-US" sz="2800" b="1" dirty="0">
                <a:solidFill>
                  <a:schemeClr val="bg1"/>
                </a:solidFill>
                <a:latin typeface="Times New Roman" panose="02020603050405020304" charset="0"/>
                <a:cs typeface="Times New Roman" panose="02020603050405020304" charset="0"/>
              </a:rPr>
              <a:t>6</a:t>
            </a:r>
            <a:endParaRPr lang="en-US" sz="2800" b="1" dirty="0">
              <a:solidFill>
                <a:schemeClr val="bg1"/>
              </a:solidFill>
              <a:latin typeface="Times New Roman" panose="02020603050405020304" charset="0"/>
              <a:cs typeface="Times New Roman" panose="02020603050405020304" charset="0"/>
            </a:endParaRPr>
          </a:p>
        </p:txBody>
      </p:sp>
      <p:sp>
        <p:nvSpPr>
          <p:cNvPr id="3" name="Progress 1 120"/>
          <p:cNvSpPr txBox="1"/>
          <p:nvPr/>
        </p:nvSpPr>
        <p:spPr>
          <a:xfrm>
            <a:off x="800100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1</a:t>
            </a:r>
            <a:endParaRPr lang="en-US" sz="1000" b="1" dirty="0">
              <a:solidFill>
                <a:schemeClr val="tx2"/>
              </a:solidFill>
              <a:latin typeface="Times New Roman" panose="02020603050405020304" charset="0"/>
              <a:cs typeface="Times New Roman" panose="02020603050405020304" charset="0"/>
            </a:endParaRPr>
          </a:p>
        </p:txBody>
      </p:sp>
      <p:sp>
        <p:nvSpPr>
          <p:cNvPr id="4" name="Progress 2 121"/>
          <p:cNvSpPr txBox="1"/>
          <p:nvPr/>
        </p:nvSpPr>
        <p:spPr>
          <a:xfrm>
            <a:off x="834847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2</a:t>
            </a:r>
            <a:endParaRPr lang="en-US" sz="1000" b="1" dirty="0">
              <a:solidFill>
                <a:schemeClr val="tx2"/>
              </a:solidFill>
              <a:latin typeface="Times New Roman" panose="02020603050405020304" charset="0"/>
              <a:cs typeface="Times New Roman" panose="02020603050405020304" charset="0"/>
            </a:endParaRPr>
          </a:p>
        </p:txBody>
      </p:sp>
      <p:sp>
        <p:nvSpPr>
          <p:cNvPr id="5" name="Progress 3 122"/>
          <p:cNvSpPr txBox="1"/>
          <p:nvPr/>
        </p:nvSpPr>
        <p:spPr>
          <a:xfrm>
            <a:off x="869594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3</a:t>
            </a:r>
            <a:endParaRPr lang="en-US" sz="1000" b="1" dirty="0">
              <a:solidFill>
                <a:schemeClr val="tx2"/>
              </a:solidFill>
              <a:latin typeface="Times New Roman" panose="02020603050405020304" charset="0"/>
              <a:cs typeface="Times New Roman" panose="02020603050405020304" charset="0"/>
            </a:endParaRPr>
          </a:p>
        </p:txBody>
      </p:sp>
      <p:sp>
        <p:nvSpPr>
          <p:cNvPr id="6" name="Progress 4 123"/>
          <p:cNvSpPr txBox="1"/>
          <p:nvPr/>
        </p:nvSpPr>
        <p:spPr>
          <a:xfrm>
            <a:off x="9043416"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4</a:t>
            </a:r>
            <a:endParaRPr lang="en-US" sz="1000" b="1" dirty="0">
              <a:solidFill>
                <a:schemeClr val="tx2"/>
              </a:solidFill>
              <a:latin typeface="Times New Roman" panose="02020603050405020304" charset="0"/>
              <a:cs typeface="Times New Roman" panose="02020603050405020304" charset="0"/>
            </a:endParaRPr>
          </a:p>
        </p:txBody>
      </p:sp>
      <p:sp>
        <p:nvSpPr>
          <p:cNvPr id="7" name="Progress 5 124"/>
          <p:cNvSpPr txBox="1"/>
          <p:nvPr/>
        </p:nvSpPr>
        <p:spPr>
          <a:xfrm>
            <a:off x="9390888"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5</a:t>
            </a:r>
            <a:endParaRPr lang="en-US" sz="1000" b="1" dirty="0">
              <a:solidFill>
                <a:schemeClr val="tx2"/>
              </a:solidFill>
              <a:latin typeface="Times New Roman" panose="02020603050405020304" charset="0"/>
              <a:cs typeface="Times New Roman" panose="02020603050405020304" charset="0"/>
            </a:endParaRPr>
          </a:p>
        </p:txBody>
      </p:sp>
      <p:sp>
        <p:nvSpPr>
          <p:cNvPr id="8" name="Progress 6 125"/>
          <p:cNvSpPr txBox="1"/>
          <p:nvPr/>
        </p:nvSpPr>
        <p:spPr>
          <a:xfrm>
            <a:off x="9738360" y="6400800"/>
            <a:ext cx="274320" cy="274320"/>
          </a:xfrm>
          <a:prstGeom prst="ellipse">
            <a:avLst/>
          </a:prstGeom>
          <a:solidFill>
            <a:schemeClr val="accent5"/>
          </a:solidFill>
        </p:spPr>
        <p:txBody>
          <a:bodyPr wrap="square" lIns="0" tIns="0" rIns="0" bIns="0" rtlCol="0" anchor="ctr"/>
          <a:lstStyle/>
          <a:p>
            <a:pPr marL="0" indent="0" algn="ctr">
              <a:buNone/>
            </a:pPr>
            <a:r>
              <a:rPr lang="en-US" sz="1000" b="1" dirty="0">
                <a:solidFill>
                  <a:schemeClr val="bg1"/>
                </a:solidFill>
                <a:latin typeface="Times New Roman" panose="02020603050405020304" charset="0"/>
                <a:cs typeface="Times New Roman" panose="02020603050405020304" charset="0"/>
              </a:rPr>
              <a:t>6</a:t>
            </a:r>
            <a:endParaRPr lang="en-US" sz="1000" b="1" dirty="0">
              <a:solidFill>
                <a:schemeClr val="bg1"/>
              </a:solidFill>
              <a:latin typeface="Times New Roman" panose="02020603050405020304" charset="0"/>
              <a:cs typeface="Times New Roman" panose="02020603050405020304" charset="0"/>
            </a:endParaRPr>
          </a:p>
        </p:txBody>
      </p:sp>
      <p:sp>
        <p:nvSpPr>
          <p:cNvPr id="9" name="Progress 7 126"/>
          <p:cNvSpPr txBox="1"/>
          <p:nvPr/>
        </p:nvSpPr>
        <p:spPr>
          <a:xfrm>
            <a:off x="1008583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7</a:t>
            </a:r>
            <a:endParaRPr lang="en-US" sz="1000" b="1" dirty="0">
              <a:solidFill>
                <a:schemeClr val="tx2"/>
              </a:solidFill>
              <a:latin typeface="Times New Roman" panose="02020603050405020304" charset="0"/>
              <a:cs typeface="Times New Roman" panose="02020603050405020304" charset="0"/>
            </a:endParaRPr>
          </a:p>
        </p:txBody>
      </p:sp>
      <p:sp>
        <p:nvSpPr>
          <p:cNvPr id="10" name="Progress 8 127"/>
          <p:cNvSpPr txBox="1"/>
          <p:nvPr/>
        </p:nvSpPr>
        <p:spPr>
          <a:xfrm>
            <a:off x="1043330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8</a:t>
            </a:r>
            <a:endParaRPr lang="en-US" sz="1000" b="1" dirty="0">
              <a:solidFill>
                <a:schemeClr val="tx2"/>
              </a:solidFill>
              <a:latin typeface="Times New Roman" panose="02020603050405020304" charset="0"/>
              <a:cs typeface="Times New Roman" panose="02020603050405020304" charset="0"/>
            </a:endParaRPr>
          </a:p>
        </p:txBody>
      </p:sp>
      <p:sp>
        <p:nvSpPr>
          <p:cNvPr id="11" name="Text 0"/>
          <p:cNvSpPr/>
          <p:nvPr>
            <p:ph type="title" idx="100" hasCustomPrompt="1"/>
          </p:nvPr>
        </p:nvSpPr>
        <p:spPr>
          <a:xfrm>
            <a:off x="1600200" y="365760"/>
            <a:ext cx="10040112" cy="777240"/>
          </a:xfrm>
          <a:prstGeom prst="rect">
            <a:avLst/>
          </a:prstGeom>
          <a:noFill/>
        </p:spPr>
        <p:txBody>
          <a:bodyPr wrap="square" lIns="0" tIns="0" rIns="0" bIns="0" rtlCol="0" anchor="ctr"/>
          <a:lstStyle/>
          <a:p>
            <a:pPr marL="0" indent="0" algn="l">
              <a:buNone/>
            </a:pPr>
            <a:r>
              <a:rPr lang="en-US" sz="3400" b="1" dirty="0">
                <a:solidFill>
                  <a:schemeClr val="tx1"/>
                </a:solidFill>
                <a:latin typeface="Times New Roman" panose="02020603050405020304" charset="0"/>
                <a:cs typeface="Times New Roman" panose="02020603050405020304" charset="0"/>
              </a:rPr>
              <a:t>Match </a:t>
            </a:r>
            <a:r>
              <a:rPr lang="en-IN" altLang="en-US" sz="3400" b="1" dirty="0">
                <a:solidFill>
                  <a:schemeClr val="tx1"/>
                </a:solidFill>
                <a:latin typeface="Times New Roman" panose="02020603050405020304" charset="0"/>
                <a:cs typeface="Times New Roman" panose="02020603050405020304" charset="0"/>
              </a:rPr>
              <a:t>R</a:t>
            </a:r>
            <a:r>
              <a:rPr lang="en-US" sz="3400" b="1" dirty="0">
                <a:solidFill>
                  <a:schemeClr val="tx1"/>
                </a:solidFill>
                <a:latin typeface="Times New Roman" panose="02020603050405020304" charset="0"/>
                <a:cs typeface="Times New Roman" panose="02020603050405020304" charset="0"/>
              </a:rPr>
              <a:t>esume with </a:t>
            </a:r>
            <a:r>
              <a:rPr lang="en-IN" altLang="en-US" sz="3400" b="1" dirty="0">
                <a:solidFill>
                  <a:schemeClr val="tx1"/>
                </a:solidFill>
                <a:latin typeface="Times New Roman" panose="02020603050405020304" charset="0"/>
                <a:cs typeface="Times New Roman" panose="02020603050405020304" charset="0"/>
              </a:rPr>
              <a:t>J</a:t>
            </a:r>
            <a:r>
              <a:rPr lang="en-US" sz="3400" b="1" dirty="0">
                <a:solidFill>
                  <a:schemeClr val="tx1"/>
                </a:solidFill>
                <a:latin typeface="Times New Roman" panose="02020603050405020304" charset="0"/>
                <a:cs typeface="Times New Roman" panose="02020603050405020304" charset="0"/>
              </a:rPr>
              <a:t>ob </a:t>
            </a:r>
            <a:r>
              <a:rPr lang="en-IN" altLang="en-US" sz="3400" b="1" dirty="0">
                <a:solidFill>
                  <a:schemeClr val="tx1"/>
                </a:solidFill>
                <a:latin typeface="Times New Roman" panose="02020603050405020304" charset="0"/>
                <a:cs typeface="Times New Roman" panose="02020603050405020304" charset="0"/>
              </a:rPr>
              <a:t>D</a:t>
            </a:r>
            <a:r>
              <a:rPr lang="en-US" sz="3400" b="1" dirty="0">
                <a:solidFill>
                  <a:schemeClr val="tx1"/>
                </a:solidFill>
                <a:latin typeface="Times New Roman" panose="02020603050405020304" charset="0"/>
                <a:cs typeface="Times New Roman" panose="02020603050405020304" charset="0"/>
              </a:rPr>
              <a:t>escription</a:t>
            </a:r>
            <a:endParaRPr lang="en-US" sz="3400" b="1" dirty="0">
              <a:solidFill>
                <a:schemeClr val="tx1"/>
              </a:solidFill>
              <a:latin typeface="Times New Roman" panose="02020603050405020304" charset="0"/>
              <a:cs typeface="Times New Roman" panose="02020603050405020304" charset="0"/>
            </a:endParaRPr>
          </a:p>
        </p:txBody>
      </p:sp>
      <p:sp>
        <p:nvSpPr>
          <p:cNvPr id="20" name="Explain card 136"/>
          <p:cNvSpPr/>
          <p:nvPr/>
        </p:nvSpPr>
        <p:spPr>
          <a:xfrm>
            <a:off x="6812280" y="1239520"/>
            <a:ext cx="4827905" cy="2072640"/>
          </a:xfrm>
          <a:prstGeom prst="roundRect">
            <a:avLst>
              <a:gd name="adj" fmla="val 4688"/>
            </a:avLst>
          </a:prstGeom>
          <a:solidFill>
            <a:schemeClr val="accent5">
              <a:alpha val="10000"/>
            </a:schemeClr>
          </a:solidFill>
        </p:spPr>
      </p:sp>
      <p:sp>
        <p:nvSpPr>
          <p:cNvPr id="21" name="Text 137"/>
          <p:cNvSpPr txBox="1"/>
          <p:nvPr/>
        </p:nvSpPr>
        <p:spPr>
          <a:xfrm>
            <a:off x="7086600" y="1312672"/>
            <a:ext cx="4297680" cy="365760"/>
          </a:xfrm>
          <a:prstGeom prst="rect">
            <a:avLst/>
          </a:prstGeom>
          <a:noFill/>
        </p:spPr>
        <p:txBody>
          <a:bodyPr wrap="square" lIns="0" tIns="0" rIns="0" bIns="0" rtlCol="0" anchor="t"/>
          <a:lstStyle/>
          <a:p>
            <a:pPr marL="0" indent="0">
              <a:buNone/>
            </a:pPr>
            <a:r>
              <a:rPr lang="en-US" sz="2000" b="1" dirty="0">
                <a:solidFill>
                  <a:schemeClr val="tx1"/>
                </a:solidFill>
                <a:latin typeface="Times New Roman" panose="02020603050405020304" charset="0"/>
                <a:cs typeface="Times New Roman" panose="02020603050405020304" charset="0"/>
              </a:rPr>
              <a:t>What happens</a:t>
            </a:r>
            <a:endParaRPr lang="en-US" sz="2000" b="1" dirty="0">
              <a:solidFill>
                <a:schemeClr val="tx1"/>
              </a:solidFill>
              <a:latin typeface="Times New Roman" panose="02020603050405020304" charset="0"/>
              <a:cs typeface="Times New Roman" panose="02020603050405020304" charset="0"/>
            </a:endParaRPr>
          </a:p>
        </p:txBody>
      </p:sp>
      <p:sp>
        <p:nvSpPr>
          <p:cNvPr id="22" name="Text 138"/>
          <p:cNvSpPr txBox="1"/>
          <p:nvPr/>
        </p:nvSpPr>
        <p:spPr>
          <a:xfrm>
            <a:off x="7086600" y="1696720"/>
            <a:ext cx="4343400" cy="1616075"/>
          </a:xfrm>
          <a:prstGeom prst="rect">
            <a:avLst/>
          </a:prstGeom>
          <a:noFill/>
        </p:spPr>
        <p:txBody>
          <a:bodyPr wrap="square" lIns="0" tIns="0" rIns="0" bIns="0" rtlCol="0" anchor="t"/>
          <a:lstStyle/>
          <a:p>
            <a:pPr marL="342900" indent="-342900">
              <a:spcAft>
                <a:spcPts val="800"/>
              </a:spcAft>
              <a:buSzPct val="100000"/>
              <a:buAutoNum type="arabicPeriod"/>
            </a:pPr>
            <a:r>
              <a:rPr lang="en-US" sz="1500" dirty="0">
                <a:latin typeface="Times New Roman" panose="02020603050405020304" charset="0"/>
                <a:cs typeface="Times New Roman" panose="02020603050405020304" charset="0"/>
                <a:sym typeface="+mn-ea"/>
              </a:rPr>
              <a:t>The LLM compares only written, job-related evidence</a:t>
            </a:r>
            <a:r>
              <a:rPr lang="en-IN" altLang="en-US" sz="1500" dirty="0">
                <a:latin typeface="Times New Roman" panose="02020603050405020304" charset="0"/>
                <a:cs typeface="Times New Roman" panose="02020603050405020304" charset="0"/>
                <a:sym typeface="+mn-ea"/>
              </a:rPr>
              <a:t>.</a:t>
            </a:r>
            <a:endParaRPr lang="en-IN" altLang="en-US" sz="1500" dirty="0">
              <a:latin typeface="Times New Roman" panose="02020603050405020304" charset="0"/>
              <a:cs typeface="Times New Roman" panose="02020603050405020304" charset="0"/>
              <a:sym typeface="+mn-ea"/>
            </a:endParaRPr>
          </a:p>
          <a:p>
            <a:pPr marL="342900" indent="-342900">
              <a:spcAft>
                <a:spcPts val="800"/>
              </a:spcAft>
              <a:buSzPct val="100000"/>
              <a:buAutoNum type="arabicPeriod"/>
            </a:pPr>
            <a:r>
              <a:rPr lang="en-IN" altLang="en-US" sz="1500" dirty="0">
                <a:latin typeface="Times New Roman" panose="02020603050405020304" charset="0"/>
                <a:cs typeface="Times New Roman" panose="02020603050405020304" charset="0"/>
                <a:sym typeface="+mn-ea"/>
              </a:rPr>
              <a:t>N</a:t>
            </a:r>
            <a:r>
              <a:rPr lang="en-US" sz="1500" dirty="0">
                <a:latin typeface="Times New Roman" panose="02020603050405020304" charset="0"/>
                <a:cs typeface="Times New Roman" panose="02020603050405020304" charset="0"/>
                <a:sym typeface="+mn-ea"/>
              </a:rPr>
              <a:t>o double-counting, no guessing, and protected characteristics are ignored</a:t>
            </a:r>
            <a:r>
              <a:rPr lang="en-IN" altLang="en-US" sz="1500" dirty="0">
                <a:latin typeface="Times New Roman" panose="02020603050405020304" charset="0"/>
                <a:cs typeface="Times New Roman" panose="02020603050405020304" charset="0"/>
                <a:sym typeface="+mn-ea"/>
              </a:rPr>
              <a:t>.</a:t>
            </a:r>
            <a:endParaRPr lang="en-IN" altLang="en-US" sz="1500" dirty="0">
              <a:latin typeface="Times New Roman" panose="02020603050405020304" charset="0"/>
              <a:cs typeface="Times New Roman" panose="02020603050405020304" charset="0"/>
              <a:sym typeface="+mn-ea"/>
            </a:endParaRPr>
          </a:p>
          <a:p>
            <a:pPr marL="342900" indent="-342900">
              <a:spcAft>
                <a:spcPts val="800"/>
              </a:spcAft>
              <a:buSzPct val="100000"/>
              <a:buAutoNum type="arabicPeriod"/>
            </a:pPr>
            <a:r>
              <a:rPr lang="en-IN" altLang="en-US" sz="1500" dirty="0">
                <a:latin typeface="Times New Roman" panose="02020603050405020304" charset="0"/>
                <a:cs typeface="Times New Roman" panose="02020603050405020304" charset="0"/>
                <a:sym typeface="+mn-ea"/>
              </a:rPr>
              <a:t>A</a:t>
            </a:r>
            <a:r>
              <a:rPr lang="en-US" sz="1500" dirty="0">
                <a:latin typeface="Times New Roman" panose="02020603050405020304" charset="0"/>
                <a:cs typeface="Times New Roman" panose="02020603050405020304" charset="0"/>
                <a:sym typeface="+mn-ea"/>
              </a:rPr>
              <a:t> short evidence list explains each score for the human reviewer</a:t>
            </a:r>
            <a:endParaRPr lang="en-US" sz="1500" dirty="0">
              <a:latin typeface="Times New Roman" panose="02020603050405020304" charset="0"/>
              <a:cs typeface="Times New Roman" panose="02020603050405020304" charset="0"/>
            </a:endParaRPr>
          </a:p>
        </p:txBody>
      </p:sp>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latin typeface="Times New Roman" panose="02020603050405020304" charset="0"/>
                <a:cs typeface="Times New Roman" panose="02020603050405020304" charset="0"/>
              </a:rPr>
            </a:fld>
            <a:endParaRPr lang="en-US" b="0">
              <a:latin typeface="Times New Roman" panose="02020603050405020304" charset="0"/>
              <a:cs typeface="Times New Roman" panose="02020603050405020304" charset="0"/>
            </a:endParaRPr>
          </a:p>
        </p:txBody>
      </p:sp>
      <p:pic>
        <p:nvPicPr>
          <p:cNvPr id="26" name="Picture 25" descr="Match resume with job description"/>
          <p:cNvPicPr>
            <a:picLocks noChangeAspect="1"/>
          </p:cNvPicPr>
          <p:nvPr/>
        </p:nvPicPr>
        <p:blipFill>
          <a:blip r:embed="rId2"/>
          <a:stretch>
            <a:fillRect/>
          </a:stretch>
        </p:blipFill>
        <p:spPr>
          <a:xfrm>
            <a:off x="1068705" y="1335405"/>
            <a:ext cx="4836795" cy="4836795"/>
          </a:xfrm>
          <a:prstGeom prst="rect">
            <a:avLst/>
          </a:prstGeom>
        </p:spPr>
      </p:pic>
      <p:sp>
        <p:nvSpPr>
          <p:cNvPr id="27" name="Chart card 232"/>
          <p:cNvSpPr/>
          <p:nvPr/>
        </p:nvSpPr>
        <p:spPr>
          <a:xfrm>
            <a:off x="6761480" y="3429000"/>
            <a:ext cx="4878070" cy="2732405"/>
          </a:xfrm>
          <a:prstGeom prst="roundRect">
            <a:avLst>
              <a:gd name="adj" fmla="val 3896"/>
            </a:avLst>
          </a:prstGeom>
          <a:solidFill>
            <a:schemeClr val="accent6">
              <a:alpha val="8000"/>
            </a:schemeClr>
          </a:solidFill>
        </p:spPr>
      </p:sp>
      <p:sp>
        <p:nvSpPr>
          <p:cNvPr id="28" name="Text 233"/>
          <p:cNvSpPr txBox="1"/>
          <p:nvPr/>
        </p:nvSpPr>
        <p:spPr>
          <a:xfrm>
            <a:off x="7035800" y="3566160"/>
            <a:ext cx="4434840" cy="248920"/>
          </a:xfrm>
          <a:prstGeom prst="rect">
            <a:avLst/>
          </a:prstGeom>
          <a:noFill/>
        </p:spPr>
        <p:txBody>
          <a:bodyPr wrap="square" lIns="0" tIns="0" rIns="0" bIns="0" rtlCol="0" anchor="t"/>
          <a:lstStyle/>
          <a:p>
            <a:pPr marL="0" indent="0">
              <a:buNone/>
            </a:pPr>
            <a:r>
              <a:rPr lang="en-US" sz="2000" b="1" dirty="0">
                <a:solidFill>
                  <a:schemeClr val="tx1"/>
                </a:solidFill>
                <a:latin typeface="Times New Roman" panose="02020603050405020304" charset="0"/>
                <a:cs typeface="Times New Roman" panose="02020603050405020304" charset="0"/>
              </a:rPr>
              <a:t>Maximum points per category</a:t>
            </a:r>
            <a:endParaRPr lang="en-US" sz="2000" b="1" dirty="0">
              <a:solidFill>
                <a:schemeClr val="tx1"/>
              </a:solidFill>
              <a:latin typeface="Times New Roman" panose="02020603050405020304" charset="0"/>
              <a:cs typeface="Times New Roman" panose="02020603050405020304" charset="0"/>
            </a:endParaRPr>
          </a:p>
        </p:txBody>
      </p:sp>
      <p:graphicFrame>
        <p:nvGraphicFramePr>
          <p:cNvPr id="29" name="Chart 0"/>
          <p:cNvGraphicFramePr/>
          <p:nvPr/>
        </p:nvGraphicFramePr>
        <p:xfrm>
          <a:off x="6944360" y="3931920"/>
          <a:ext cx="4582795" cy="227139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badge 141"/>
          <p:cNvSpPr txBox="1"/>
          <p:nvPr/>
        </p:nvSpPr>
        <p:spPr>
          <a:xfrm>
            <a:off x="548640" y="393192"/>
            <a:ext cx="731520" cy="731520"/>
          </a:xfrm>
          <a:prstGeom prst="ellipse">
            <a:avLst/>
          </a:prstGeom>
          <a:solidFill>
            <a:schemeClr val="accent1"/>
          </a:solidFill>
        </p:spPr>
        <p:txBody>
          <a:bodyPr wrap="square" lIns="0" tIns="0" rIns="0" bIns="0" rtlCol="0" anchor="ctr"/>
          <a:lstStyle/>
          <a:p>
            <a:pPr marL="0" indent="0" algn="ctr">
              <a:buNone/>
            </a:pPr>
            <a:r>
              <a:rPr lang="en-US" sz="2800" b="1" dirty="0">
                <a:solidFill>
                  <a:schemeClr val="bg1"/>
                </a:solidFill>
                <a:latin typeface="Times New Roman" panose="02020603050405020304" charset="0"/>
                <a:cs typeface="Times New Roman" panose="02020603050405020304" charset="0"/>
              </a:rPr>
              <a:t>7</a:t>
            </a:r>
            <a:endParaRPr lang="en-US" sz="2800" b="1" dirty="0">
              <a:solidFill>
                <a:schemeClr val="bg1"/>
              </a:solidFill>
              <a:latin typeface="Times New Roman" panose="02020603050405020304" charset="0"/>
              <a:cs typeface="Times New Roman" panose="02020603050405020304" charset="0"/>
            </a:endParaRPr>
          </a:p>
        </p:txBody>
      </p:sp>
      <p:sp>
        <p:nvSpPr>
          <p:cNvPr id="3" name="Progress 1 142"/>
          <p:cNvSpPr txBox="1"/>
          <p:nvPr/>
        </p:nvSpPr>
        <p:spPr>
          <a:xfrm>
            <a:off x="800100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1</a:t>
            </a:r>
            <a:endParaRPr lang="en-US" sz="1000" b="1" dirty="0">
              <a:solidFill>
                <a:schemeClr val="tx2"/>
              </a:solidFill>
              <a:latin typeface="Times New Roman" panose="02020603050405020304" charset="0"/>
              <a:cs typeface="Times New Roman" panose="02020603050405020304" charset="0"/>
            </a:endParaRPr>
          </a:p>
        </p:txBody>
      </p:sp>
      <p:sp>
        <p:nvSpPr>
          <p:cNvPr id="4" name="Progress 2 143"/>
          <p:cNvSpPr txBox="1"/>
          <p:nvPr/>
        </p:nvSpPr>
        <p:spPr>
          <a:xfrm>
            <a:off x="834847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2</a:t>
            </a:r>
            <a:endParaRPr lang="en-US" sz="1000" b="1" dirty="0">
              <a:solidFill>
                <a:schemeClr val="tx2"/>
              </a:solidFill>
              <a:latin typeface="Times New Roman" panose="02020603050405020304" charset="0"/>
              <a:cs typeface="Times New Roman" panose="02020603050405020304" charset="0"/>
            </a:endParaRPr>
          </a:p>
        </p:txBody>
      </p:sp>
      <p:sp>
        <p:nvSpPr>
          <p:cNvPr id="5" name="Progress 3 144"/>
          <p:cNvSpPr txBox="1"/>
          <p:nvPr/>
        </p:nvSpPr>
        <p:spPr>
          <a:xfrm>
            <a:off x="869594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3</a:t>
            </a:r>
            <a:endParaRPr lang="en-US" sz="1000" b="1" dirty="0">
              <a:solidFill>
                <a:schemeClr val="tx2"/>
              </a:solidFill>
              <a:latin typeface="Times New Roman" panose="02020603050405020304" charset="0"/>
              <a:cs typeface="Times New Roman" panose="02020603050405020304" charset="0"/>
            </a:endParaRPr>
          </a:p>
        </p:txBody>
      </p:sp>
      <p:sp>
        <p:nvSpPr>
          <p:cNvPr id="6" name="Progress 4 145"/>
          <p:cNvSpPr txBox="1"/>
          <p:nvPr/>
        </p:nvSpPr>
        <p:spPr>
          <a:xfrm>
            <a:off x="9043416"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4</a:t>
            </a:r>
            <a:endParaRPr lang="en-US" sz="1000" b="1" dirty="0">
              <a:solidFill>
                <a:schemeClr val="tx2"/>
              </a:solidFill>
              <a:latin typeface="Times New Roman" panose="02020603050405020304" charset="0"/>
              <a:cs typeface="Times New Roman" panose="02020603050405020304" charset="0"/>
            </a:endParaRPr>
          </a:p>
        </p:txBody>
      </p:sp>
      <p:sp>
        <p:nvSpPr>
          <p:cNvPr id="7" name="Progress 5 146"/>
          <p:cNvSpPr txBox="1"/>
          <p:nvPr/>
        </p:nvSpPr>
        <p:spPr>
          <a:xfrm>
            <a:off x="9390888"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5</a:t>
            </a:r>
            <a:endParaRPr lang="en-US" sz="1000" b="1" dirty="0">
              <a:solidFill>
                <a:schemeClr val="tx2"/>
              </a:solidFill>
              <a:latin typeface="Times New Roman" panose="02020603050405020304" charset="0"/>
              <a:cs typeface="Times New Roman" panose="02020603050405020304" charset="0"/>
            </a:endParaRPr>
          </a:p>
        </p:txBody>
      </p:sp>
      <p:sp>
        <p:nvSpPr>
          <p:cNvPr id="8" name="Progress 6 147"/>
          <p:cNvSpPr txBox="1"/>
          <p:nvPr/>
        </p:nvSpPr>
        <p:spPr>
          <a:xfrm>
            <a:off x="973836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6</a:t>
            </a:r>
            <a:endParaRPr lang="en-US" sz="1000" b="1" dirty="0">
              <a:solidFill>
                <a:schemeClr val="tx2"/>
              </a:solidFill>
              <a:latin typeface="Times New Roman" panose="02020603050405020304" charset="0"/>
              <a:cs typeface="Times New Roman" panose="02020603050405020304" charset="0"/>
            </a:endParaRPr>
          </a:p>
        </p:txBody>
      </p:sp>
      <p:sp>
        <p:nvSpPr>
          <p:cNvPr id="9" name="Progress 7 148"/>
          <p:cNvSpPr txBox="1"/>
          <p:nvPr/>
        </p:nvSpPr>
        <p:spPr>
          <a:xfrm>
            <a:off x="10085832" y="6400800"/>
            <a:ext cx="274320" cy="274320"/>
          </a:xfrm>
          <a:prstGeom prst="ellipse">
            <a:avLst/>
          </a:prstGeom>
          <a:solidFill>
            <a:schemeClr val="accent1"/>
          </a:solidFill>
        </p:spPr>
        <p:txBody>
          <a:bodyPr wrap="square" lIns="0" tIns="0" rIns="0" bIns="0" rtlCol="0" anchor="ctr"/>
          <a:lstStyle/>
          <a:p>
            <a:pPr marL="0" indent="0" algn="ctr">
              <a:buNone/>
            </a:pPr>
            <a:r>
              <a:rPr lang="en-US" sz="1000" b="1" dirty="0">
                <a:solidFill>
                  <a:schemeClr val="bg1"/>
                </a:solidFill>
                <a:latin typeface="Times New Roman" panose="02020603050405020304" charset="0"/>
                <a:cs typeface="Times New Roman" panose="02020603050405020304" charset="0"/>
              </a:rPr>
              <a:t>7</a:t>
            </a:r>
            <a:endParaRPr lang="en-US" sz="1000" b="1" dirty="0">
              <a:solidFill>
                <a:schemeClr val="bg1"/>
              </a:solidFill>
              <a:latin typeface="Times New Roman" panose="02020603050405020304" charset="0"/>
              <a:cs typeface="Times New Roman" panose="02020603050405020304" charset="0"/>
            </a:endParaRPr>
          </a:p>
        </p:txBody>
      </p:sp>
      <p:sp>
        <p:nvSpPr>
          <p:cNvPr id="10" name="Progress 8 149"/>
          <p:cNvSpPr txBox="1"/>
          <p:nvPr/>
        </p:nvSpPr>
        <p:spPr>
          <a:xfrm>
            <a:off x="1043330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8</a:t>
            </a:r>
            <a:endParaRPr lang="en-US" sz="1000" b="1" dirty="0">
              <a:solidFill>
                <a:schemeClr val="tx2"/>
              </a:solidFill>
              <a:latin typeface="Times New Roman" panose="02020603050405020304" charset="0"/>
              <a:cs typeface="Times New Roman" panose="02020603050405020304" charset="0"/>
            </a:endParaRPr>
          </a:p>
        </p:txBody>
      </p:sp>
      <p:sp>
        <p:nvSpPr>
          <p:cNvPr id="11" name="Text 0"/>
          <p:cNvSpPr/>
          <p:nvPr>
            <p:ph type="title" idx="100" hasCustomPrompt="1"/>
          </p:nvPr>
        </p:nvSpPr>
        <p:spPr>
          <a:xfrm>
            <a:off x="1600200" y="365760"/>
            <a:ext cx="10040112" cy="777240"/>
          </a:xfrm>
          <a:prstGeom prst="rect">
            <a:avLst/>
          </a:prstGeom>
          <a:noFill/>
        </p:spPr>
        <p:txBody>
          <a:bodyPr wrap="square" lIns="0" tIns="0" rIns="0" bIns="0" rtlCol="0" anchor="ctr"/>
          <a:lstStyle/>
          <a:p>
            <a:pPr marL="0" indent="0" algn="l">
              <a:buNone/>
            </a:pPr>
            <a:r>
              <a:rPr lang="en-US" sz="3400" b="1" dirty="0">
                <a:solidFill>
                  <a:schemeClr val="tx1"/>
                </a:solidFill>
                <a:latin typeface="Times New Roman" panose="02020603050405020304" charset="0"/>
                <a:cs typeface="Times New Roman" panose="02020603050405020304" charset="0"/>
              </a:rPr>
              <a:t>Rank candidates</a:t>
            </a:r>
            <a:endParaRPr lang="en-US" sz="3400" b="1" dirty="0">
              <a:solidFill>
                <a:schemeClr val="tx1"/>
              </a:solidFill>
              <a:latin typeface="Times New Roman" panose="02020603050405020304" charset="0"/>
              <a:cs typeface="Times New Roman" panose="02020603050405020304" charset="0"/>
            </a:endParaRPr>
          </a:p>
        </p:txBody>
      </p:sp>
      <p:sp>
        <p:nvSpPr>
          <p:cNvPr id="20" name="Explain card 158"/>
          <p:cNvSpPr/>
          <p:nvPr/>
        </p:nvSpPr>
        <p:spPr>
          <a:xfrm>
            <a:off x="6812280" y="1371600"/>
            <a:ext cx="4828032" cy="2926080"/>
          </a:xfrm>
          <a:prstGeom prst="roundRect">
            <a:avLst>
              <a:gd name="adj" fmla="val 4688"/>
            </a:avLst>
          </a:prstGeom>
          <a:solidFill>
            <a:schemeClr val="accent1">
              <a:alpha val="10000"/>
            </a:schemeClr>
          </a:solidFill>
        </p:spPr>
      </p:sp>
      <p:sp>
        <p:nvSpPr>
          <p:cNvPr id="21" name="Text 159"/>
          <p:cNvSpPr txBox="1"/>
          <p:nvPr/>
        </p:nvSpPr>
        <p:spPr>
          <a:xfrm>
            <a:off x="7086600" y="1536192"/>
            <a:ext cx="4297680" cy="365760"/>
          </a:xfrm>
          <a:prstGeom prst="rect">
            <a:avLst/>
          </a:prstGeom>
          <a:noFill/>
        </p:spPr>
        <p:txBody>
          <a:bodyPr wrap="square" lIns="0" tIns="0" rIns="0" bIns="0" rtlCol="0" anchor="t"/>
          <a:lstStyle/>
          <a:p>
            <a:pPr marL="0" indent="0">
              <a:buNone/>
            </a:pPr>
            <a:r>
              <a:rPr lang="en-US" sz="2000" b="1" dirty="0">
                <a:solidFill>
                  <a:schemeClr val="tx1"/>
                </a:solidFill>
                <a:latin typeface="Times New Roman" panose="02020603050405020304" charset="0"/>
                <a:cs typeface="Times New Roman" panose="02020603050405020304" charset="0"/>
              </a:rPr>
              <a:t>What happens</a:t>
            </a:r>
            <a:endParaRPr lang="en-US" sz="2000" b="1" dirty="0">
              <a:solidFill>
                <a:schemeClr val="tx1"/>
              </a:solidFill>
              <a:latin typeface="Times New Roman" panose="02020603050405020304" charset="0"/>
              <a:cs typeface="Times New Roman" panose="02020603050405020304" charset="0"/>
            </a:endParaRPr>
          </a:p>
        </p:txBody>
      </p:sp>
      <p:sp>
        <p:nvSpPr>
          <p:cNvPr id="22" name="Text 160"/>
          <p:cNvSpPr txBox="1"/>
          <p:nvPr/>
        </p:nvSpPr>
        <p:spPr>
          <a:xfrm>
            <a:off x="7086600" y="2011680"/>
            <a:ext cx="4343400" cy="2194560"/>
          </a:xfrm>
          <a:prstGeom prst="rect">
            <a:avLst/>
          </a:prstGeom>
          <a:noFill/>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Candidates are sorted by total score, highest first</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Ties go to name (case-insensitive), then source filename</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Each candidate gets a Ranking and a Match Score</a:t>
            </a:r>
            <a:endParaRPr lang="en-US" sz="1500" dirty="0">
              <a:latin typeface="Times New Roman" panose="02020603050405020304" charset="0"/>
              <a:cs typeface="Times New Roman" panose="02020603050405020304" charset="0"/>
            </a:endParaRPr>
          </a:p>
        </p:txBody>
      </p:sp>
      <p:sp>
        <p:nvSpPr>
          <p:cNvPr id="23" name="Code card 161"/>
          <p:cNvSpPr/>
          <p:nvPr/>
        </p:nvSpPr>
        <p:spPr>
          <a:xfrm>
            <a:off x="6812280" y="4480560"/>
            <a:ext cx="4828032" cy="1691640"/>
          </a:xfrm>
          <a:prstGeom prst="roundRect">
            <a:avLst>
              <a:gd name="adj" fmla="val 8108"/>
            </a:avLst>
          </a:prstGeom>
          <a:solidFill>
            <a:schemeClr val="tx1">
              <a:alpha val="6000"/>
            </a:schemeClr>
          </a:solidFill>
        </p:spPr>
      </p:sp>
      <p:sp>
        <p:nvSpPr>
          <p:cNvPr id="24" name="Text 162"/>
          <p:cNvSpPr txBox="1"/>
          <p:nvPr>
            <p:custDataLst>
              <p:tags r:id="rId1"/>
            </p:custDataLst>
          </p:nvPr>
        </p:nvSpPr>
        <p:spPr>
          <a:xfrm>
            <a:off x="7086600" y="4617720"/>
            <a:ext cx="4389120" cy="1463040"/>
          </a:xfrm>
          <a:prstGeom prst="rect">
            <a:avLst/>
          </a:prstGeom>
          <a:noFill/>
        </p:spPr>
        <p:txBody>
          <a:bodyPr wrap="square" lIns="0" tIns="0" rIns="0" bIns="0" rtlCol="0" anchor="t"/>
          <a:lstStyle/>
          <a:p>
            <a:pPr marL="0" indent="0">
              <a:spcAft>
                <a:spcPts val="400"/>
              </a:spcAft>
              <a:buNone/>
            </a:pPr>
            <a:r>
              <a:rPr lang="en-US" sz="1600" b="1" dirty="0">
                <a:solidFill>
                  <a:schemeClr val="tx1"/>
                </a:solidFill>
                <a:latin typeface="Times New Roman" panose="02020603050405020304" charset="0"/>
                <a:cs typeface="Times New Roman" panose="02020603050405020304" charset="0"/>
              </a:rPr>
              <a:t>In the code</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1"/>
                </a:solidFill>
                <a:latin typeface="Times New Roman" panose="02020603050405020304" charset="0"/>
                <a:ea typeface="Courier New" panose="02070309020205020404" pitchFamily="34" charset="-122"/>
                <a:cs typeface="Times New Roman" panose="02020603050405020304" charset="0"/>
              </a:rPr>
              <a:t>ranking.py  rank_candidates()</a:t>
            </a:r>
            <a:endParaRPr lang="en-US" sz="1600" dirty="0">
              <a:latin typeface="Times New Roman" panose="02020603050405020304" charset="0"/>
              <a:cs typeface="Times New Roman" panose="02020603050405020304" charset="0"/>
            </a:endParaRPr>
          </a:p>
          <a:p>
            <a:pPr marL="0" indent="0">
              <a:buNone/>
            </a:pPr>
            <a:r>
              <a:rPr lang="en-US" sz="1400" dirty="0">
                <a:solidFill>
                  <a:schemeClr val="tx2"/>
                </a:solidFill>
                <a:latin typeface="Times New Roman" panose="02020603050405020304" charset="0"/>
                <a:cs typeface="Times New Roman" panose="02020603050405020304" charset="0"/>
              </a:rPr>
              <a:t>Output: ranking 1, 2, 3 ...</a:t>
            </a:r>
            <a:endParaRPr lang="en-US" sz="1600" dirty="0">
              <a:latin typeface="Times New Roman" panose="02020603050405020304" charset="0"/>
              <a:cs typeface="Times New Roman" panose="02020603050405020304" charset="0"/>
            </a:endParaRPr>
          </a:p>
        </p:txBody>
      </p:sp>
      <p:sp>
        <p:nvSpPr>
          <p:cNvPr id="25"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latin typeface="Times New Roman" panose="02020603050405020304" charset="0"/>
                <a:cs typeface="Times New Roman" panose="02020603050405020304" charset="0"/>
              </a:rPr>
            </a:fld>
            <a:endParaRPr lang="en-US" b="0">
              <a:latin typeface="Times New Roman" panose="02020603050405020304" charset="0"/>
              <a:cs typeface="Times New Roman" panose="02020603050405020304" charset="0"/>
            </a:endParaRPr>
          </a:p>
        </p:txBody>
      </p:sp>
      <p:pic>
        <p:nvPicPr>
          <p:cNvPr id="26" name="Picture 25" descr="Rank candidates panel"/>
          <p:cNvPicPr>
            <a:picLocks noChangeAspect="1"/>
          </p:cNvPicPr>
          <p:nvPr/>
        </p:nvPicPr>
        <p:blipFill>
          <a:blip r:embed="rId2"/>
          <a:stretch>
            <a:fillRect/>
          </a:stretch>
        </p:blipFill>
        <p:spPr>
          <a:xfrm>
            <a:off x="1212850" y="1251585"/>
            <a:ext cx="4920615" cy="49206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badge 163"/>
          <p:cNvSpPr txBox="1"/>
          <p:nvPr/>
        </p:nvSpPr>
        <p:spPr>
          <a:xfrm>
            <a:off x="548640" y="393192"/>
            <a:ext cx="731520" cy="731520"/>
          </a:xfrm>
          <a:prstGeom prst="ellipse">
            <a:avLst/>
          </a:prstGeom>
          <a:solidFill>
            <a:schemeClr val="accent4"/>
          </a:solidFill>
        </p:spPr>
        <p:txBody>
          <a:bodyPr wrap="square" lIns="0" tIns="0" rIns="0" bIns="0" rtlCol="0" anchor="ctr"/>
          <a:lstStyle/>
          <a:p>
            <a:pPr marL="0" indent="0" algn="ctr">
              <a:buNone/>
            </a:pPr>
            <a:r>
              <a:rPr lang="en-US" sz="2800" b="1" dirty="0">
                <a:solidFill>
                  <a:schemeClr val="bg1"/>
                </a:solidFill>
                <a:latin typeface="Times New Roman" panose="02020603050405020304" charset="0"/>
                <a:cs typeface="Times New Roman" panose="02020603050405020304" charset="0"/>
              </a:rPr>
              <a:t>8</a:t>
            </a:r>
            <a:endParaRPr lang="en-US" sz="2800" b="1" dirty="0">
              <a:solidFill>
                <a:schemeClr val="bg1"/>
              </a:solidFill>
              <a:latin typeface="Times New Roman" panose="02020603050405020304" charset="0"/>
              <a:cs typeface="Times New Roman" panose="02020603050405020304" charset="0"/>
            </a:endParaRPr>
          </a:p>
        </p:txBody>
      </p:sp>
      <p:sp>
        <p:nvSpPr>
          <p:cNvPr id="3" name="Progress 1 164"/>
          <p:cNvSpPr txBox="1"/>
          <p:nvPr/>
        </p:nvSpPr>
        <p:spPr>
          <a:xfrm>
            <a:off x="800100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1</a:t>
            </a:r>
            <a:endParaRPr lang="en-US" sz="1000" b="1" dirty="0">
              <a:solidFill>
                <a:schemeClr val="tx2"/>
              </a:solidFill>
              <a:latin typeface="Times New Roman" panose="02020603050405020304" charset="0"/>
              <a:cs typeface="Times New Roman" panose="02020603050405020304" charset="0"/>
            </a:endParaRPr>
          </a:p>
        </p:txBody>
      </p:sp>
      <p:sp>
        <p:nvSpPr>
          <p:cNvPr id="4" name="Progress 2 165"/>
          <p:cNvSpPr txBox="1"/>
          <p:nvPr/>
        </p:nvSpPr>
        <p:spPr>
          <a:xfrm>
            <a:off x="834847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2</a:t>
            </a:r>
            <a:endParaRPr lang="en-US" sz="1000" b="1" dirty="0">
              <a:solidFill>
                <a:schemeClr val="tx2"/>
              </a:solidFill>
              <a:latin typeface="Times New Roman" panose="02020603050405020304" charset="0"/>
              <a:cs typeface="Times New Roman" panose="02020603050405020304" charset="0"/>
            </a:endParaRPr>
          </a:p>
        </p:txBody>
      </p:sp>
      <p:sp>
        <p:nvSpPr>
          <p:cNvPr id="5" name="Progress 3 166"/>
          <p:cNvSpPr txBox="1"/>
          <p:nvPr/>
        </p:nvSpPr>
        <p:spPr>
          <a:xfrm>
            <a:off x="8695944"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3</a:t>
            </a:r>
            <a:endParaRPr lang="en-US" sz="1000" b="1" dirty="0">
              <a:solidFill>
                <a:schemeClr val="tx2"/>
              </a:solidFill>
              <a:latin typeface="Times New Roman" panose="02020603050405020304" charset="0"/>
              <a:cs typeface="Times New Roman" panose="02020603050405020304" charset="0"/>
            </a:endParaRPr>
          </a:p>
        </p:txBody>
      </p:sp>
      <p:sp>
        <p:nvSpPr>
          <p:cNvPr id="6" name="Progress 4 167"/>
          <p:cNvSpPr txBox="1"/>
          <p:nvPr/>
        </p:nvSpPr>
        <p:spPr>
          <a:xfrm>
            <a:off x="9043416"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4</a:t>
            </a:r>
            <a:endParaRPr lang="en-US" sz="1000" b="1" dirty="0">
              <a:solidFill>
                <a:schemeClr val="tx2"/>
              </a:solidFill>
              <a:latin typeface="Times New Roman" panose="02020603050405020304" charset="0"/>
              <a:cs typeface="Times New Roman" panose="02020603050405020304" charset="0"/>
            </a:endParaRPr>
          </a:p>
        </p:txBody>
      </p:sp>
      <p:sp>
        <p:nvSpPr>
          <p:cNvPr id="7" name="Progress 5 168"/>
          <p:cNvSpPr txBox="1"/>
          <p:nvPr/>
        </p:nvSpPr>
        <p:spPr>
          <a:xfrm>
            <a:off x="9390888"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5</a:t>
            </a:r>
            <a:endParaRPr lang="en-US" sz="1000" b="1" dirty="0">
              <a:solidFill>
                <a:schemeClr val="tx2"/>
              </a:solidFill>
              <a:latin typeface="Times New Roman" panose="02020603050405020304" charset="0"/>
              <a:cs typeface="Times New Roman" panose="02020603050405020304" charset="0"/>
            </a:endParaRPr>
          </a:p>
        </p:txBody>
      </p:sp>
      <p:sp>
        <p:nvSpPr>
          <p:cNvPr id="8" name="Progress 6 169"/>
          <p:cNvSpPr txBox="1"/>
          <p:nvPr/>
        </p:nvSpPr>
        <p:spPr>
          <a:xfrm>
            <a:off x="9738360"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6</a:t>
            </a:r>
            <a:endParaRPr lang="en-US" sz="1000" b="1" dirty="0">
              <a:solidFill>
                <a:schemeClr val="tx2"/>
              </a:solidFill>
              <a:latin typeface="Times New Roman" panose="02020603050405020304" charset="0"/>
              <a:cs typeface="Times New Roman" panose="02020603050405020304" charset="0"/>
            </a:endParaRPr>
          </a:p>
        </p:txBody>
      </p:sp>
      <p:sp>
        <p:nvSpPr>
          <p:cNvPr id="9" name="Progress 7 170"/>
          <p:cNvSpPr txBox="1"/>
          <p:nvPr/>
        </p:nvSpPr>
        <p:spPr>
          <a:xfrm>
            <a:off x="10085832" y="6400800"/>
            <a:ext cx="274320" cy="274320"/>
          </a:xfrm>
          <a:prstGeom prst="ellipse">
            <a:avLst/>
          </a:prstGeom>
          <a:solidFill>
            <a:schemeClr val="tx2">
              <a:alpha val="15000"/>
            </a:schemeClr>
          </a:solidFill>
        </p:spPr>
        <p:txBody>
          <a:bodyPr wrap="square" lIns="0" tIns="0" rIns="0" bIns="0" rtlCol="0" anchor="ctr"/>
          <a:lstStyle/>
          <a:p>
            <a:pPr marL="0" indent="0" algn="ctr">
              <a:buNone/>
            </a:pPr>
            <a:r>
              <a:rPr lang="en-US" sz="1000" b="1" dirty="0">
                <a:solidFill>
                  <a:schemeClr val="tx2"/>
                </a:solidFill>
                <a:latin typeface="Times New Roman" panose="02020603050405020304" charset="0"/>
                <a:cs typeface="Times New Roman" panose="02020603050405020304" charset="0"/>
              </a:rPr>
              <a:t>7</a:t>
            </a:r>
            <a:endParaRPr lang="en-US" sz="1000" b="1" dirty="0">
              <a:solidFill>
                <a:schemeClr val="tx2"/>
              </a:solidFill>
              <a:latin typeface="Times New Roman" panose="02020603050405020304" charset="0"/>
              <a:cs typeface="Times New Roman" panose="02020603050405020304" charset="0"/>
            </a:endParaRPr>
          </a:p>
        </p:txBody>
      </p:sp>
      <p:sp>
        <p:nvSpPr>
          <p:cNvPr id="10" name="Progress 8 171"/>
          <p:cNvSpPr txBox="1"/>
          <p:nvPr/>
        </p:nvSpPr>
        <p:spPr>
          <a:xfrm>
            <a:off x="10433304" y="6400800"/>
            <a:ext cx="274320" cy="274320"/>
          </a:xfrm>
          <a:prstGeom prst="ellipse">
            <a:avLst/>
          </a:prstGeom>
          <a:solidFill>
            <a:schemeClr val="accent4"/>
          </a:solidFill>
        </p:spPr>
        <p:txBody>
          <a:bodyPr wrap="square" lIns="0" tIns="0" rIns="0" bIns="0" rtlCol="0" anchor="ctr"/>
          <a:lstStyle/>
          <a:p>
            <a:pPr marL="0" indent="0" algn="ctr">
              <a:buNone/>
            </a:pPr>
            <a:r>
              <a:rPr lang="en-US" sz="1000" b="1" dirty="0">
                <a:solidFill>
                  <a:schemeClr val="bg1"/>
                </a:solidFill>
                <a:latin typeface="Times New Roman" panose="02020603050405020304" charset="0"/>
                <a:cs typeface="Times New Roman" panose="02020603050405020304" charset="0"/>
              </a:rPr>
              <a:t>8</a:t>
            </a:r>
            <a:endParaRPr lang="en-US" sz="1000" b="1" dirty="0">
              <a:solidFill>
                <a:schemeClr val="bg1"/>
              </a:solidFill>
              <a:latin typeface="Times New Roman" panose="02020603050405020304" charset="0"/>
              <a:cs typeface="Times New Roman" panose="02020603050405020304" charset="0"/>
            </a:endParaRPr>
          </a:p>
        </p:txBody>
      </p:sp>
      <p:sp>
        <p:nvSpPr>
          <p:cNvPr id="11" name="Text 0"/>
          <p:cNvSpPr/>
          <p:nvPr>
            <p:ph type="title" idx="100" hasCustomPrompt="1"/>
          </p:nvPr>
        </p:nvSpPr>
        <p:spPr>
          <a:xfrm>
            <a:off x="1600200" y="365760"/>
            <a:ext cx="10040112" cy="777240"/>
          </a:xfrm>
          <a:prstGeom prst="rect">
            <a:avLst/>
          </a:prstGeom>
          <a:noFill/>
        </p:spPr>
        <p:txBody>
          <a:bodyPr wrap="square" lIns="0" tIns="0" rIns="0" bIns="0" rtlCol="0" anchor="ctr"/>
          <a:lstStyle/>
          <a:p>
            <a:pPr marL="0" indent="0" algn="l">
              <a:buNone/>
            </a:pPr>
            <a:r>
              <a:rPr lang="en-US" sz="3400" b="1" dirty="0">
                <a:solidFill>
                  <a:schemeClr val="tx1"/>
                </a:solidFill>
                <a:latin typeface="Times New Roman" panose="02020603050405020304" charset="0"/>
                <a:cs typeface="Times New Roman" panose="02020603050405020304" charset="0"/>
              </a:rPr>
              <a:t>Save results</a:t>
            </a:r>
            <a:endParaRPr lang="en-US" sz="3400" b="1" dirty="0">
              <a:solidFill>
                <a:schemeClr val="tx1"/>
              </a:solidFill>
              <a:latin typeface="Times New Roman" panose="02020603050405020304" charset="0"/>
              <a:cs typeface="Times New Roman" panose="02020603050405020304" charset="0"/>
            </a:endParaRPr>
          </a:p>
        </p:txBody>
      </p:sp>
      <p:sp>
        <p:nvSpPr>
          <p:cNvPr id="14" name="Text 174"/>
          <p:cNvSpPr txBox="1"/>
          <p:nvPr/>
        </p:nvSpPr>
        <p:spPr>
          <a:xfrm>
            <a:off x="3291840" y="2125980"/>
            <a:ext cx="457200" cy="1005840"/>
          </a:xfrm>
          <a:prstGeom prst="rect">
            <a:avLst/>
          </a:prstGeom>
          <a:noFill/>
        </p:spPr>
        <p:txBody>
          <a:bodyPr wrap="square" lIns="0" tIns="0" rIns="0" bIns="0" rtlCol="0" anchor="ctr"/>
          <a:lstStyle/>
          <a:p>
            <a:pPr marL="0" indent="0" algn="ctr">
              <a:buNone/>
            </a:pPr>
            <a:endParaRPr lang="en-US" sz="2400" dirty="0">
              <a:latin typeface="Times New Roman" panose="02020603050405020304" charset="0"/>
              <a:cs typeface="Times New Roman" panose="02020603050405020304" charset="0"/>
            </a:endParaRPr>
          </a:p>
        </p:txBody>
      </p:sp>
      <p:sp>
        <p:nvSpPr>
          <p:cNvPr id="21" name="Explain card 181"/>
          <p:cNvSpPr/>
          <p:nvPr/>
        </p:nvSpPr>
        <p:spPr>
          <a:xfrm>
            <a:off x="6812280" y="1371600"/>
            <a:ext cx="4828032" cy="2926080"/>
          </a:xfrm>
          <a:prstGeom prst="roundRect">
            <a:avLst>
              <a:gd name="adj" fmla="val 4688"/>
            </a:avLst>
          </a:prstGeom>
          <a:solidFill>
            <a:schemeClr val="accent4">
              <a:alpha val="10000"/>
            </a:schemeClr>
          </a:solidFill>
        </p:spPr>
      </p:sp>
      <p:sp>
        <p:nvSpPr>
          <p:cNvPr id="22" name="Text 182"/>
          <p:cNvSpPr txBox="1"/>
          <p:nvPr/>
        </p:nvSpPr>
        <p:spPr>
          <a:xfrm>
            <a:off x="7086600" y="1536192"/>
            <a:ext cx="4297680" cy="365760"/>
          </a:xfrm>
          <a:prstGeom prst="rect">
            <a:avLst/>
          </a:prstGeom>
          <a:noFill/>
        </p:spPr>
        <p:txBody>
          <a:bodyPr wrap="square" lIns="0" tIns="0" rIns="0" bIns="0" rtlCol="0" anchor="t"/>
          <a:lstStyle/>
          <a:p>
            <a:pPr marL="0" indent="0">
              <a:buNone/>
            </a:pPr>
            <a:r>
              <a:rPr lang="en-US" sz="2000" b="1" dirty="0">
                <a:solidFill>
                  <a:schemeClr val="tx1"/>
                </a:solidFill>
                <a:latin typeface="Times New Roman" panose="02020603050405020304" charset="0"/>
                <a:cs typeface="Times New Roman" panose="02020603050405020304" charset="0"/>
              </a:rPr>
              <a:t>What happens</a:t>
            </a:r>
            <a:endParaRPr lang="en-US" sz="2000" b="1" dirty="0">
              <a:solidFill>
                <a:schemeClr val="tx1"/>
              </a:solidFill>
              <a:latin typeface="Times New Roman" panose="02020603050405020304" charset="0"/>
              <a:cs typeface="Times New Roman" panose="02020603050405020304" charset="0"/>
            </a:endParaRPr>
          </a:p>
        </p:txBody>
      </p:sp>
      <p:sp>
        <p:nvSpPr>
          <p:cNvPr id="23" name="Text 183"/>
          <p:cNvSpPr txBox="1"/>
          <p:nvPr/>
        </p:nvSpPr>
        <p:spPr>
          <a:xfrm>
            <a:off x="7086600" y="2011680"/>
            <a:ext cx="4343400" cy="2194560"/>
          </a:xfrm>
          <a:prstGeom prst="rect">
            <a:avLst/>
          </a:prstGeom>
          <a:noFill/>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save_results() writes two CSV files</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Ranked candidates go to the results CSV</a:t>
            </a:r>
            <a:endParaRPr lang="en-US" sz="1500" dirty="0">
              <a:latin typeface="Times New Roman" panose="02020603050405020304" charset="0"/>
              <a:cs typeface="Times New Roman" panose="02020603050405020304" charset="0"/>
            </a:endParaRPr>
          </a:p>
          <a:p>
            <a:pPr marL="342900" indent="-342900">
              <a:spcAft>
                <a:spcPts val="800"/>
              </a:spcAft>
              <a:buSzPct val="100000"/>
              <a:buFont typeface="+mj-lt"/>
              <a:buAutoNum type="arabicPeriod"/>
            </a:pPr>
            <a:r>
              <a:rPr lang="en-US" sz="1500" dirty="0">
                <a:solidFill>
                  <a:schemeClr val="tx1"/>
                </a:solidFill>
                <a:latin typeface="Times New Roman" panose="02020603050405020304" charset="0"/>
                <a:cs typeface="Times New Roman" panose="02020603050405020304" charset="0"/>
              </a:rPr>
              <a:t>Failed resumes go to the error CSV with a short reason</a:t>
            </a:r>
            <a:endParaRPr lang="en-US" sz="1500" dirty="0">
              <a:latin typeface="Times New Roman" panose="02020603050405020304" charset="0"/>
              <a:cs typeface="Times New Roman" panose="02020603050405020304" charset="0"/>
            </a:endParaRPr>
          </a:p>
        </p:txBody>
      </p:sp>
      <p:sp>
        <p:nvSpPr>
          <p:cNvPr id="24" name="Code card 184"/>
          <p:cNvSpPr/>
          <p:nvPr/>
        </p:nvSpPr>
        <p:spPr>
          <a:xfrm>
            <a:off x="6812280" y="4480560"/>
            <a:ext cx="4828032" cy="1691640"/>
          </a:xfrm>
          <a:prstGeom prst="roundRect">
            <a:avLst>
              <a:gd name="adj" fmla="val 8108"/>
            </a:avLst>
          </a:prstGeom>
          <a:solidFill>
            <a:schemeClr val="tx1">
              <a:alpha val="6000"/>
            </a:schemeClr>
          </a:solidFill>
        </p:spPr>
      </p:sp>
      <p:sp>
        <p:nvSpPr>
          <p:cNvPr id="25" name="Text 185"/>
          <p:cNvSpPr txBox="1"/>
          <p:nvPr/>
        </p:nvSpPr>
        <p:spPr>
          <a:xfrm>
            <a:off x="7086600" y="4617720"/>
            <a:ext cx="4389120" cy="1463040"/>
          </a:xfrm>
          <a:prstGeom prst="rect">
            <a:avLst/>
          </a:prstGeom>
          <a:noFill/>
        </p:spPr>
        <p:txBody>
          <a:bodyPr wrap="square" lIns="0" tIns="0" rIns="0" bIns="0" rtlCol="0" anchor="t"/>
          <a:lstStyle/>
          <a:p>
            <a:pPr marL="0" indent="0">
              <a:spcAft>
                <a:spcPts val="400"/>
              </a:spcAft>
              <a:buNone/>
            </a:pPr>
            <a:r>
              <a:rPr lang="en-US" sz="1600" b="1" dirty="0">
                <a:solidFill>
                  <a:schemeClr val="tx1"/>
                </a:solidFill>
                <a:latin typeface="Times New Roman" panose="02020603050405020304" charset="0"/>
                <a:cs typeface="Times New Roman" panose="02020603050405020304" charset="0"/>
              </a:rPr>
              <a:t>In the code</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4"/>
                </a:solidFill>
                <a:latin typeface="Times New Roman" panose="02020603050405020304" charset="0"/>
                <a:ea typeface="Courier New" panose="02070309020205020404" pitchFamily="34" charset="-122"/>
                <a:cs typeface="Times New Roman" panose="02020603050405020304" charset="0"/>
              </a:rPr>
              <a:t>utils.py  save_results()</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4"/>
                </a:solidFill>
                <a:latin typeface="Times New Roman" panose="02020603050405020304" charset="0"/>
                <a:ea typeface="Courier New" panose="02070309020205020404" pitchFamily="34" charset="-122"/>
                <a:cs typeface="Times New Roman" panose="02020603050405020304" charset="0"/>
              </a:rPr>
              <a:t>resume_screening_results.csv</a:t>
            </a:r>
            <a:endParaRPr lang="en-US" sz="1600" dirty="0">
              <a:latin typeface="Times New Roman" panose="02020603050405020304" charset="0"/>
              <a:cs typeface="Times New Roman" panose="02020603050405020304" charset="0"/>
            </a:endParaRPr>
          </a:p>
          <a:p>
            <a:pPr marL="0" indent="0">
              <a:buNone/>
            </a:pPr>
            <a:r>
              <a:rPr lang="en-US" sz="1200" b="1" dirty="0">
                <a:solidFill>
                  <a:schemeClr val="accent4"/>
                </a:solidFill>
                <a:latin typeface="Times New Roman" panose="02020603050405020304" charset="0"/>
                <a:ea typeface="Courier New" panose="02070309020205020404" pitchFamily="34" charset="-122"/>
                <a:cs typeface="Times New Roman" panose="02020603050405020304" charset="0"/>
              </a:rPr>
              <a:t>resume_screening_errors.csv</a:t>
            </a:r>
            <a:endParaRPr lang="en-US" sz="1600" dirty="0">
              <a:latin typeface="Times New Roman" panose="02020603050405020304" charset="0"/>
              <a:cs typeface="Times New Roman" panose="02020603050405020304" charset="0"/>
            </a:endParaRPr>
          </a:p>
          <a:p>
            <a:pPr marL="0" indent="0">
              <a:buNone/>
            </a:pPr>
            <a:r>
              <a:rPr lang="en-US" sz="1400" dirty="0">
                <a:solidFill>
                  <a:schemeClr val="tx2"/>
                </a:solidFill>
                <a:latin typeface="Times New Roman" panose="02020603050405020304" charset="0"/>
                <a:cs typeface="Times New Roman" panose="02020603050405020304" charset="0"/>
              </a:rPr>
              <a:t>Output: a results CSV and an error CSV</a:t>
            </a:r>
            <a:endParaRPr lang="en-US" sz="1600" dirty="0">
              <a:latin typeface="Times New Roman" panose="02020603050405020304" charset="0"/>
              <a:cs typeface="Times New Roman" panose="02020603050405020304" charset="0"/>
            </a:endParaRPr>
          </a:p>
        </p:txBody>
      </p:sp>
      <p:sp>
        <p:nvSpPr>
          <p:cNvPr id="26"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4B5170"/>
                </a:solidFill>
              </a:defRPr>
            </a:lvl1pPr>
          </a:lstStyle>
          <a:p>
            <a:pPr algn="r"/>
            <a:fld id="{F7021451-1387-4CA6-816F-3879F97B5CBC}" type="slidenum">
              <a:rPr lang="en-US" b="0">
                <a:latin typeface="Times New Roman" panose="02020603050405020304" charset="0"/>
                <a:cs typeface="Times New Roman" panose="02020603050405020304" charset="0"/>
              </a:rPr>
            </a:fld>
            <a:endParaRPr lang="en-US" b="0">
              <a:latin typeface="Times New Roman" panose="02020603050405020304" charset="0"/>
              <a:cs typeface="Times New Roman" panose="02020603050405020304" charset="0"/>
            </a:endParaRPr>
          </a:p>
        </p:txBody>
      </p:sp>
      <p:pic>
        <p:nvPicPr>
          <p:cNvPr id="27" name="Picture 26" descr="Section 8_ Save Results"/>
          <p:cNvPicPr>
            <a:picLocks noChangeAspect="1"/>
          </p:cNvPicPr>
          <p:nvPr/>
        </p:nvPicPr>
        <p:blipFill>
          <a:blip r:embed="rId1"/>
          <a:stretch>
            <a:fillRect/>
          </a:stretch>
        </p:blipFill>
        <p:spPr>
          <a:xfrm>
            <a:off x="1280160" y="1253490"/>
            <a:ext cx="5085080" cy="5085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title" idx="101" hasCustomPrompt="1"/>
          </p:nvPr>
        </p:nvSpPr>
        <p:spPr>
          <a:xfrm>
            <a:off x="548640" y="365760"/>
            <a:ext cx="11091672" cy="777240"/>
          </a:xfrm>
          <a:prstGeom prst="rect">
            <a:avLst/>
          </a:prstGeom>
          <a:noFill/>
        </p:spPr>
        <p:txBody>
          <a:bodyPr wrap="square" lIns="0" tIns="0" rIns="0" bIns="0" rtlCol="0" anchor="ctr"/>
          <a:lstStyle/>
          <a:p>
            <a:pPr marL="0" indent="0" algn="l">
              <a:buNone/>
            </a:pPr>
            <a:r>
              <a:rPr lang="en-US" sz="3400" b="1" dirty="0">
                <a:solidFill>
                  <a:schemeClr val="bg1"/>
                </a:solidFill>
              </a:rPr>
              <a:t>The whole flow at a glance</a:t>
            </a:r>
            <a:endParaRPr lang="en-US" sz="3400" dirty="0"/>
          </a:p>
        </p:txBody>
      </p:sp>
      <p:sp>
        <p:nvSpPr>
          <p:cNvPr id="3" name="Recap card 186"/>
          <p:cNvSpPr/>
          <p:nvPr/>
        </p:nvSpPr>
        <p:spPr>
          <a:xfrm>
            <a:off x="548640" y="1554480"/>
            <a:ext cx="2606040" cy="1920240"/>
          </a:xfrm>
          <a:prstGeom prst="roundRect">
            <a:avLst>
              <a:gd name="adj" fmla="val 7143"/>
            </a:avLst>
          </a:prstGeom>
          <a:solidFill>
            <a:schemeClr val="bg1">
              <a:alpha val="8000"/>
            </a:schemeClr>
          </a:solidFill>
        </p:spPr>
      </p:sp>
      <p:sp>
        <p:nvSpPr>
          <p:cNvPr id="4" name="Number badge 187"/>
          <p:cNvSpPr txBox="1"/>
          <p:nvPr/>
        </p:nvSpPr>
        <p:spPr>
          <a:xfrm>
            <a:off x="777240" y="1783080"/>
            <a:ext cx="640080" cy="640080"/>
          </a:xfrm>
          <a:prstGeom prst="ellipse">
            <a:avLst/>
          </a:prstGeom>
          <a:solidFill>
            <a:schemeClr val="accent6"/>
          </a:solidFill>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5" name="Text 188"/>
          <p:cNvSpPr txBox="1"/>
          <p:nvPr/>
        </p:nvSpPr>
        <p:spPr>
          <a:xfrm>
            <a:off x="777240" y="2560320"/>
            <a:ext cx="2194560" cy="731520"/>
          </a:xfrm>
          <a:prstGeom prst="rect">
            <a:avLst/>
          </a:prstGeom>
          <a:noFill/>
        </p:spPr>
        <p:txBody>
          <a:bodyPr wrap="square" lIns="0" tIns="0" rIns="0" bIns="0" rtlCol="0" anchor="t"/>
          <a:lstStyle/>
          <a:p>
            <a:pPr marL="0" indent="0">
              <a:buNone/>
            </a:pPr>
            <a:r>
              <a:rPr lang="en-US" sz="1800" b="1" dirty="0">
                <a:solidFill>
                  <a:schemeClr val="bg1"/>
                </a:solidFill>
              </a:rPr>
              <a:t>Provide input files</a:t>
            </a:r>
            <a:endParaRPr lang="en-US" sz="1800" dirty="0"/>
          </a:p>
        </p:txBody>
      </p:sp>
      <p:sp>
        <p:nvSpPr>
          <p:cNvPr id="6" name="Recap card 189"/>
          <p:cNvSpPr/>
          <p:nvPr/>
        </p:nvSpPr>
        <p:spPr>
          <a:xfrm>
            <a:off x="3355848" y="1554480"/>
            <a:ext cx="2606040" cy="1920240"/>
          </a:xfrm>
          <a:prstGeom prst="roundRect">
            <a:avLst>
              <a:gd name="adj" fmla="val 7143"/>
            </a:avLst>
          </a:prstGeom>
          <a:solidFill>
            <a:schemeClr val="bg1">
              <a:alpha val="8000"/>
            </a:schemeClr>
          </a:solidFill>
        </p:spPr>
      </p:sp>
      <p:sp>
        <p:nvSpPr>
          <p:cNvPr id="7" name="Number badge 190"/>
          <p:cNvSpPr txBox="1"/>
          <p:nvPr/>
        </p:nvSpPr>
        <p:spPr>
          <a:xfrm>
            <a:off x="3584448" y="1783080"/>
            <a:ext cx="640080" cy="640080"/>
          </a:xfrm>
          <a:prstGeom prst="ellipse">
            <a:avLst/>
          </a:prstGeom>
          <a:solidFill>
            <a:schemeClr val="accent5"/>
          </a:solidFill>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8" name="Text 191"/>
          <p:cNvSpPr txBox="1"/>
          <p:nvPr/>
        </p:nvSpPr>
        <p:spPr>
          <a:xfrm>
            <a:off x="3584448" y="2560320"/>
            <a:ext cx="2194560" cy="731520"/>
          </a:xfrm>
          <a:prstGeom prst="rect">
            <a:avLst/>
          </a:prstGeom>
          <a:noFill/>
        </p:spPr>
        <p:txBody>
          <a:bodyPr wrap="square" lIns="0" tIns="0" rIns="0" bIns="0" rtlCol="0" anchor="t"/>
          <a:lstStyle/>
          <a:p>
            <a:pPr marL="0" indent="0">
              <a:buNone/>
            </a:pPr>
            <a:r>
              <a:rPr lang="en-US" sz="1800" b="1" dirty="0">
                <a:solidFill>
                  <a:schemeClr val="bg1"/>
                </a:solidFill>
              </a:rPr>
              <a:t>Load config, validate</a:t>
            </a:r>
            <a:endParaRPr lang="en-US" sz="1800" dirty="0"/>
          </a:p>
        </p:txBody>
      </p:sp>
      <p:sp>
        <p:nvSpPr>
          <p:cNvPr id="9" name="Recap card 192"/>
          <p:cNvSpPr/>
          <p:nvPr/>
        </p:nvSpPr>
        <p:spPr>
          <a:xfrm>
            <a:off x="6163056" y="1554480"/>
            <a:ext cx="2606040" cy="1920240"/>
          </a:xfrm>
          <a:prstGeom prst="roundRect">
            <a:avLst>
              <a:gd name="adj" fmla="val 7143"/>
            </a:avLst>
          </a:prstGeom>
          <a:solidFill>
            <a:schemeClr val="bg1">
              <a:alpha val="8000"/>
            </a:schemeClr>
          </a:solidFill>
        </p:spPr>
      </p:sp>
      <p:sp>
        <p:nvSpPr>
          <p:cNvPr id="10" name="Number badge 193"/>
          <p:cNvSpPr txBox="1"/>
          <p:nvPr/>
        </p:nvSpPr>
        <p:spPr>
          <a:xfrm>
            <a:off x="6391656" y="1783080"/>
            <a:ext cx="640080" cy="640080"/>
          </a:xfrm>
          <a:prstGeom prst="ellipse">
            <a:avLst/>
          </a:prstGeom>
          <a:solidFill>
            <a:schemeClr val="accent3"/>
          </a:solidFill>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1" name="Text 194"/>
          <p:cNvSpPr txBox="1"/>
          <p:nvPr/>
        </p:nvSpPr>
        <p:spPr>
          <a:xfrm>
            <a:off x="6391656" y="2560320"/>
            <a:ext cx="2194560" cy="731520"/>
          </a:xfrm>
          <a:prstGeom prst="rect">
            <a:avLst/>
          </a:prstGeom>
          <a:noFill/>
        </p:spPr>
        <p:txBody>
          <a:bodyPr wrap="square" lIns="0" tIns="0" rIns="0" bIns="0" rtlCol="0" anchor="t"/>
          <a:lstStyle/>
          <a:p>
            <a:pPr marL="0" indent="0">
              <a:buNone/>
            </a:pPr>
            <a:r>
              <a:rPr lang="en-US" sz="1800" b="1" dirty="0">
                <a:solidFill>
                  <a:schemeClr val="bg1"/>
                </a:solidFill>
              </a:rPr>
              <a:t>Read job description</a:t>
            </a:r>
            <a:endParaRPr lang="en-US" sz="1800" dirty="0"/>
          </a:p>
        </p:txBody>
      </p:sp>
      <p:sp>
        <p:nvSpPr>
          <p:cNvPr id="12" name="Recap card 195"/>
          <p:cNvSpPr/>
          <p:nvPr/>
        </p:nvSpPr>
        <p:spPr>
          <a:xfrm>
            <a:off x="8970264" y="1554480"/>
            <a:ext cx="2606040" cy="1920240"/>
          </a:xfrm>
          <a:prstGeom prst="roundRect">
            <a:avLst>
              <a:gd name="adj" fmla="val 7143"/>
            </a:avLst>
          </a:prstGeom>
          <a:solidFill>
            <a:schemeClr val="bg1">
              <a:alpha val="8000"/>
            </a:schemeClr>
          </a:solidFill>
        </p:spPr>
      </p:sp>
      <p:sp>
        <p:nvSpPr>
          <p:cNvPr id="13" name="Number badge 196"/>
          <p:cNvSpPr txBox="1"/>
          <p:nvPr/>
        </p:nvSpPr>
        <p:spPr>
          <a:xfrm>
            <a:off x="9198864" y="1783080"/>
            <a:ext cx="640080" cy="640080"/>
          </a:xfrm>
          <a:prstGeom prst="ellipse">
            <a:avLst/>
          </a:prstGeom>
          <a:solidFill>
            <a:schemeClr val="accent2"/>
          </a:solidFill>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14" name="Text 197"/>
          <p:cNvSpPr txBox="1"/>
          <p:nvPr/>
        </p:nvSpPr>
        <p:spPr>
          <a:xfrm>
            <a:off x="9198864" y="2560320"/>
            <a:ext cx="2194560" cy="731520"/>
          </a:xfrm>
          <a:prstGeom prst="rect">
            <a:avLst/>
          </a:prstGeom>
          <a:noFill/>
        </p:spPr>
        <p:txBody>
          <a:bodyPr wrap="square" lIns="0" tIns="0" rIns="0" bIns="0" rtlCol="0" anchor="t"/>
          <a:lstStyle/>
          <a:p>
            <a:pPr marL="0" indent="0">
              <a:buNone/>
            </a:pPr>
            <a:r>
              <a:rPr lang="en-US" sz="1800" b="1" dirty="0">
                <a:solidFill>
                  <a:schemeClr val="bg1"/>
                </a:solidFill>
              </a:rPr>
              <a:t>Find and read resumes</a:t>
            </a:r>
            <a:endParaRPr lang="en-US" sz="1800" dirty="0"/>
          </a:p>
        </p:txBody>
      </p:sp>
      <p:sp>
        <p:nvSpPr>
          <p:cNvPr id="15" name="Recap card 198"/>
          <p:cNvSpPr/>
          <p:nvPr/>
        </p:nvSpPr>
        <p:spPr>
          <a:xfrm>
            <a:off x="548640" y="3749040"/>
            <a:ext cx="2606040" cy="1920240"/>
          </a:xfrm>
          <a:prstGeom prst="roundRect">
            <a:avLst>
              <a:gd name="adj" fmla="val 7143"/>
            </a:avLst>
          </a:prstGeom>
          <a:solidFill>
            <a:schemeClr val="bg1">
              <a:alpha val="8000"/>
            </a:schemeClr>
          </a:solidFill>
        </p:spPr>
      </p:sp>
      <p:sp>
        <p:nvSpPr>
          <p:cNvPr id="16" name="Number badge 199"/>
          <p:cNvSpPr txBox="1"/>
          <p:nvPr/>
        </p:nvSpPr>
        <p:spPr>
          <a:xfrm>
            <a:off x="777240" y="3977640"/>
            <a:ext cx="640080" cy="640080"/>
          </a:xfrm>
          <a:prstGeom prst="ellipse">
            <a:avLst/>
          </a:prstGeom>
          <a:solidFill>
            <a:schemeClr val="accent6"/>
          </a:solidFill>
        </p:spPr>
        <p:txBody>
          <a:bodyPr wrap="square" lIns="0" tIns="0" rIns="0" bIns="0" rtlCol="0" anchor="ctr"/>
          <a:lstStyle/>
          <a:p>
            <a:pPr marL="0" indent="0" algn="ctr">
              <a:buNone/>
            </a:pPr>
            <a:r>
              <a:rPr lang="en-US" sz="2400" b="1" dirty="0">
                <a:solidFill>
                  <a:schemeClr val="bg1"/>
                </a:solidFill>
              </a:rPr>
              <a:t>5</a:t>
            </a:r>
            <a:endParaRPr lang="en-US" sz="2400" dirty="0"/>
          </a:p>
        </p:txBody>
      </p:sp>
      <p:sp>
        <p:nvSpPr>
          <p:cNvPr id="17" name="Text 200"/>
          <p:cNvSpPr txBox="1"/>
          <p:nvPr/>
        </p:nvSpPr>
        <p:spPr>
          <a:xfrm>
            <a:off x="777240" y="4754880"/>
            <a:ext cx="2194560" cy="731520"/>
          </a:xfrm>
          <a:prstGeom prst="rect">
            <a:avLst/>
          </a:prstGeom>
          <a:noFill/>
        </p:spPr>
        <p:txBody>
          <a:bodyPr wrap="square" lIns="0" tIns="0" rIns="0" bIns="0" rtlCol="0" anchor="t"/>
          <a:lstStyle/>
          <a:p>
            <a:pPr marL="0" indent="0">
              <a:buNone/>
            </a:pPr>
            <a:r>
              <a:rPr lang="en-US" sz="1800" b="1" dirty="0">
                <a:solidFill>
                  <a:schemeClr val="bg1"/>
                </a:solidFill>
              </a:rPr>
              <a:t>Extract details (LLM)</a:t>
            </a:r>
            <a:endParaRPr lang="en-US" sz="1800" dirty="0"/>
          </a:p>
        </p:txBody>
      </p:sp>
      <p:sp>
        <p:nvSpPr>
          <p:cNvPr id="18" name="Recap card 201"/>
          <p:cNvSpPr/>
          <p:nvPr/>
        </p:nvSpPr>
        <p:spPr>
          <a:xfrm>
            <a:off x="3355848" y="3749040"/>
            <a:ext cx="2606040" cy="1920240"/>
          </a:xfrm>
          <a:prstGeom prst="roundRect">
            <a:avLst>
              <a:gd name="adj" fmla="val 7143"/>
            </a:avLst>
          </a:prstGeom>
          <a:solidFill>
            <a:schemeClr val="bg1">
              <a:alpha val="8000"/>
            </a:schemeClr>
          </a:solidFill>
        </p:spPr>
      </p:sp>
      <p:sp>
        <p:nvSpPr>
          <p:cNvPr id="19" name="Number badge 202"/>
          <p:cNvSpPr txBox="1"/>
          <p:nvPr/>
        </p:nvSpPr>
        <p:spPr>
          <a:xfrm>
            <a:off x="3584448" y="3977640"/>
            <a:ext cx="640080" cy="640080"/>
          </a:xfrm>
          <a:prstGeom prst="ellipse">
            <a:avLst/>
          </a:prstGeom>
          <a:solidFill>
            <a:schemeClr val="accent5"/>
          </a:solidFill>
        </p:spPr>
        <p:txBody>
          <a:bodyPr wrap="square" lIns="0" tIns="0" rIns="0" bIns="0" rtlCol="0" anchor="ctr"/>
          <a:lstStyle/>
          <a:p>
            <a:pPr marL="0" indent="0" algn="ctr">
              <a:buNone/>
            </a:pPr>
            <a:r>
              <a:rPr lang="en-US" sz="2400" b="1" dirty="0">
                <a:solidFill>
                  <a:schemeClr val="bg1"/>
                </a:solidFill>
              </a:rPr>
              <a:t>6</a:t>
            </a:r>
            <a:endParaRPr lang="en-US" sz="2400" dirty="0"/>
          </a:p>
        </p:txBody>
      </p:sp>
      <p:sp>
        <p:nvSpPr>
          <p:cNvPr id="20" name="Text 203"/>
          <p:cNvSpPr txBox="1"/>
          <p:nvPr/>
        </p:nvSpPr>
        <p:spPr>
          <a:xfrm>
            <a:off x="3584448" y="4754880"/>
            <a:ext cx="2194560" cy="731520"/>
          </a:xfrm>
          <a:prstGeom prst="rect">
            <a:avLst/>
          </a:prstGeom>
          <a:noFill/>
        </p:spPr>
        <p:txBody>
          <a:bodyPr wrap="square" lIns="0" tIns="0" rIns="0" bIns="0" rtlCol="0" anchor="t"/>
          <a:lstStyle/>
          <a:p>
            <a:pPr marL="0" indent="0">
              <a:buNone/>
            </a:pPr>
            <a:r>
              <a:rPr lang="en-US" sz="1800" b="1" dirty="0">
                <a:solidFill>
                  <a:schemeClr val="bg1"/>
                </a:solidFill>
              </a:rPr>
              <a:t>Match to job (LLM)</a:t>
            </a:r>
            <a:endParaRPr lang="en-US" sz="1800" dirty="0"/>
          </a:p>
        </p:txBody>
      </p:sp>
      <p:sp>
        <p:nvSpPr>
          <p:cNvPr id="21" name="Recap card 204"/>
          <p:cNvSpPr/>
          <p:nvPr/>
        </p:nvSpPr>
        <p:spPr>
          <a:xfrm>
            <a:off x="6163056" y="3749040"/>
            <a:ext cx="2606040" cy="1920240"/>
          </a:xfrm>
          <a:prstGeom prst="roundRect">
            <a:avLst>
              <a:gd name="adj" fmla="val 7143"/>
            </a:avLst>
          </a:prstGeom>
          <a:solidFill>
            <a:schemeClr val="bg1">
              <a:alpha val="8000"/>
            </a:schemeClr>
          </a:solidFill>
        </p:spPr>
      </p:sp>
      <p:sp>
        <p:nvSpPr>
          <p:cNvPr id="22" name="Number badge 205"/>
          <p:cNvSpPr txBox="1"/>
          <p:nvPr/>
        </p:nvSpPr>
        <p:spPr>
          <a:xfrm>
            <a:off x="6391656" y="3977640"/>
            <a:ext cx="640080" cy="640080"/>
          </a:xfrm>
          <a:prstGeom prst="ellipse">
            <a:avLst/>
          </a:prstGeom>
          <a:solidFill>
            <a:schemeClr val="accent1"/>
          </a:solidFill>
        </p:spPr>
        <p:txBody>
          <a:bodyPr wrap="square" lIns="0" tIns="0" rIns="0" bIns="0" rtlCol="0" anchor="ctr"/>
          <a:lstStyle/>
          <a:p>
            <a:pPr marL="0" indent="0" algn="ctr">
              <a:buNone/>
            </a:pPr>
            <a:r>
              <a:rPr lang="en-US" sz="2400" b="1" dirty="0">
                <a:solidFill>
                  <a:schemeClr val="bg1"/>
                </a:solidFill>
              </a:rPr>
              <a:t>7</a:t>
            </a:r>
            <a:endParaRPr lang="en-US" sz="2400" dirty="0"/>
          </a:p>
        </p:txBody>
      </p:sp>
      <p:sp>
        <p:nvSpPr>
          <p:cNvPr id="23" name="Text 206"/>
          <p:cNvSpPr txBox="1"/>
          <p:nvPr/>
        </p:nvSpPr>
        <p:spPr>
          <a:xfrm>
            <a:off x="6391656" y="4754880"/>
            <a:ext cx="2194560" cy="731520"/>
          </a:xfrm>
          <a:prstGeom prst="rect">
            <a:avLst/>
          </a:prstGeom>
          <a:noFill/>
        </p:spPr>
        <p:txBody>
          <a:bodyPr wrap="square" lIns="0" tIns="0" rIns="0" bIns="0" rtlCol="0" anchor="t"/>
          <a:lstStyle/>
          <a:p>
            <a:pPr marL="0" indent="0">
              <a:buNone/>
            </a:pPr>
            <a:r>
              <a:rPr lang="en-US" sz="1800" b="1" dirty="0">
                <a:solidFill>
                  <a:schemeClr val="bg1"/>
                </a:solidFill>
              </a:rPr>
              <a:t>Rank candidates</a:t>
            </a:r>
            <a:endParaRPr lang="en-US" sz="1800" dirty="0"/>
          </a:p>
        </p:txBody>
      </p:sp>
      <p:sp>
        <p:nvSpPr>
          <p:cNvPr id="24" name="Recap card 207"/>
          <p:cNvSpPr/>
          <p:nvPr/>
        </p:nvSpPr>
        <p:spPr>
          <a:xfrm>
            <a:off x="8970264" y="3749040"/>
            <a:ext cx="2606040" cy="1920240"/>
          </a:xfrm>
          <a:prstGeom prst="roundRect">
            <a:avLst>
              <a:gd name="adj" fmla="val 7143"/>
            </a:avLst>
          </a:prstGeom>
          <a:solidFill>
            <a:schemeClr val="bg1">
              <a:alpha val="8000"/>
            </a:schemeClr>
          </a:solidFill>
        </p:spPr>
      </p:sp>
      <p:sp>
        <p:nvSpPr>
          <p:cNvPr id="25" name="Number badge 208"/>
          <p:cNvSpPr txBox="1"/>
          <p:nvPr/>
        </p:nvSpPr>
        <p:spPr>
          <a:xfrm>
            <a:off x="9198864" y="3977640"/>
            <a:ext cx="640080" cy="640080"/>
          </a:xfrm>
          <a:prstGeom prst="ellipse">
            <a:avLst/>
          </a:prstGeom>
          <a:solidFill>
            <a:schemeClr val="accent4"/>
          </a:solidFill>
        </p:spPr>
        <p:txBody>
          <a:bodyPr wrap="square" lIns="0" tIns="0" rIns="0" bIns="0" rtlCol="0" anchor="ctr"/>
          <a:lstStyle/>
          <a:p>
            <a:pPr marL="0" indent="0" algn="ctr">
              <a:buNone/>
            </a:pPr>
            <a:r>
              <a:rPr lang="en-US" sz="2400" b="1" dirty="0">
                <a:solidFill>
                  <a:schemeClr val="bg1"/>
                </a:solidFill>
              </a:rPr>
              <a:t>8</a:t>
            </a:r>
            <a:endParaRPr lang="en-US" sz="2400" dirty="0"/>
          </a:p>
        </p:txBody>
      </p:sp>
      <p:sp>
        <p:nvSpPr>
          <p:cNvPr id="26" name="Text 209"/>
          <p:cNvSpPr txBox="1"/>
          <p:nvPr/>
        </p:nvSpPr>
        <p:spPr>
          <a:xfrm>
            <a:off x="9198864" y="4754880"/>
            <a:ext cx="2194560" cy="731520"/>
          </a:xfrm>
          <a:prstGeom prst="rect">
            <a:avLst/>
          </a:prstGeom>
          <a:noFill/>
        </p:spPr>
        <p:txBody>
          <a:bodyPr wrap="square" lIns="0" tIns="0" rIns="0" bIns="0" rtlCol="0" anchor="t"/>
          <a:lstStyle/>
          <a:p>
            <a:pPr marL="0" indent="0">
              <a:buNone/>
            </a:pPr>
            <a:r>
              <a:rPr lang="en-US" sz="1800" b="1" dirty="0">
                <a:solidFill>
                  <a:schemeClr val="bg1"/>
                </a:solidFill>
              </a:rPr>
              <a:t>Save results</a:t>
            </a:r>
            <a:endParaRPr lang="en-US" sz="1800" dirty="0"/>
          </a:p>
        </p:txBody>
      </p:sp>
      <p:sp>
        <p:nvSpPr>
          <p:cNvPr id="27" name="Slide Number Placeholder 0"/>
          <p:cNvSpPr>
            <a:spLocks noGrp="1"/>
          </p:cNvSpPr>
          <p:nvPr>
            <p:ph type="sldNum" sz="quarter" idx="4294967295"/>
          </p:nvPr>
        </p:nvSpPr>
        <p:spPr>
          <a:xfrm>
            <a:off x="10972800" y="6400800"/>
            <a:ext cx="667512" cy="274320"/>
          </a:xfrm>
          <a:prstGeom prst="rect">
            <a:avLst/>
          </a:prstGeom>
        </p:spPr>
        <p:txBody>
          <a:bodyPr/>
          <a:lstStyle>
            <a:lvl1pPr>
              <a:defRPr sz="1000">
                <a:solidFill>
                  <a:srgbClr val="F4F3FB"/>
                </a:solidFill>
              </a:defRPr>
            </a:lvl1pPr>
          </a:lstStyle>
          <a:p>
            <a:pPr algn="r"/>
            <a:fld id="{F7021451-1387-4CA6-816F-3879F97B5CBC}" type="slidenum">
              <a:rPr lang="en-US" b="0"/>
            </a:fld>
            <a:endParaRPr lang="en-US"/>
          </a:p>
        </p:txBody>
      </p:sp>
    </p:spTree>
  </p:cSld>
  <p:clrMapOvr>
    <a:masterClrMapping/>
  </p:clrMapOvr>
</p:sld>
</file>

<file path=ppt/tags/tag1.xml><?xml version="1.0" encoding="utf-8"?>
<p:tagLst xmlns:p="http://schemas.openxmlformats.org/presentationml/2006/main">
  <p:tag name="KSO_WM_UNIT_INDEX" val="8"/>
  <p:tag name="KSO_WM_UNIT_TYPE" val="f"/>
  <p:tag name="KSO_WM_UNIT_SUBTYPE" val="a"/>
  <p:tag name="KSO_WM_BEAUTIFY_FLAG" val="#wm#"/>
</p:tagLst>
</file>

<file path=ppt/theme/theme1.xml><?xml version="1.0" encoding="utf-8"?>
<a:theme xmlns:a="http://schemas.openxmlformats.org/drawingml/2006/main" name="Resume Screening">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Resume Scree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Screening">
  <a:themeElements>
    <a:clrScheme name="Resume Screening">
      <a:dk1>
        <a:srgbClr val="1B1F3B"/>
      </a:dk1>
      <a:lt1>
        <a:srgbClr val="FFFFFF"/>
      </a:lt1>
      <a:dk2>
        <a:srgbClr val="4B5170"/>
      </a:dk2>
      <a:lt2>
        <a:srgbClr val="F4F3FB"/>
      </a:lt2>
      <a:accent1>
        <a:srgbClr val="5B4BDB"/>
      </a:accent1>
      <a:accent2>
        <a:srgbClr val="0E9F8E"/>
      </a:accent2>
      <a:accent3>
        <a:srgbClr val="F59E0B"/>
      </a:accent3>
      <a:accent4>
        <a:srgbClr val="E5484D"/>
      </a:accent4>
      <a:accent5>
        <a:srgbClr val="2F7DE1"/>
      </a:accent5>
      <a:accent6>
        <a:srgbClr val="D6409F"/>
      </a:accent6>
      <a:hlink>
        <a:srgbClr val="5B4BDB"/>
      </a:hlink>
      <a:folHlink>
        <a:srgbClr val="7A6FE0"/>
      </a:folHlink>
    </a:clrScheme>
    <a:fontScheme name="Resume Scree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3855</Words>
  <Application>WPS Presentation</Application>
  <PresentationFormat>On-screen Show (16:9)</PresentationFormat>
  <Paragraphs>437</Paragraphs>
  <Slides>13</Slides>
  <Notes>10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13</vt:i4>
      </vt:variant>
    </vt:vector>
  </HeadingPairs>
  <TitlesOfParts>
    <vt:vector size="38" baseType="lpstr">
      <vt:lpstr>Arial</vt:lpstr>
      <vt:lpstr>SimSun</vt:lpstr>
      <vt:lpstr>Wingdings</vt:lpstr>
      <vt:lpstr>Courier New</vt:lpstr>
      <vt:lpstr>Courier New</vt:lpstr>
      <vt:lpstr>Courier New</vt:lpstr>
      <vt:lpstr>Cambria</vt:lpstr>
      <vt:lpstr>Calibri</vt:lpstr>
      <vt:lpstr>Microsoft YaHei</vt:lpstr>
      <vt:lpstr>Arial Unicode MS</vt:lpstr>
      <vt:lpstr>Times New Roman</vt:lpstr>
      <vt:lpstr>Arial</vt:lpstr>
      <vt:lpstr>Wingdings</vt:lpstr>
      <vt:lpstr>+mn-eaArial</vt:lpstr>
      <vt:lpstr>+mn-ltTimes New Roman</vt:lpstr>
      <vt:lpstr>Segoe Print</vt:lpstr>
      <vt:lpstr>Manrope ExtraBold</vt:lpstr>
      <vt:lpstr>Lato</vt:lpstr>
      <vt:lpstr>+mn-eaLato</vt:lpstr>
      <vt:lpstr>+mn-ltManrope ExtraBold</vt:lpstr>
      <vt:lpstr>Nunito Sans ExtraBold</vt:lpstr>
      <vt:lpstr>Nunito Sans</vt:lpstr>
      <vt:lpstr>+mn-eaNunito Sans</vt:lpstr>
      <vt:lpstr>+mn-ltNunito Sans ExtraBold</vt:lpstr>
      <vt:lpstr>Resume Screening</vt:lpstr>
      <vt:lpstr>Resume Screening: the 8-step process</vt:lpstr>
      <vt:lpstr>Resume Screening: the 8-step process</vt:lpstr>
      <vt:lpstr>Eight steps from PDFs to a ranked shortlist</vt:lpstr>
      <vt:lpstr>Six small files, one clear flow</vt:lpstr>
      <vt:lpstr>Provide input files</vt:lpstr>
      <vt:lpstr>Load config and validate inputs</vt:lpstr>
      <vt:lpstr>Extract text from the job description</vt:lpstr>
      <vt:lpstr>Find and extract each resume</vt:lpstr>
      <vt:lpstr>Extract candidate details using the LLM</vt:lpstr>
      <vt:lpstr>Match resume with job description</vt:lpstr>
      <vt:lpstr>Rank candidates</vt:lpstr>
      <vt:lpstr>Save results</vt:lpstr>
      <vt:lpstr>The whole flow at a glance</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 Screening: step-by-step process</dc:title>
  <dc:creator>PptxGenJS</dc:creator>
  <dc:subject>PptxGenJS Presentation</dc:subject>
  <cp:lastModifiedBy>Vidhya Chandrasekar</cp:lastModifiedBy>
  <cp:revision>2</cp:revision>
  <dcterms:created xsi:type="dcterms:W3CDTF">2026-10-23T08:56:00Z</dcterms:created>
  <dcterms:modified xsi:type="dcterms:W3CDTF">2026-10-26T05:04:45Z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0BA4889AC2D3462C8637408410341CE4_13</vt:lpwstr>
  </property>
</Properties>
</file>